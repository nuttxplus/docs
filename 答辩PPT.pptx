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2.xml" ContentType="application/vnd.openxmlformats-officedocument.presentationml.notesSlid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notesSlides/notesSlide3.xml" ContentType="application/vnd.openxmlformats-officedocument.presentationml.notesSlide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notesSlides/notesSlide4.xml" ContentType="application/vnd.openxmlformats-officedocument.presentationml.notesSlide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notesSlides/notesSlide7.xml" ContentType="application/vnd.openxmlformats-officedocument.presentationml.notesSlide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notesSlides/notesSlide8.xml" ContentType="application/vnd.openxmlformats-officedocument.presentationml.notesSlide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notesSlides/notesSlide9.xml" ContentType="application/vnd.openxmlformats-officedocument.presentationml.notesSlide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notesSlides/notesSlide11.xml" ContentType="application/vnd.openxmlformats-officedocument.presentationml.notesSlide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notesSlides/notesSlide12.xml" ContentType="application/vnd.openxmlformats-officedocument.presentationml.notesSlide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2"/>
  </p:notesMasterIdLst>
  <p:handoutMasterIdLst>
    <p:handoutMasterId r:id="rId33"/>
  </p:handoutMasterIdLst>
  <p:sldIdLst>
    <p:sldId id="485" r:id="rId2"/>
    <p:sldId id="12921" r:id="rId3"/>
    <p:sldId id="12832" r:id="rId4"/>
    <p:sldId id="388" r:id="rId5"/>
    <p:sldId id="12913" r:id="rId6"/>
    <p:sldId id="12834" r:id="rId7"/>
    <p:sldId id="407" r:id="rId8"/>
    <p:sldId id="12835" r:id="rId9"/>
    <p:sldId id="12914" r:id="rId10"/>
    <p:sldId id="12924" r:id="rId11"/>
    <p:sldId id="12925" r:id="rId12"/>
    <p:sldId id="442" r:id="rId13"/>
    <p:sldId id="12918" r:id="rId14"/>
    <p:sldId id="406" r:id="rId15"/>
    <p:sldId id="12919" r:id="rId16"/>
    <p:sldId id="12933" r:id="rId17"/>
    <p:sldId id="12836" r:id="rId18"/>
    <p:sldId id="12934" r:id="rId19"/>
    <p:sldId id="12935" r:id="rId20"/>
    <p:sldId id="12936" r:id="rId21"/>
    <p:sldId id="12937" r:id="rId22"/>
    <p:sldId id="12926" r:id="rId23"/>
    <p:sldId id="12940" r:id="rId24"/>
    <p:sldId id="12941" r:id="rId25"/>
    <p:sldId id="12944" r:id="rId26"/>
    <p:sldId id="12922" r:id="rId27"/>
    <p:sldId id="12943" r:id="rId28"/>
    <p:sldId id="12939" r:id="rId29"/>
    <p:sldId id="12916" r:id="rId30"/>
    <p:sldId id="12838" r:id="rId31"/>
  </p:sldIdLst>
  <p:sldSz cx="9144000" cy="5143500" type="screen16x9"/>
  <p:notesSz cx="6858000" cy="9144000"/>
  <p:custDataLst>
    <p:tags r:id="rId34"/>
  </p:custDataLst>
  <p:defaultTextStyle>
    <a:defPPr>
      <a:defRPr lang="zh-CN"/>
    </a:defPPr>
    <a:lvl1pPr marL="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94" userDrawn="1">
          <p15:clr>
            <a:srgbClr val="A4A3A4"/>
          </p15:clr>
        </p15:guide>
        <p15:guide id="2" pos="2674" userDrawn="1">
          <p15:clr>
            <a:srgbClr val="A4A3A4"/>
          </p15:clr>
        </p15:guide>
        <p15:guide id="3" pos="210" userDrawn="1">
          <p15:clr>
            <a:srgbClr val="A4A3A4"/>
          </p15:clr>
        </p15:guide>
        <p15:guide id="4" pos="5402" userDrawn="1">
          <p15:clr>
            <a:srgbClr val="A4A3A4"/>
          </p15:clr>
        </p15:guide>
        <p15:guide id="5" orient="horz" pos="236" userDrawn="1">
          <p15:clr>
            <a:srgbClr val="A4A3A4"/>
          </p15:clr>
        </p15:guide>
        <p15:guide id="6" orient="horz" pos="535" userDrawn="1">
          <p15:clr>
            <a:srgbClr val="A4A3A4"/>
          </p15:clr>
        </p15:guide>
        <p15:guide id="7" orient="horz" pos="3122" userDrawn="1">
          <p15:clr>
            <a:srgbClr val="A4A3A4"/>
          </p15:clr>
        </p15:guide>
        <p15:guide id="8" orient="horz" pos="297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ijun liu" initials="zl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9700"/>
    <a:srgbClr val="909090"/>
    <a:srgbClr val="454545"/>
    <a:srgbClr val="FF8607"/>
    <a:srgbClr val="282828"/>
    <a:srgbClr val="071F65"/>
    <a:srgbClr val="006C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0465" autoAdjust="0"/>
    <p:restoredTop sz="95494" autoAdjust="0"/>
  </p:normalViewPr>
  <p:slideViewPr>
    <p:cSldViewPr snapToGrid="0" snapToObjects="1" showGuides="1">
      <p:cViewPr varScale="1">
        <p:scale>
          <a:sx n="82" d="100"/>
          <a:sy n="82" d="100"/>
        </p:scale>
        <p:origin x="96" y="464"/>
      </p:cViewPr>
      <p:guideLst>
        <p:guide orient="horz" pos="1794"/>
        <p:guide pos="2674"/>
        <p:guide pos="210"/>
        <p:guide pos="5402"/>
        <p:guide orient="horz" pos="236"/>
        <p:guide orient="horz" pos="535"/>
        <p:guide orient="horz" pos="3122"/>
        <p:guide orient="horz" pos="297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commentAuthors" Target="comment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96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sz="960"/>
              <a:t>风险仪表盘</a:t>
            </a:r>
          </a:p>
        </c:rich>
      </c:tx>
      <c:layout>
        <c:manualLayout>
          <c:xMode val="edge"/>
          <c:yMode val="edge"/>
          <c:x val="0.43050462720447003"/>
          <c:y val="7.6121794871794907E-2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 defTabSz="914400">
            <a:defRPr lang="zh-CN" sz="960" b="1" i="0" u="none" strike="noStrike" kern="1200" baseline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>
        <c:manualLayout>
          <c:layoutTarget val="inner"/>
          <c:xMode val="edge"/>
          <c:yMode val="edge"/>
          <c:x val="0.33490483673825699"/>
          <c:y val="0.378739316239316"/>
          <c:w val="0.39654269250916702"/>
          <c:h val="0.606570512820513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列1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DC79-447A-AD59-422D6C14DC55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DC79-447A-AD59-422D6C14DC55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DC79-447A-AD59-422D6C14DC55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DC79-447A-AD59-422D6C14DC55}"/>
              </c:ext>
            </c:extLst>
          </c:dPt>
          <c:cat>
            <c:strRef>
              <c:f>Sheet1!$A$2:$A$5</c:f>
              <c:strCache>
                <c:ptCount val="4"/>
                <c:pt idx="0">
                  <c:v>无风险</c:v>
                </c:pt>
                <c:pt idx="1">
                  <c:v>低风险</c:v>
                </c:pt>
                <c:pt idx="2">
                  <c:v>中风险</c:v>
                </c:pt>
                <c:pt idx="3">
                  <c:v>高风险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</c:v>
                </c:pt>
                <c:pt idx="1">
                  <c:v>30</c:v>
                </c:pt>
                <c:pt idx="2">
                  <c:v>30</c:v>
                </c:pt>
                <c:pt idx="3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DC79-447A-AD59-422D6C14DC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t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</c:legendEntry>
      <c:legendEntry>
        <c:idx val="3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</c:legendEntry>
      <c:layout>
        <c:manualLayout>
          <c:xMode val="edge"/>
          <c:yMode val="edge"/>
          <c:x val="0.247773703509691"/>
          <c:y val="0.18482905982906001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89d4bf51-17e2-4b1f-907b-092b8d1bf74d}"/>
      </c:ext>
    </c:extLst>
  </c:chart>
  <c:spPr>
    <a:noFill/>
    <a:ln>
      <a:noFill/>
    </a:ln>
    <a:effectLst/>
  </c:spPr>
  <c:txPr>
    <a:bodyPr/>
    <a:lstStyle/>
    <a:p>
      <a:pPr>
        <a:defRPr lang="zh-CN" sz="800"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1008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solidFill>
          <a:schemeClr val="bg1"/>
        </a:solidFill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B18F8A-74B5-9148-A891-627592061A38}" type="datetimeFigureOut">
              <a:rPr kumimoji="1" lang="zh-CN" altLang="en-US" smtClean="0"/>
              <a:t>2026/5/14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8768D9-5829-CA4C-800C-5932EF9830F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D6ACD6-F780-4A47-B5D9-D292A4BD6F81}" type="datetimeFigureOut">
              <a:rPr kumimoji="1" lang="zh-CN" altLang="en-US" smtClean="0"/>
              <a:t>2026/5/14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12715C-60D8-4442-95C1-470452B8606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  <a:t>8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E4310E-1484-48D4-8D7D-D5A7EB807AA8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E4310E-1484-48D4-8D7D-D5A7EB807AA8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E4310E-1484-48D4-8D7D-D5A7EB807AA8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E4310E-1484-48D4-8D7D-D5A7EB807AA8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  <a:t>14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  <a:t>15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  <a:t>16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  <a:t>17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  <a:t>18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  <a:t>19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  <a:t>21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  <a:t>22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  <a:t>23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  <a:t>24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  <a:t>25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  <a:t>26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  <a:t>27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  <a:t>28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  <a:t>29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  <a:t>30</a:t>
            </a:fld>
            <a:endParaRPr kumimoji="1"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>
            <a:lvl1pPr>
              <a:defRPr>
                <a:ea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/>
          <a:lstStyle>
            <a:lvl1pPr>
              <a:defRPr>
                <a:ea typeface="阿里巴巴普惠体" panose="00020600040101010101" pitchFamily="18" charset="-122"/>
              </a:defRPr>
            </a:lvl1pPr>
            <a:lvl2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</a:defRPr>
            </a:lvl2pPr>
            <a:lvl3pPr>
              <a:defRPr>
                <a:ea typeface="阿里巴巴普惠体" panose="00020600040101010101" pitchFamily="18" charset="-122"/>
              </a:defRPr>
            </a:lvl3pPr>
            <a:lvl4pPr>
              <a:defRPr>
                <a:ea typeface="阿里巴巴普惠体" panose="00020600040101010101" pitchFamily="18" charset="-122"/>
              </a:defRPr>
            </a:lvl4pPr>
            <a:lvl5pPr>
              <a:defRPr>
                <a:ea typeface="阿里巴巴普惠体" panose="00020600040101010101" pitchFamily="18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>
                <a:ea typeface="阿里巴巴普惠体" panose="00020600040101010101" pitchFamily="18" charset="-122"/>
              </a:defRPr>
            </a:lvl1pPr>
          </a:lstStyle>
          <a:p>
            <a:fld id="{51A0BAEC-A70E-436E-92C6-3ECF094493EF}" type="datetimeFigureOut">
              <a:rPr lang="zh-CN" altLang="en-US" smtClean="0"/>
              <a:t>2026/5/14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>
                <a:ea typeface="阿里巴巴普惠体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>
                <a:ea typeface="阿里巴巴普惠体" panose="00020600040101010101" pitchFamily="18" charset="-122"/>
              </a:defRPr>
            </a:lvl1pPr>
          </a:lstStyle>
          <a:p>
            <a:fld id="{8745BC63-D829-4A71-B2F4-3CC30B2DF020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b="1" i="0" kern="1200" baseline="0">
          <a:solidFill>
            <a:srgbClr val="071F65"/>
          </a:solidFill>
          <a:effectLst/>
          <a:latin typeface="Arial Black" panose="020B0A040201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67970" indent="-267970" algn="just" defTabSz="685800" rtl="0" eaLnBrk="1" latinLnBrk="0" hangingPunct="1">
        <a:lnSpc>
          <a:spcPct val="110000"/>
        </a:lnSpc>
        <a:spcBef>
          <a:spcPts val="1350"/>
        </a:spcBef>
        <a:spcAft>
          <a:spcPts val="0"/>
        </a:spcAft>
        <a:buClr>
          <a:schemeClr val="accent2">
            <a:lumMod val="75000"/>
          </a:schemeClr>
        </a:buClr>
        <a:buSzPct val="70000"/>
        <a:buFont typeface="Wingdings 2" panose="05020102010507070707" pitchFamily="18" charset="2"/>
        <a:buChar char=""/>
        <a:defRPr sz="1500" kern="1200" baseline="0">
          <a:solidFill>
            <a:srgbClr val="071F65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267970" indent="-267970" algn="just" defTabSz="685800" rtl="0" eaLnBrk="1" latinLnBrk="0" hangingPunct="1">
        <a:lnSpc>
          <a:spcPct val="130000"/>
        </a:lnSpc>
        <a:spcBef>
          <a:spcPts val="0"/>
        </a:spcBef>
        <a:spcAft>
          <a:spcPts val="450"/>
        </a:spcAft>
        <a:buClr>
          <a:schemeClr val="accent2">
            <a:lumMod val="60000"/>
            <a:lumOff val="40000"/>
          </a:schemeClr>
        </a:buClr>
        <a:buFont typeface="幼圆" panose="02010509060101010101" pitchFamily="49" charset="-122"/>
        <a:buChar char=" "/>
        <a:defRPr sz="1200" kern="1200" baseline="0">
          <a:solidFill>
            <a:srgbClr val="071F65"/>
          </a:solidFill>
          <a:latin typeface="幼圆" panose="02010509060101010101" pitchFamily="49" charset="-122"/>
          <a:ea typeface="幼圆" panose="02010509060101010101" pitchFamily="49" charset="-122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tags" Target="../tags/tag14.xml"/><Relationship Id="rId18" Type="http://schemas.openxmlformats.org/officeDocument/2006/relationships/slideLayout" Target="../slideLayouts/slideLayout5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17" Type="http://schemas.openxmlformats.org/officeDocument/2006/relationships/tags" Target="../tags/tag18.xml"/><Relationship Id="rId2" Type="http://schemas.openxmlformats.org/officeDocument/2006/relationships/tags" Target="../tags/tag3.xml"/><Relationship Id="rId16" Type="http://schemas.openxmlformats.org/officeDocument/2006/relationships/tags" Target="../tags/tag17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5" Type="http://schemas.openxmlformats.org/officeDocument/2006/relationships/tags" Target="../tags/tag6.xml"/><Relationship Id="rId15" Type="http://schemas.openxmlformats.org/officeDocument/2006/relationships/tags" Target="../tags/tag16.xml"/><Relationship Id="rId10" Type="http://schemas.openxmlformats.org/officeDocument/2006/relationships/tags" Target="../tags/tag11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tags" Target="../tags/tag1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26.xml"/><Relationship Id="rId13" Type="http://schemas.openxmlformats.org/officeDocument/2006/relationships/tags" Target="../tags/tag31.xml"/><Relationship Id="rId18" Type="http://schemas.openxmlformats.org/officeDocument/2006/relationships/notesSlide" Target="../notesSlides/notesSlide3.xml"/><Relationship Id="rId3" Type="http://schemas.openxmlformats.org/officeDocument/2006/relationships/tags" Target="../tags/tag21.xml"/><Relationship Id="rId7" Type="http://schemas.openxmlformats.org/officeDocument/2006/relationships/tags" Target="../tags/tag25.xml"/><Relationship Id="rId12" Type="http://schemas.openxmlformats.org/officeDocument/2006/relationships/tags" Target="../tags/tag30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20.xml"/><Relationship Id="rId16" Type="http://schemas.openxmlformats.org/officeDocument/2006/relationships/tags" Target="../tags/tag34.xml"/><Relationship Id="rId1" Type="http://schemas.openxmlformats.org/officeDocument/2006/relationships/tags" Target="../tags/tag19.xml"/><Relationship Id="rId6" Type="http://schemas.openxmlformats.org/officeDocument/2006/relationships/tags" Target="../tags/tag24.xml"/><Relationship Id="rId11" Type="http://schemas.openxmlformats.org/officeDocument/2006/relationships/tags" Target="../tags/tag29.xml"/><Relationship Id="rId5" Type="http://schemas.openxmlformats.org/officeDocument/2006/relationships/tags" Target="../tags/tag23.xml"/><Relationship Id="rId15" Type="http://schemas.openxmlformats.org/officeDocument/2006/relationships/tags" Target="../tags/tag33.xml"/><Relationship Id="rId10" Type="http://schemas.openxmlformats.org/officeDocument/2006/relationships/tags" Target="../tags/tag28.xml"/><Relationship Id="rId4" Type="http://schemas.openxmlformats.org/officeDocument/2006/relationships/tags" Target="../tags/tag22.xml"/><Relationship Id="rId9" Type="http://schemas.openxmlformats.org/officeDocument/2006/relationships/tags" Target="../tags/tag27.xml"/><Relationship Id="rId14" Type="http://schemas.openxmlformats.org/officeDocument/2006/relationships/tags" Target="../tags/tag3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42.xml"/><Relationship Id="rId3" Type="http://schemas.openxmlformats.org/officeDocument/2006/relationships/tags" Target="../tags/tag37.xml"/><Relationship Id="rId7" Type="http://schemas.openxmlformats.org/officeDocument/2006/relationships/tags" Target="../tags/tag41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5" Type="http://schemas.openxmlformats.org/officeDocument/2006/relationships/tags" Target="../tags/tag39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38.xml"/><Relationship Id="rId9" Type="http://schemas.openxmlformats.org/officeDocument/2006/relationships/tags" Target="../tags/tag4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51.xml"/><Relationship Id="rId3" Type="http://schemas.openxmlformats.org/officeDocument/2006/relationships/tags" Target="../tags/tag46.xml"/><Relationship Id="rId7" Type="http://schemas.openxmlformats.org/officeDocument/2006/relationships/tags" Target="../tags/tag50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tags" Target="../tags/tag49.xml"/><Relationship Id="rId11" Type="http://schemas.openxmlformats.org/officeDocument/2006/relationships/image" Target="../media/image3.png"/><Relationship Id="rId5" Type="http://schemas.openxmlformats.org/officeDocument/2006/relationships/tags" Target="../tags/tag48.xml"/><Relationship Id="rId10" Type="http://schemas.openxmlformats.org/officeDocument/2006/relationships/notesSlide" Target="../notesSlides/notesSlide5.xml"/><Relationship Id="rId4" Type="http://schemas.openxmlformats.org/officeDocument/2006/relationships/tags" Target="../tags/tag47.xml"/><Relationship Id="rId9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54.xml"/><Relationship Id="rId7" Type="http://schemas.openxmlformats.org/officeDocument/2006/relationships/notesSlide" Target="../notesSlides/notesSlide7.xml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56.xml"/><Relationship Id="rId4" Type="http://schemas.openxmlformats.org/officeDocument/2006/relationships/tags" Target="../tags/tag55.xml"/><Relationship Id="rId9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59.xml"/><Relationship Id="rId7" Type="http://schemas.openxmlformats.org/officeDocument/2006/relationships/notesSlide" Target="../notesSlides/notesSlide8.xml"/><Relationship Id="rId2" Type="http://schemas.openxmlformats.org/officeDocument/2006/relationships/tags" Target="../tags/tag58.xml"/><Relationship Id="rId1" Type="http://schemas.openxmlformats.org/officeDocument/2006/relationships/tags" Target="../tags/tag57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9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64.xml"/><Relationship Id="rId7" Type="http://schemas.openxmlformats.org/officeDocument/2006/relationships/image" Target="../media/image7.png"/><Relationship Id="rId2" Type="http://schemas.openxmlformats.org/officeDocument/2006/relationships/tags" Target="../tags/tag63.xml"/><Relationship Id="rId1" Type="http://schemas.openxmlformats.org/officeDocument/2006/relationships/tags" Target="../tags/tag62.xml"/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65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73.xml"/><Relationship Id="rId13" Type="http://schemas.openxmlformats.org/officeDocument/2006/relationships/slideLayout" Target="../slideLayouts/slideLayout1.xml"/><Relationship Id="rId3" Type="http://schemas.openxmlformats.org/officeDocument/2006/relationships/tags" Target="../tags/tag68.xml"/><Relationship Id="rId7" Type="http://schemas.openxmlformats.org/officeDocument/2006/relationships/tags" Target="../tags/tag72.xml"/><Relationship Id="rId12" Type="http://schemas.openxmlformats.org/officeDocument/2006/relationships/tags" Target="../tags/tag77.xml"/><Relationship Id="rId2" Type="http://schemas.openxmlformats.org/officeDocument/2006/relationships/tags" Target="../tags/tag67.xml"/><Relationship Id="rId16" Type="http://schemas.openxmlformats.org/officeDocument/2006/relationships/chart" Target="../charts/chart1.xml"/><Relationship Id="rId1" Type="http://schemas.openxmlformats.org/officeDocument/2006/relationships/tags" Target="../tags/tag66.xml"/><Relationship Id="rId6" Type="http://schemas.openxmlformats.org/officeDocument/2006/relationships/tags" Target="../tags/tag71.xml"/><Relationship Id="rId11" Type="http://schemas.openxmlformats.org/officeDocument/2006/relationships/tags" Target="../tags/tag76.xml"/><Relationship Id="rId5" Type="http://schemas.openxmlformats.org/officeDocument/2006/relationships/tags" Target="../tags/tag70.xml"/><Relationship Id="rId15" Type="http://schemas.openxmlformats.org/officeDocument/2006/relationships/image" Target="../media/image8.png"/><Relationship Id="rId10" Type="http://schemas.openxmlformats.org/officeDocument/2006/relationships/tags" Target="../tags/tag75.xml"/><Relationship Id="rId4" Type="http://schemas.openxmlformats.org/officeDocument/2006/relationships/tags" Target="../tags/tag69.xml"/><Relationship Id="rId9" Type="http://schemas.openxmlformats.org/officeDocument/2006/relationships/tags" Target="../tags/tag74.xml"/><Relationship Id="rId14" Type="http://schemas.openxmlformats.org/officeDocument/2006/relationships/notesSlide" Target="../notesSlides/notesSlide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80.xml"/><Relationship Id="rId2" Type="http://schemas.openxmlformats.org/officeDocument/2006/relationships/tags" Target="../tags/tag79.xml"/><Relationship Id="rId1" Type="http://schemas.openxmlformats.org/officeDocument/2006/relationships/tags" Target="../tags/tag78.xml"/><Relationship Id="rId6" Type="http://schemas.openxmlformats.org/officeDocument/2006/relationships/image" Target="../media/image9.png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8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84.xml"/><Relationship Id="rId7" Type="http://schemas.openxmlformats.org/officeDocument/2006/relationships/image" Target="../media/image10.png"/><Relationship Id="rId2" Type="http://schemas.openxmlformats.org/officeDocument/2006/relationships/tags" Target="../tags/tag83.xml"/><Relationship Id="rId1" Type="http://schemas.openxmlformats.org/officeDocument/2006/relationships/tags" Target="../tags/tag82.xml"/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85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93.xml"/><Relationship Id="rId13" Type="http://schemas.openxmlformats.org/officeDocument/2006/relationships/tags" Target="../tags/tag98.xml"/><Relationship Id="rId18" Type="http://schemas.openxmlformats.org/officeDocument/2006/relationships/tags" Target="../tags/tag103.xml"/><Relationship Id="rId26" Type="http://schemas.openxmlformats.org/officeDocument/2006/relationships/notesSlide" Target="../notesSlides/notesSlide12.xml"/><Relationship Id="rId3" Type="http://schemas.openxmlformats.org/officeDocument/2006/relationships/tags" Target="../tags/tag88.xml"/><Relationship Id="rId21" Type="http://schemas.openxmlformats.org/officeDocument/2006/relationships/tags" Target="../tags/tag106.xml"/><Relationship Id="rId7" Type="http://schemas.openxmlformats.org/officeDocument/2006/relationships/tags" Target="../tags/tag92.xml"/><Relationship Id="rId12" Type="http://schemas.openxmlformats.org/officeDocument/2006/relationships/tags" Target="../tags/tag97.xml"/><Relationship Id="rId17" Type="http://schemas.openxmlformats.org/officeDocument/2006/relationships/tags" Target="../tags/tag102.xml"/><Relationship Id="rId25" Type="http://schemas.openxmlformats.org/officeDocument/2006/relationships/slideLayout" Target="../slideLayouts/slideLayout2.xml"/><Relationship Id="rId2" Type="http://schemas.openxmlformats.org/officeDocument/2006/relationships/tags" Target="../tags/tag87.xml"/><Relationship Id="rId16" Type="http://schemas.openxmlformats.org/officeDocument/2006/relationships/tags" Target="../tags/tag101.xml"/><Relationship Id="rId20" Type="http://schemas.openxmlformats.org/officeDocument/2006/relationships/tags" Target="../tags/tag105.xml"/><Relationship Id="rId1" Type="http://schemas.openxmlformats.org/officeDocument/2006/relationships/tags" Target="../tags/tag86.xml"/><Relationship Id="rId6" Type="http://schemas.openxmlformats.org/officeDocument/2006/relationships/tags" Target="../tags/tag91.xml"/><Relationship Id="rId11" Type="http://schemas.openxmlformats.org/officeDocument/2006/relationships/tags" Target="../tags/tag96.xml"/><Relationship Id="rId24" Type="http://schemas.openxmlformats.org/officeDocument/2006/relationships/tags" Target="../tags/tag109.xml"/><Relationship Id="rId5" Type="http://schemas.openxmlformats.org/officeDocument/2006/relationships/tags" Target="../tags/tag90.xml"/><Relationship Id="rId15" Type="http://schemas.openxmlformats.org/officeDocument/2006/relationships/tags" Target="../tags/tag100.xml"/><Relationship Id="rId23" Type="http://schemas.openxmlformats.org/officeDocument/2006/relationships/tags" Target="../tags/tag108.xml"/><Relationship Id="rId10" Type="http://schemas.openxmlformats.org/officeDocument/2006/relationships/tags" Target="../tags/tag95.xml"/><Relationship Id="rId19" Type="http://schemas.openxmlformats.org/officeDocument/2006/relationships/tags" Target="../tags/tag104.xml"/><Relationship Id="rId4" Type="http://schemas.openxmlformats.org/officeDocument/2006/relationships/tags" Target="../tags/tag89.xml"/><Relationship Id="rId9" Type="http://schemas.openxmlformats.org/officeDocument/2006/relationships/tags" Target="../tags/tag94.xml"/><Relationship Id="rId14" Type="http://schemas.openxmlformats.org/officeDocument/2006/relationships/tags" Target="../tags/tag99.xml"/><Relationship Id="rId22" Type="http://schemas.openxmlformats.org/officeDocument/2006/relationships/tags" Target="../tags/tag10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117.xml"/><Relationship Id="rId3" Type="http://schemas.openxmlformats.org/officeDocument/2006/relationships/tags" Target="../tags/tag112.xml"/><Relationship Id="rId7" Type="http://schemas.openxmlformats.org/officeDocument/2006/relationships/tags" Target="../tags/tag116.xml"/><Relationship Id="rId2" Type="http://schemas.openxmlformats.org/officeDocument/2006/relationships/tags" Target="../tags/tag111.xml"/><Relationship Id="rId1" Type="http://schemas.openxmlformats.org/officeDocument/2006/relationships/tags" Target="../tags/tag110.xml"/><Relationship Id="rId6" Type="http://schemas.openxmlformats.org/officeDocument/2006/relationships/tags" Target="../tags/tag115.xml"/><Relationship Id="rId11" Type="http://schemas.openxmlformats.org/officeDocument/2006/relationships/notesSlide" Target="../notesSlides/notesSlide13.xml"/><Relationship Id="rId5" Type="http://schemas.openxmlformats.org/officeDocument/2006/relationships/tags" Target="../tags/tag114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113.xml"/><Relationship Id="rId9" Type="http://schemas.openxmlformats.org/officeDocument/2006/relationships/tags" Target="../tags/tag11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tags" Target="../tags/tag126.xml"/><Relationship Id="rId13" Type="http://schemas.openxmlformats.org/officeDocument/2006/relationships/tags" Target="../tags/tag131.xml"/><Relationship Id="rId18" Type="http://schemas.openxmlformats.org/officeDocument/2006/relationships/notesSlide" Target="../notesSlides/notesSlide23.xml"/><Relationship Id="rId3" Type="http://schemas.openxmlformats.org/officeDocument/2006/relationships/tags" Target="../tags/tag121.xml"/><Relationship Id="rId7" Type="http://schemas.openxmlformats.org/officeDocument/2006/relationships/tags" Target="../tags/tag125.xml"/><Relationship Id="rId12" Type="http://schemas.openxmlformats.org/officeDocument/2006/relationships/tags" Target="../tags/tag130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120.xml"/><Relationship Id="rId16" Type="http://schemas.openxmlformats.org/officeDocument/2006/relationships/tags" Target="../tags/tag134.xml"/><Relationship Id="rId1" Type="http://schemas.openxmlformats.org/officeDocument/2006/relationships/tags" Target="../tags/tag119.xml"/><Relationship Id="rId6" Type="http://schemas.openxmlformats.org/officeDocument/2006/relationships/tags" Target="../tags/tag124.xml"/><Relationship Id="rId11" Type="http://schemas.openxmlformats.org/officeDocument/2006/relationships/tags" Target="../tags/tag129.xml"/><Relationship Id="rId5" Type="http://schemas.openxmlformats.org/officeDocument/2006/relationships/tags" Target="../tags/tag123.xml"/><Relationship Id="rId15" Type="http://schemas.openxmlformats.org/officeDocument/2006/relationships/tags" Target="../tags/tag133.xml"/><Relationship Id="rId10" Type="http://schemas.openxmlformats.org/officeDocument/2006/relationships/tags" Target="../tags/tag128.xml"/><Relationship Id="rId4" Type="http://schemas.openxmlformats.org/officeDocument/2006/relationships/tags" Target="../tags/tag122.xml"/><Relationship Id="rId9" Type="http://schemas.openxmlformats.org/officeDocument/2006/relationships/tags" Target="../tags/tag127.xml"/><Relationship Id="rId14" Type="http://schemas.openxmlformats.org/officeDocument/2006/relationships/tags" Target="../tags/tag13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tags" Target="../tags/tag137.xml"/><Relationship Id="rId2" Type="http://schemas.openxmlformats.org/officeDocument/2006/relationships/tags" Target="../tags/tag136.xml"/><Relationship Id="rId1" Type="http://schemas.openxmlformats.org/officeDocument/2006/relationships/tags" Target="../tags/tag135.xml"/><Relationship Id="rId6" Type="http://schemas.openxmlformats.org/officeDocument/2006/relationships/image" Target="../media/image23.emf"/><Relationship Id="rId5" Type="http://schemas.openxmlformats.org/officeDocument/2006/relationships/notesSlide" Target="../notesSlides/notesSlide25.xml"/><Relationship Id="rId4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320036" y="320040"/>
            <a:ext cx="8503920" cy="45034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阿里巴巴普惠体" panose="00020600040101010101" pitchFamily="18" charset="-122"/>
            </a:endParaRPr>
          </a:p>
        </p:txBody>
      </p:sp>
      <p:sp>
        <p:nvSpPr>
          <p:cNvPr id="20" name="TextBox 5"/>
          <p:cNvSpPr txBox="1"/>
          <p:nvPr/>
        </p:nvSpPr>
        <p:spPr>
          <a:xfrm>
            <a:off x="5120698" y="3531516"/>
            <a:ext cx="1569720" cy="283845"/>
          </a:xfrm>
          <a:prstGeom prst="rect">
            <a:avLst/>
          </a:prstGeom>
          <a:noFill/>
        </p:spPr>
        <p:txBody>
          <a:bodyPr wrap="none" lIns="68580" tIns="34290" rIns="68580" bIns="34290" rtlCol="0">
            <a:spAutoFit/>
          </a:bodyPr>
          <a:lstStyle/>
          <a:p>
            <a:r>
              <a:rPr lang="zh-CN" altLang="en-US" b="1" dirty="0">
                <a:solidFill>
                  <a:srgbClr val="071F65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指导教师：龚奕利</a:t>
            </a:r>
            <a:endParaRPr lang="zh-CN" altLang="en-US" b="1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2754893" y="3532151"/>
            <a:ext cx="2106930" cy="283845"/>
          </a:xfrm>
          <a:prstGeom prst="rect">
            <a:avLst/>
          </a:prstGeom>
        </p:spPr>
        <p:txBody>
          <a:bodyPr wrap="none" lIns="68580" tIns="34290" rIns="68580" bIns="34290">
            <a:spAutoFit/>
          </a:bodyPr>
          <a:lstStyle/>
          <a:p>
            <a:r>
              <a:rPr kumimoji="1" lang="zh-CN" altLang="en-US" b="1" dirty="0">
                <a:solidFill>
                  <a:srgbClr val="071F65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队名：灰化肥挥发会发黑</a:t>
            </a:r>
            <a:endParaRPr kumimoji="1" lang="en-US" altLang="zh-CN" b="1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3866515" y="2331085"/>
            <a:ext cx="1840230" cy="560705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algn="dist"/>
            <a:r>
              <a:rPr lang="en-US" sz="3200" b="1" dirty="0">
                <a:solidFill>
                  <a:srgbClr val="071F6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Aegis-NX</a:t>
            </a:r>
          </a:p>
        </p:txBody>
      </p:sp>
      <p:cxnSp>
        <p:nvCxnSpPr>
          <p:cNvPr id="24" name="直接连接符 23"/>
          <p:cNvCxnSpPr/>
          <p:nvPr/>
        </p:nvCxnSpPr>
        <p:spPr>
          <a:xfrm flipH="1">
            <a:off x="2390767" y="2846304"/>
            <a:ext cx="443933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组合 7"/>
          <p:cNvGrpSpPr/>
          <p:nvPr/>
        </p:nvGrpSpPr>
        <p:grpSpPr>
          <a:xfrm>
            <a:off x="-1044270" y="678230"/>
            <a:ext cx="2728612" cy="1117006"/>
            <a:chOff x="-1081730" y="697235"/>
            <a:chExt cx="3164556" cy="1295467"/>
          </a:xfrm>
        </p:grpSpPr>
        <p:sp>
          <p:nvSpPr>
            <p:cNvPr id="3" name="矩形: 圆角 2"/>
            <p:cNvSpPr/>
            <p:nvPr/>
          </p:nvSpPr>
          <p:spPr>
            <a:xfrm>
              <a:off x="-1081730" y="697235"/>
              <a:ext cx="3164556" cy="1295467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</a:endParaRPr>
            </a:p>
          </p:txBody>
        </p:sp>
        <p:sp>
          <p:nvSpPr>
            <p:cNvPr id="4" name="椭圆 3"/>
            <p:cNvSpPr/>
            <p:nvPr/>
          </p:nvSpPr>
          <p:spPr>
            <a:xfrm>
              <a:off x="851402" y="800537"/>
              <a:ext cx="1095022" cy="1095022"/>
            </a:xfrm>
            <a:prstGeom prst="ellipse">
              <a:avLst/>
            </a:prstGeom>
            <a:solidFill>
              <a:schemeClr val="bg1"/>
            </a:solidFill>
            <a:ln w="508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</a:endParaRPr>
            </a:p>
          </p:txBody>
        </p:sp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97497" y="953457"/>
              <a:ext cx="808669" cy="808669"/>
            </a:xfrm>
            <a:prstGeom prst="rect">
              <a:avLst/>
            </a:prstGeom>
          </p:spPr>
        </p:pic>
      </p:grpSp>
      <p:sp>
        <p:nvSpPr>
          <p:cNvPr id="19" name="矩形: 圆角 18"/>
          <p:cNvSpPr/>
          <p:nvPr/>
        </p:nvSpPr>
        <p:spPr>
          <a:xfrm>
            <a:off x="7420378" y="678230"/>
            <a:ext cx="2728612" cy="1117006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阿里巴巴普惠体" panose="00020600040101010101" pitchFamily="18" charset="-122"/>
            </a:endParaRPr>
          </a:p>
        </p:txBody>
      </p:sp>
      <p:pic>
        <p:nvPicPr>
          <p:cNvPr id="5" name="图片 1"/>
          <p:cNvPicPr>
            <a:picLocks noChangeAspect="1"/>
          </p:cNvPicPr>
          <p:nvPr/>
        </p:nvPicPr>
        <p:blipFill>
          <a:blip r:embed="rId4"/>
          <a:srcRect r="3523" b="7232"/>
          <a:stretch>
            <a:fillRect/>
          </a:stretch>
        </p:blipFill>
        <p:spPr>
          <a:xfrm>
            <a:off x="2843530" y="516890"/>
            <a:ext cx="3394710" cy="1174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矩形 1"/>
          <p:cNvSpPr/>
          <p:nvPr/>
        </p:nvSpPr>
        <p:spPr>
          <a:xfrm>
            <a:off x="2934970" y="1691640"/>
            <a:ext cx="3580130" cy="622300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全国大学生计算机系统能力大赛</a:t>
            </a:r>
          </a:p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OS </a:t>
            </a:r>
            <a:r>
              <a:rPr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功能挑战赛</a:t>
            </a:r>
          </a:p>
        </p:txBody>
      </p:sp>
      <p:sp>
        <p:nvSpPr>
          <p:cNvPr id="9" name="矩形 8"/>
          <p:cNvSpPr/>
          <p:nvPr/>
        </p:nvSpPr>
        <p:spPr>
          <a:xfrm>
            <a:off x="3061970" y="2816860"/>
            <a:ext cx="3580130" cy="437515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NuttX OS Heap</a:t>
            </a:r>
            <a:r>
              <a:rPr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异常检测工具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>
            <p:custDataLst>
              <p:tags r:id="rId2"/>
            </p:custDataLst>
          </p:nvPr>
        </p:nvGrpSpPr>
        <p:grpSpPr>
          <a:xfrm>
            <a:off x="812237" y="1251706"/>
            <a:ext cx="7717866" cy="3150182"/>
            <a:chOff x="1082981" y="1668943"/>
            <a:chExt cx="10290488" cy="4200241"/>
          </a:xfrm>
        </p:grpSpPr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5212579" y="2596636"/>
              <a:ext cx="1313429" cy="11079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4800" b="1" dirty="0">
                  <a:solidFill>
                    <a:schemeClr val="accent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03</a:t>
              </a:r>
            </a:p>
          </p:txBody>
        </p:sp>
        <p:sp>
          <p:nvSpPr>
            <p:cNvPr id="5" name="文本框 4"/>
            <p:cNvSpPr txBox="1"/>
            <p:nvPr>
              <p:custDataLst>
                <p:tags r:id="rId4"/>
              </p:custDataLst>
            </p:nvPr>
          </p:nvSpPr>
          <p:spPr>
            <a:xfrm>
              <a:off x="3147780" y="2596636"/>
              <a:ext cx="1313429" cy="11079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4800" b="1" dirty="0">
                  <a:solidFill>
                    <a:schemeClr val="accent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02</a:t>
              </a:r>
            </a:p>
          </p:txBody>
        </p:sp>
        <p:sp>
          <p:nvSpPr>
            <p:cNvPr id="6" name="文本框 5"/>
            <p:cNvSpPr txBox="1"/>
            <p:nvPr>
              <p:custDataLst>
                <p:tags r:id="rId5"/>
              </p:custDataLst>
            </p:nvPr>
          </p:nvSpPr>
          <p:spPr>
            <a:xfrm>
              <a:off x="1082981" y="2596636"/>
              <a:ext cx="1313429" cy="11079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4800" b="1" dirty="0">
                  <a:solidFill>
                    <a:schemeClr val="accent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01</a:t>
              </a:r>
            </a:p>
          </p:txBody>
        </p:sp>
        <p:sp>
          <p:nvSpPr>
            <p:cNvPr id="7" name="文本框 6"/>
            <p:cNvSpPr txBox="1"/>
            <p:nvPr>
              <p:custDataLst>
                <p:tags r:id="rId6"/>
              </p:custDataLst>
            </p:nvPr>
          </p:nvSpPr>
          <p:spPr>
            <a:xfrm>
              <a:off x="7277377" y="2596636"/>
              <a:ext cx="1313429" cy="11079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4800" b="1" dirty="0">
                  <a:solidFill>
                    <a:schemeClr val="accent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04</a:t>
              </a:r>
            </a:p>
          </p:txBody>
        </p:sp>
        <p:sp>
          <p:nvSpPr>
            <p:cNvPr id="8" name="文本框 7"/>
            <p:cNvSpPr txBox="1"/>
            <p:nvPr>
              <p:custDataLst>
                <p:tags r:id="rId7"/>
              </p:custDataLst>
            </p:nvPr>
          </p:nvSpPr>
          <p:spPr>
            <a:xfrm>
              <a:off x="9342178" y="2596636"/>
              <a:ext cx="1313429" cy="11079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4800" b="1" dirty="0">
                  <a:solidFill>
                    <a:schemeClr val="accent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05</a:t>
              </a:r>
            </a:p>
          </p:txBody>
        </p:sp>
        <p:cxnSp>
          <p:nvCxnSpPr>
            <p:cNvPr id="9" name="直接连接符 8"/>
            <p:cNvCxnSpPr/>
            <p:nvPr>
              <p:custDataLst>
                <p:tags r:id="rId8"/>
              </p:custDataLst>
            </p:nvPr>
          </p:nvCxnSpPr>
          <p:spPr>
            <a:xfrm flipV="1">
              <a:off x="1333374" y="2793119"/>
              <a:ext cx="0" cy="2301167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矩形 9"/>
            <p:cNvSpPr/>
            <p:nvPr/>
          </p:nvSpPr>
          <p:spPr>
            <a:xfrm>
              <a:off x="1333374" y="3834384"/>
              <a:ext cx="1809785" cy="429260"/>
            </a:xfrm>
            <a:prstGeom prst="rect">
              <a:avLst/>
            </a:prstGeom>
            <a:ln>
              <a:noFill/>
            </a:ln>
          </p:spPr>
          <p:txBody>
            <a:bodyPr wrap="square" lIns="91440" tIns="45720" rIns="91440" bIns="45720" anchor="t">
              <a:spAutoFit/>
            </a:bodyPr>
            <a:lstStyle/>
            <a:p>
              <a:pPr defTabSz="913765">
                <a:lnSpc>
                  <a:spcPct val="150000"/>
                </a:lnSpc>
                <a:buSzPct val="25000"/>
                <a:defRPr/>
              </a:pP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1" name="文本框 10"/>
            <p:cNvSpPr txBox="1"/>
            <p:nvPr>
              <p:custDataLst>
                <p:tags r:id="rId9"/>
              </p:custDataLst>
            </p:nvPr>
          </p:nvSpPr>
          <p:spPr>
            <a:xfrm>
              <a:off x="1333374" y="3516172"/>
              <a:ext cx="1809785" cy="449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项目背景</a:t>
              </a:r>
            </a:p>
          </p:txBody>
        </p:sp>
        <p:sp>
          <p:nvSpPr>
            <p:cNvPr id="13" name="文本框 12"/>
            <p:cNvSpPr txBox="1"/>
            <p:nvPr>
              <p:custDataLst>
                <p:tags r:id="rId10"/>
              </p:custDataLst>
            </p:nvPr>
          </p:nvSpPr>
          <p:spPr>
            <a:xfrm>
              <a:off x="3399451" y="3516584"/>
              <a:ext cx="1809785" cy="449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总体架构</a:t>
              </a:r>
            </a:p>
          </p:txBody>
        </p:sp>
        <p:cxnSp>
          <p:nvCxnSpPr>
            <p:cNvPr id="14" name="直接连接符 13"/>
            <p:cNvCxnSpPr/>
            <p:nvPr>
              <p:custDataLst>
                <p:tags r:id="rId11"/>
              </p:custDataLst>
            </p:nvPr>
          </p:nvCxnSpPr>
          <p:spPr>
            <a:xfrm flipV="1">
              <a:off x="5467224" y="2793119"/>
              <a:ext cx="0" cy="2301167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>
              <p:custDataLst>
                <p:tags r:id="rId12"/>
              </p:custDataLst>
            </p:nvPr>
          </p:nvCxnSpPr>
          <p:spPr>
            <a:xfrm flipV="1">
              <a:off x="3400299" y="2793120"/>
              <a:ext cx="0" cy="3076064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>
              <p:custDataLst>
                <p:tags r:id="rId13"/>
              </p:custDataLst>
            </p:nvPr>
          </p:nvCxnSpPr>
          <p:spPr>
            <a:xfrm flipV="1">
              <a:off x="7534149" y="2793120"/>
              <a:ext cx="0" cy="3076064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>
              <p:custDataLst>
                <p:tags r:id="rId14"/>
              </p:custDataLst>
            </p:nvPr>
          </p:nvCxnSpPr>
          <p:spPr>
            <a:xfrm flipV="1">
              <a:off x="9601074" y="2793119"/>
              <a:ext cx="0" cy="2301167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文本框 18"/>
            <p:cNvSpPr txBox="1"/>
            <p:nvPr>
              <p:custDataLst>
                <p:tags r:id="rId15"/>
              </p:custDataLst>
            </p:nvPr>
          </p:nvSpPr>
          <p:spPr>
            <a:xfrm>
              <a:off x="5466347" y="3502233"/>
              <a:ext cx="1809785" cy="449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核心技术</a:t>
              </a:r>
            </a:p>
          </p:txBody>
        </p:sp>
        <p:sp>
          <p:nvSpPr>
            <p:cNvPr id="21" name="文本框 20"/>
            <p:cNvSpPr txBox="1"/>
            <p:nvPr>
              <p:custDataLst>
                <p:tags r:id="rId16"/>
              </p:custDataLst>
            </p:nvPr>
          </p:nvSpPr>
          <p:spPr>
            <a:xfrm>
              <a:off x="7533335" y="3502158"/>
              <a:ext cx="1809785" cy="449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成果展示</a:t>
              </a:r>
            </a:p>
          </p:txBody>
        </p:sp>
        <p:sp>
          <p:nvSpPr>
            <p:cNvPr id="23" name="文本框 22"/>
            <p:cNvSpPr txBox="1"/>
            <p:nvPr>
              <p:custDataLst>
                <p:tags r:id="rId17"/>
              </p:custDataLst>
            </p:nvPr>
          </p:nvSpPr>
          <p:spPr>
            <a:xfrm>
              <a:off x="9563684" y="3501416"/>
              <a:ext cx="1809785" cy="449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4928635" y="1668943"/>
              <a:ext cx="2328543" cy="58879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spAutoFit/>
            </a:bodyPr>
            <a:lstStyle/>
            <a:p>
              <a:pPr algn="dist">
                <a:lnSpc>
                  <a:spcPct val="120000"/>
                </a:lnSpc>
              </a:pPr>
              <a:r>
                <a:rPr lang="en-US" altLang="zh-CN" sz="2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CONTENTS</a:t>
              </a:r>
            </a:p>
          </p:txBody>
        </p:sp>
      </p:grpSp>
      <p:sp>
        <p:nvSpPr>
          <p:cNvPr id="25" name="矩形 24"/>
          <p:cNvSpPr/>
          <p:nvPr/>
        </p:nvSpPr>
        <p:spPr>
          <a:xfrm>
            <a:off x="320036" y="320040"/>
            <a:ext cx="8503920" cy="45034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阿里巴巴普惠体" panose="00020600040101010101" pitchFamily="18" charset="-122"/>
            </a:endParaRPr>
          </a:p>
        </p:txBody>
      </p:sp>
      <p:sp>
        <p:nvSpPr>
          <p:cNvPr id="26" name="TextBox 145"/>
          <p:cNvSpPr txBox="1"/>
          <p:nvPr/>
        </p:nvSpPr>
        <p:spPr>
          <a:xfrm>
            <a:off x="3804628" y="527502"/>
            <a:ext cx="153010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400" b="1" dirty="0">
                <a:solidFill>
                  <a:schemeClr val="accent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目录</a:t>
            </a:r>
          </a:p>
        </p:txBody>
      </p:sp>
      <p:sp>
        <p:nvSpPr>
          <p:cNvPr id="27" name="矩形: 圆角 26"/>
          <p:cNvSpPr/>
          <p:nvPr/>
        </p:nvSpPr>
        <p:spPr>
          <a:xfrm>
            <a:off x="7351103" y="580450"/>
            <a:ext cx="2728612" cy="645575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阿里巴巴普惠体" panose="00020600040101010101" pitchFamily="18" charset="-122"/>
            </a:endParaRPr>
          </a:p>
        </p:txBody>
      </p:sp>
      <p:sp>
        <p:nvSpPr>
          <p:cNvPr id="28" name="矩形: 圆角 27"/>
          <p:cNvSpPr/>
          <p:nvPr/>
        </p:nvSpPr>
        <p:spPr>
          <a:xfrm>
            <a:off x="-804830" y="580450"/>
            <a:ext cx="2728612" cy="645575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阿里巴巴普惠体" panose="00020600040101010101" pitchFamily="18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320036" y="320040"/>
            <a:ext cx="8503920" cy="45034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阿里巴巴普惠体" panose="00020600040101010101" pitchFamily="18" charset="-122"/>
            </a:endParaRPr>
          </a:p>
        </p:txBody>
      </p:sp>
      <p:sp>
        <p:nvSpPr>
          <p:cNvPr id="3" name="矩形: 圆角 2"/>
          <p:cNvSpPr/>
          <p:nvPr/>
        </p:nvSpPr>
        <p:spPr>
          <a:xfrm>
            <a:off x="-4" y="1277237"/>
            <a:ext cx="9144000" cy="2398828"/>
          </a:xfrm>
          <a:prstGeom prst="roundRect">
            <a:avLst>
              <a:gd name="adj" fmla="val 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1765421" y="2487850"/>
            <a:ext cx="5582162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lvl="0" algn="ctr">
              <a:defRPr sz="10000">
                <a:solidFill>
                  <a:srgbClr val="D3AA8F"/>
                </a:solidFill>
                <a:latin typeface="三极榜书简体" panose="00000500000000000000" pitchFamily="2" charset="-122"/>
                <a:ea typeface="三极榜书简体" panose="00000500000000000000" pitchFamily="2" charset="-122"/>
                <a:cs typeface="+mn-ea"/>
              </a:defRPr>
            </a:lvl1pPr>
          </a:lstStyle>
          <a:p>
            <a:r>
              <a:rPr lang="zh-CN" altLang="en-US" sz="4800" b="1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sym typeface="+mn-lt"/>
              </a:rPr>
              <a:t>项目背景</a:t>
            </a:r>
          </a:p>
        </p:txBody>
      </p:sp>
      <p:sp>
        <p:nvSpPr>
          <p:cNvPr id="18" name="矩形 17"/>
          <p:cNvSpPr/>
          <p:nvPr/>
        </p:nvSpPr>
        <p:spPr>
          <a:xfrm>
            <a:off x="3209369" y="1970603"/>
            <a:ext cx="2725261" cy="461665"/>
          </a:xfrm>
          <a:prstGeom prst="rect">
            <a:avLst/>
          </a:prstGeom>
          <a:noFill/>
          <a:effectLst>
            <a:outerShdw blurRad="190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square" anchor="ctr">
            <a:spAutoFit/>
          </a:bodyPr>
          <a:lstStyle/>
          <a:p>
            <a:pPr lvl="0" algn="ctr">
              <a:defRPr/>
            </a:pPr>
            <a:r>
              <a:rPr lang="zh-CN" altLang="en-US" sz="2400" noProof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+mn-ea"/>
                <a:sym typeface="+mn-lt"/>
              </a:rPr>
              <a:t>第一部分</a:t>
            </a:r>
            <a:endParaRPr kumimoji="0" lang="zh-CN" altLang="en-US" sz="24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+mn-ea"/>
              <a:sym typeface="+mn-lt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099913" y="806156"/>
            <a:ext cx="944174" cy="944174"/>
            <a:chOff x="622557" y="767301"/>
            <a:chExt cx="944174" cy="944174"/>
          </a:xfrm>
        </p:grpSpPr>
        <p:sp>
          <p:nvSpPr>
            <p:cNvPr id="20" name="椭圆 19"/>
            <p:cNvSpPr/>
            <p:nvPr/>
          </p:nvSpPr>
          <p:spPr>
            <a:xfrm>
              <a:off x="622557" y="767301"/>
              <a:ext cx="944174" cy="944174"/>
            </a:xfrm>
            <a:prstGeom prst="ellipse">
              <a:avLst/>
            </a:prstGeom>
            <a:solidFill>
              <a:schemeClr val="bg1"/>
            </a:solidFill>
            <a:ln w="508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</a:endParaRPr>
            </a:p>
          </p:txBody>
        </p:sp>
        <p:pic>
          <p:nvPicPr>
            <p:cNvPr id="21" name="图片 2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48526" y="899155"/>
              <a:ext cx="697268" cy="697268"/>
            </a:xfrm>
            <a:prstGeom prst="rect">
              <a:avLst/>
            </a:prstGeom>
            <a:ln>
              <a:noFill/>
            </a:ln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46"/>
          <p:cNvSpPr>
            <a:spLocks noChangeArrowheads="1"/>
          </p:cNvSpPr>
          <p:nvPr/>
        </p:nvSpPr>
        <p:spPr bwMode="auto">
          <a:xfrm>
            <a:off x="1037590" y="340360"/>
            <a:ext cx="3306445" cy="57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30000"/>
              </a:lnSpc>
            </a:pP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内存安全问题的严峻性</a:t>
            </a:r>
          </a:p>
        </p:txBody>
      </p:sp>
      <p:grpSp>
        <p:nvGrpSpPr>
          <p:cNvPr id="13" name="组合 12"/>
          <p:cNvGrpSpPr/>
          <p:nvPr>
            <p:custDataLst>
              <p:tags r:id="rId1"/>
            </p:custDataLst>
          </p:nvPr>
        </p:nvGrpSpPr>
        <p:grpSpPr>
          <a:xfrm>
            <a:off x="960120" y="1566545"/>
            <a:ext cx="1086485" cy="348615"/>
            <a:chOff x="3002037" y="1465798"/>
            <a:chExt cx="4241451" cy="369332"/>
          </a:xfrm>
          <a:solidFill>
            <a:schemeClr val="accent2">
              <a:lumMod val="75000"/>
            </a:schemeClr>
          </a:solidFill>
        </p:grpSpPr>
        <p:sp>
          <p:nvSpPr>
            <p:cNvPr id="14" name="矩形 13"/>
            <p:cNvSpPr/>
            <p:nvPr>
              <p:custDataLst>
                <p:tags r:id="rId15"/>
              </p:custDataLst>
            </p:nvPr>
          </p:nvSpPr>
          <p:spPr bwMode="auto">
            <a:xfrm>
              <a:off x="3002037" y="1465798"/>
              <a:ext cx="3978685" cy="369332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600" b="1" dirty="0">
                <a:latin typeface="阿里巴巴普惠体" panose="00020600040101010101" pitchFamily="18" charset="-122"/>
                <a:ea typeface="阿里巴巴普惠体" panose="00020600040101010101" pitchFamily="18" charset="-122"/>
              </a:endParaRPr>
            </a:p>
          </p:txBody>
        </p:sp>
        <p:sp>
          <p:nvSpPr>
            <p:cNvPr id="17" name="TextBox 16"/>
            <p:cNvSpPr txBox="1"/>
            <p:nvPr>
              <p:custDataLst>
                <p:tags r:id="rId16"/>
              </p:custDataLst>
            </p:nvPr>
          </p:nvSpPr>
          <p:spPr>
            <a:xfrm>
              <a:off x="3034263" y="1473871"/>
              <a:ext cx="4209225" cy="3572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b="1" dirty="0">
                  <a:solidFill>
                    <a:srgbClr val="F8F8F8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</a:rPr>
                <a:t>业界共识</a:t>
              </a:r>
            </a:p>
          </p:txBody>
        </p:sp>
      </p:grpSp>
      <p:grpSp>
        <p:nvGrpSpPr>
          <p:cNvPr id="18" name="组合 17"/>
          <p:cNvGrpSpPr/>
          <p:nvPr>
            <p:custDataLst>
              <p:tags r:id="rId2"/>
            </p:custDataLst>
          </p:nvPr>
        </p:nvGrpSpPr>
        <p:grpSpPr>
          <a:xfrm>
            <a:off x="1855578" y="2863142"/>
            <a:ext cx="5763985" cy="353695"/>
            <a:chOff x="3002037" y="3922395"/>
            <a:chExt cx="7067433" cy="374473"/>
          </a:xfrm>
          <a:solidFill>
            <a:schemeClr val="accent2">
              <a:lumMod val="75000"/>
            </a:schemeClr>
          </a:solidFill>
        </p:grpSpPr>
        <p:sp>
          <p:nvSpPr>
            <p:cNvPr id="19" name="矩形 18"/>
            <p:cNvSpPr/>
            <p:nvPr>
              <p:custDataLst>
                <p:tags r:id="rId13"/>
              </p:custDataLst>
            </p:nvPr>
          </p:nvSpPr>
          <p:spPr bwMode="auto">
            <a:xfrm>
              <a:off x="3002037" y="3922395"/>
              <a:ext cx="7067433" cy="369332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600" b="1" dirty="0">
                <a:latin typeface="阿里巴巴普惠体" panose="00020600040101010101" pitchFamily="18" charset="-122"/>
                <a:ea typeface="阿里巴巴普惠体" panose="00020600040101010101" pitchFamily="18" charset="-122"/>
              </a:endParaRPr>
            </a:p>
          </p:txBody>
        </p:sp>
        <p:sp>
          <p:nvSpPr>
            <p:cNvPr id="20" name="TextBox 19"/>
            <p:cNvSpPr txBox="1"/>
            <p:nvPr>
              <p:custDataLst>
                <p:tags r:id="rId14"/>
              </p:custDataLst>
            </p:nvPr>
          </p:nvSpPr>
          <p:spPr>
            <a:xfrm>
              <a:off x="3023838" y="3939875"/>
              <a:ext cx="7045522" cy="3569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b="1" dirty="0">
                  <a:solidFill>
                    <a:srgbClr val="F8F8F8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</a:rPr>
                <a:t>NuttX RTOS</a:t>
              </a:r>
              <a:r>
                <a:rPr lang="zh-CN" altLang="en-US" sz="1600" b="1" dirty="0">
                  <a:solidFill>
                    <a:srgbClr val="F8F8F8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</a:rPr>
                <a:t>场景下的挑战激化</a:t>
              </a:r>
            </a:p>
          </p:txBody>
        </p:sp>
      </p:grpSp>
      <p:sp>
        <p:nvSpPr>
          <p:cNvPr id="21" name="TextBox 20"/>
          <p:cNvSpPr txBox="1"/>
          <p:nvPr>
            <p:custDataLst>
              <p:tags r:id="rId3"/>
            </p:custDataLst>
          </p:nvPr>
        </p:nvSpPr>
        <p:spPr>
          <a:xfrm>
            <a:off x="2124819" y="1229220"/>
            <a:ext cx="5763984" cy="1147445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    </a:t>
            </a:r>
            <a:r>
              <a:rPr lang="zh-CN" altLang="en-US" sz="1200" dirty="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内存安全是构建可靠软件的基石。根据微软和谷歌等业界巨头的报告，其产品中高达</a:t>
            </a:r>
            <a:r>
              <a:rPr lang="zh-CN" altLang="en-US" sz="1800" b="1" dirty="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70%</a:t>
            </a:r>
            <a:r>
              <a:rPr lang="zh-CN" altLang="en-US" sz="1200" dirty="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的安全漏洞都与内存安全问题直接相关。</a:t>
            </a:r>
          </a:p>
          <a:p>
            <a:pPr>
              <a:lnSpc>
                <a:spcPct val="130000"/>
              </a:lnSpc>
            </a:pPr>
            <a:r>
              <a:rPr lang="en-US" altLang="zh-CN" sz="1200" dirty="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    </a:t>
            </a:r>
            <a:r>
              <a:rPr lang="zh-CN" altLang="en-US" sz="1200" dirty="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这些漏洞一旦被利用，攻击者便可轻易实现数据泄露、篡改关键数据，乃至获取远程代码执行权限，并发动如ROP、JOP等精密复杂的攻击。</a:t>
            </a:r>
          </a:p>
        </p:txBody>
      </p:sp>
      <p:sp>
        <p:nvSpPr>
          <p:cNvPr id="27" name="矩形: 圆角 26"/>
          <p:cNvSpPr/>
          <p:nvPr/>
        </p:nvSpPr>
        <p:spPr>
          <a:xfrm>
            <a:off x="-370858" y="408531"/>
            <a:ext cx="1260420" cy="431505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阿里巴巴普惠体" panose="00020600040101010101" pitchFamily="18" charset="-122"/>
            </a:endParaRPr>
          </a:p>
        </p:txBody>
      </p:sp>
      <p:sp>
        <p:nvSpPr>
          <p:cNvPr id="5" name="矩形 4"/>
          <p:cNvSpPr/>
          <p:nvPr>
            <p:custDataLst>
              <p:tags r:id="rId4"/>
            </p:custDataLst>
          </p:nvPr>
        </p:nvSpPr>
        <p:spPr>
          <a:xfrm>
            <a:off x="960211" y="3554640"/>
            <a:ext cx="2125607" cy="1317171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6">
                <a:alpha val="67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zh-CN" altLang="en-US" sz="1050">
              <a:cs typeface="+mn-ea"/>
              <a:sym typeface="+mn-lt"/>
            </a:endParaRPr>
          </a:p>
        </p:txBody>
      </p:sp>
      <p:sp>
        <p:nvSpPr>
          <p:cNvPr id="6" name="矩形 5"/>
          <p:cNvSpPr/>
          <p:nvPr>
            <p:custDataLst>
              <p:tags r:id="rId5"/>
            </p:custDataLst>
          </p:nvPr>
        </p:nvSpPr>
        <p:spPr>
          <a:xfrm>
            <a:off x="3556453" y="3554640"/>
            <a:ext cx="2125607" cy="1317171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alpha val="67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zh-CN" altLang="en-US" sz="1050">
              <a:cs typeface="+mn-ea"/>
              <a:sym typeface="+mn-lt"/>
            </a:endParaRPr>
          </a:p>
        </p:txBody>
      </p:sp>
      <p:sp>
        <p:nvSpPr>
          <p:cNvPr id="7" name="矩形 6"/>
          <p:cNvSpPr/>
          <p:nvPr>
            <p:custDataLst>
              <p:tags r:id="rId6"/>
            </p:custDataLst>
          </p:nvPr>
        </p:nvSpPr>
        <p:spPr>
          <a:xfrm>
            <a:off x="6152696" y="3554640"/>
            <a:ext cx="2125607" cy="1317171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4">
                <a:alpha val="67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zh-CN" altLang="en-US" sz="1050">
              <a:cs typeface="+mn-ea"/>
              <a:sym typeface="+mn-lt"/>
            </a:endParaRPr>
          </a:p>
        </p:txBody>
      </p:sp>
      <p:sp>
        <p:nvSpPr>
          <p:cNvPr id="77" name="îsḻïḋè"/>
          <p:cNvSpPr txBox="1"/>
          <p:nvPr>
            <p:custDataLst>
              <p:tags r:id="rId7"/>
            </p:custDataLst>
          </p:nvPr>
        </p:nvSpPr>
        <p:spPr>
          <a:xfrm>
            <a:off x="1299074" y="3620942"/>
            <a:ext cx="1367957" cy="300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85165">
              <a:lnSpc>
                <a:spcPct val="130000"/>
              </a:lnSpc>
              <a:buSzPct val="25000"/>
              <a:defRPr/>
            </a:pPr>
            <a:r>
              <a:rPr lang="zh-CN" alt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后果严重</a:t>
            </a:r>
          </a:p>
        </p:txBody>
      </p:sp>
      <p:sp>
        <p:nvSpPr>
          <p:cNvPr id="78" name="îsḻïḋè"/>
          <p:cNvSpPr txBox="1"/>
          <p:nvPr>
            <p:custDataLst>
              <p:tags r:id="rId8"/>
            </p:custDataLst>
          </p:nvPr>
        </p:nvSpPr>
        <p:spPr>
          <a:xfrm>
            <a:off x="3901050" y="3655867"/>
            <a:ext cx="1367957" cy="300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85165">
              <a:lnSpc>
                <a:spcPct val="130000"/>
              </a:lnSpc>
              <a:buSzPct val="25000"/>
              <a:defRPr/>
            </a:pPr>
            <a:r>
              <a:rPr lang="zh-CN" alt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资源受限</a:t>
            </a:r>
          </a:p>
        </p:txBody>
      </p:sp>
      <p:sp>
        <p:nvSpPr>
          <p:cNvPr id="79" name="îsḻïḋè"/>
          <p:cNvSpPr txBox="1"/>
          <p:nvPr>
            <p:custDataLst>
              <p:tags r:id="rId9"/>
            </p:custDataLst>
          </p:nvPr>
        </p:nvSpPr>
        <p:spPr>
          <a:xfrm>
            <a:off x="6847012" y="3655867"/>
            <a:ext cx="1367957" cy="300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165">
              <a:lnSpc>
                <a:spcPct val="130000"/>
              </a:lnSpc>
              <a:buSzPct val="25000"/>
              <a:defRPr/>
            </a:pPr>
            <a:r>
              <a:rPr lang="zh-CN" alt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实时性要求</a:t>
            </a:r>
          </a:p>
        </p:txBody>
      </p:sp>
      <p:sp>
        <p:nvSpPr>
          <p:cNvPr id="82" name="ïṥ1ïde"/>
          <p:cNvSpPr txBox="1"/>
          <p:nvPr>
            <p:custDataLst>
              <p:tags r:id="rId10"/>
            </p:custDataLst>
          </p:nvPr>
        </p:nvSpPr>
        <p:spPr>
          <a:xfrm>
            <a:off x="1095465" y="3922034"/>
            <a:ext cx="1897373" cy="808990"/>
          </a:xfrm>
          <a:prstGeom prst="rect">
            <a:avLst/>
          </a:prstGeom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ts val="1500"/>
              </a:lnSpc>
              <a:defRPr sz="900"/>
            </a:lvl1pPr>
          </a:lstStyle>
          <a:p>
            <a:pPr>
              <a:lnSpc>
                <a:spcPct val="130000"/>
              </a:lnSpc>
            </a:pP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在工业控制、无人机等场景 ，一次内存错误不再是程序崩溃，而可能直接导致物理设备的失控或关键数据的永久性损坏 。</a:t>
            </a:r>
          </a:p>
        </p:txBody>
      </p:sp>
      <p:sp>
        <p:nvSpPr>
          <p:cNvPr id="83" name="ïṥ1ïde"/>
          <p:cNvSpPr txBox="1"/>
          <p:nvPr>
            <p:custDataLst>
              <p:tags r:id="rId11"/>
            </p:custDataLst>
          </p:nvPr>
        </p:nvSpPr>
        <p:spPr>
          <a:xfrm>
            <a:off x="3688695" y="3956442"/>
            <a:ext cx="1897373" cy="629920"/>
          </a:xfrm>
          <a:prstGeom prst="rect">
            <a:avLst/>
          </a:prstGeom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ts val="1500"/>
              </a:lnSpc>
              <a:defRPr sz="900"/>
            </a:lvl1pPr>
          </a:lstStyle>
          <a:p>
            <a:pPr>
              <a:lnSpc>
                <a:spcPct val="130000"/>
              </a:lnSpc>
            </a:pP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MCU环境的RAM和闪存空间极其宝贵 ，使得内存泄漏的累积效应尤为致命，会迅速耗尽系统生命线 </a:t>
            </a:r>
          </a:p>
        </p:txBody>
      </p:sp>
      <p:sp>
        <p:nvSpPr>
          <p:cNvPr id="84" name="ïṥ1ïde"/>
          <p:cNvSpPr txBox="1"/>
          <p:nvPr>
            <p:custDataLst>
              <p:tags r:id="rId12"/>
            </p:custDataLst>
          </p:nvPr>
        </p:nvSpPr>
        <p:spPr>
          <a:xfrm>
            <a:off x="6317349" y="3972199"/>
            <a:ext cx="1897373" cy="808990"/>
          </a:xfrm>
          <a:prstGeom prst="rect">
            <a:avLst/>
          </a:prstGeom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ts val="1500"/>
              </a:lnSpc>
              <a:defRPr sz="900"/>
            </a:lvl1pPr>
          </a:lstStyle>
          <a:p>
            <a:pPr>
              <a:lnSpc>
                <a:spcPct val="130000"/>
              </a:lnSpc>
            </a:pP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任何检测方案都必须拥有极低且可预测的性能开销 ，否则会干扰关键任务，错过响应时限，这是嵌入式系统最需要避免的 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>
            <p:custDataLst>
              <p:tags r:id="rId1"/>
            </p:custDataLst>
          </p:nvPr>
        </p:nvGrpSpPr>
        <p:grpSpPr>
          <a:xfrm>
            <a:off x="1011663" y="1258497"/>
            <a:ext cx="2957195" cy="353695"/>
            <a:chOff x="3002037" y="3922395"/>
            <a:chExt cx="3625925" cy="374473"/>
          </a:xfrm>
          <a:solidFill>
            <a:schemeClr val="accent2">
              <a:lumMod val="75000"/>
            </a:schemeClr>
          </a:solidFill>
        </p:grpSpPr>
        <p:sp>
          <p:nvSpPr>
            <p:cNvPr id="19" name="矩形 18"/>
            <p:cNvSpPr/>
            <p:nvPr>
              <p:custDataLst>
                <p:tags r:id="rId8"/>
              </p:custDataLst>
            </p:nvPr>
          </p:nvSpPr>
          <p:spPr bwMode="auto">
            <a:xfrm>
              <a:off x="3002037" y="3922395"/>
              <a:ext cx="3526265" cy="369095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600" b="1" dirty="0">
                <a:latin typeface="阿里巴巴普惠体" panose="00020600040101010101" pitchFamily="18" charset="-122"/>
                <a:ea typeface="阿里巴巴普惠体" panose="00020600040101010101" pitchFamily="18" charset="-122"/>
              </a:endParaRPr>
            </a:p>
          </p:txBody>
        </p:sp>
        <p:sp>
          <p:nvSpPr>
            <p:cNvPr id="20" name="TextBox 19"/>
            <p:cNvSpPr txBox="1"/>
            <p:nvPr>
              <p:custDataLst>
                <p:tags r:id="rId9"/>
              </p:custDataLst>
            </p:nvPr>
          </p:nvSpPr>
          <p:spPr>
            <a:xfrm>
              <a:off x="3023838" y="3939875"/>
              <a:ext cx="3604124" cy="3569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sz="1600" b="1" dirty="0">
                  <a:solidFill>
                    <a:srgbClr val="F8F8F8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</a:rPr>
                <a:t>内存安全违例</a:t>
              </a:r>
              <a:r>
                <a:rPr lang="en-US" altLang="zh-CN" sz="1600" b="1" dirty="0">
                  <a:solidFill>
                    <a:srgbClr val="F8F8F8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</a:rPr>
                <a:t>——</a:t>
              </a:r>
              <a:r>
                <a:rPr lang="zh-CN" altLang="en-US" sz="1600" b="1" dirty="0">
                  <a:solidFill>
                    <a:srgbClr val="F8F8F8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</a:rPr>
                <a:t>急性病</a:t>
              </a:r>
            </a:p>
          </p:txBody>
        </p:sp>
      </p:grpSp>
      <p:sp>
        <p:nvSpPr>
          <p:cNvPr id="3" name="矩形 2"/>
          <p:cNvSpPr/>
          <p:nvPr>
            <p:custDataLst>
              <p:tags r:id="rId2"/>
            </p:custDataLst>
          </p:nvPr>
        </p:nvSpPr>
        <p:spPr bwMode="auto">
          <a:xfrm>
            <a:off x="5013960" y="1263650"/>
            <a:ext cx="2913380" cy="348615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600" b="1" dirty="0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  <p:sp>
        <p:nvSpPr>
          <p:cNvPr id="15" name="矩形 46"/>
          <p:cNvSpPr>
            <a:spLocks noChangeArrowheads="1"/>
          </p:cNvSpPr>
          <p:nvPr/>
        </p:nvSpPr>
        <p:spPr bwMode="auto">
          <a:xfrm>
            <a:off x="1198880" y="260985"/>
            <a:ext cx="3306445" cy="57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30000"/>
              </a:lnSpc>
            </a:pP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两类核心内存安全问题</a:t>
            </a:r>
          </a:p>
        </p:txBody>
      </p:sp>
      <p:sp>
        <p:nvSpPr>
          <p:cNvPr id="27" name="矩形: 圆角 26"/>
          <p:cNvSpPr/>
          <p:nvPr/>
        </p:nvSpPr>
        <p:spPr>
          <a:xfrm>
            <a:off x="-209568" y="329156"/>
            <a:ext cx="1260420" cy="431505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阿里巴巴普惠体" panose="00020600040101010101" pitchFamily="18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4339590" y="1275080"/>
            <a:ext cx="435737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sz="1600" b="1" dirty="0">
                <a:solidFill>
                  <a:srgbClr val="F8F8F8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sym typeface="+mn-ea"/>
              </a:rPr>
              <a:t>内存泄漏</a:t>
            </a:r>
            <a:r>
              <a:rPr lang="en-US" altLang="zh-CN" sz="1600" b="1" dirty="0">
                <a:solidFill>
                  <a:srgbClr val="F8F8F8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sym typeface="+mn-ea"/>
              </a:rPr>
              <a:t>——</a:t>
            </a:r>
            <a:r>
              <a:rPr lang="zh-CN" altLang="en-US" sz="1600" b="1" dirty="0">
                <a:solidFill>
                  <a:srgbClr val="F8F8F8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sym typeface="+mn-ea"/>
              </a:rPr>
              <a:t>慢性病</a:t>
            </a:r>
          </a:p>
        </p:txBody>
      </p:sp>
      <p:sp>
        <p:nvSpPr>
          <p:cNvPr id="9" name="矩形 8"/>
          <p:cNvSpPr/>
          <p:nvPr>
            <p:custDataLst>
              <p:tags r:id="rId4"/>
            </p:custDataLst>
          </p:nvPr>
        </p:nvSpPr>
        <p:spPr>
          <a:xfrm>
            <a:off x="1050925" y="1842770"/>
            <a:ext cx="2837180" cy="276098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alpha val="67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zh-CN" altLang="en-US" sz="1050">
              <a:cs typeface="+mn-ea"/>
              <a:sym typeface="+mn-lt"/>
            </a:endParaRPr>
          </a:p>
        </p:txBody>
      </p:sp>
      <p:sp>
        <p:nvSpPr>
          <p:cNvPr id="78" name="îsḻïḋè"/>
          <p:cNvSpPr txBox="1"/>
          <p:nvPr>
            <p:custDataLst>
              <p:tags r:id="rId5"/>
            </p:custDataLst>
          </p:nvPr>
        </p:nvSpPr>
        <p:spPr>
          <a:xfrm>
            <a:off x="1050925" y="1877695"/>
            <a:ext cx="2837180" cy="272605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 defTabSz="685165">
              <a:lnSpc>
                <a:spcPct val="130000"/>
              </a:lnSpc>
              <a:buSzPct val="25000"/>
              <a:defRPr/>
            </a:pPr>
            <a:r>
              <a:rPr lang="zh-CN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描述：</a:t>
            </a:r>
          </a:p>
          <a:p>
            <a:pPr algn="l" defTabSz="685165">
              <a:lnSpc>
                <a:spcPct val="130000"/>
              </a:lnSpc>
              <a:buSzPct val="25000"/>
              <a:defRPr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 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这类错误会立即或在短时间内破坏程序状态，是导致系统崩溃和安全漏洞的直接原因 。</a:t>
            </a:r>
          </a:p>
          <a:p>
            <a:pPr algn="l" defTabSz="685165">
              <a:lnSpc>
                <a:spcPct val="130000"/>
              </a:lnSpc>
              <a:buSzPct val="25000"/>
              <a:defRPr/>
            </a:pP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algn="l" defTabSz="685165">
              <a:lnSpc>
                <a:spcPct val="130000"/>
              </a:lnSpc>
              <a:buSzPct val="25000"/>
              <a:defRPr/>
            </a:pPr>
            <a:r>
              <a:rPr lang="zh-CN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典型代表：</a:t>
            </a:r>
          </a:p>
          <a:p>
            <a:pPr algn="l" defTabSz="685165">
              <a:lnSpc>
                <a:spcPct val="130000"/>
              </a:lnSpc>
              <a:buSzPct val="25000"/>
              <a:defRPr/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·堆缓冲区溢出 (Heap Buffer Overflow) </a:t>
            </a:r>
          </a:p>
          <a:p>
            <a:pPr algn="l" defTabSz="685165">
              <a:lnSpc>
                <a:spcPct val="130000"/>
              </a:lnSpc>
              <a:buSzPct val="25000"/>
              <a:defRPr/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·释放后使用 (Use-After-Free) </a:t>
            </a:r>
          </a:p>
          <a:p>
            <a:pPr algn="l" defTabSz="685165">
              <a:lnSpc>
                <a:spcPct val="130000"/>
              </a:lnSpc>
              <a:buSzPct val="25000"/>
              <a:defRPr/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·重复释放 (Double-Free) </a:t>
            </a:r>
          </a:p>
          <a:p>
            <a:pPr algn="l" defTabSz="685165">
              <a:lnSpc>
                <a:spcPct val="130000"/>
              </a:lnSpc>
              <a:buSzPct val="25000"/>
              <a:defRPr/>
            </a:pP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" name="矩形 9"/>
          <p:cNvSpPr/>
          <p:nvPr>
            <p:custDataLst>
              <p:tags r:id="rId6"/>
            </p:custDataLst>
          </p:nvPr>
        </p:nvSpPr>
        <p:spPr>
          <a:xfrm>
            <a:off x="5051425" y="1842770"/>
            <a:ext cx="2849880" cy="276098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alpha val="67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zh-CN" altLang="en-US" sz="1050">
              <a:cs typeface="+mn-ea"/>
              <a:sym typeface="+mn-lt"/>
            </a:endParaRPr>
          </a:p>
        </p:txBody>
      </p:sp>
      <p:sp>
        <p:nvSpPr>
          <p:cNvPr id="13" name="îsḻïḋè"/>
          <p:cNvSpPr txBox="1"/>
          <p:nvPr>
            <p:custDataLst>
              <p:tags r:id="rId7"/>
            </p:custDataLst>
          </p:nvPr>
        </p:nvSpPr>
        <p:spPr>
          <a:xfrm>
            <a:off x="5090160" y="1877695"/>
            <a:ext cx="2837180" cy="272605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 defTabSz="685165">
              <a:lnSpc>
                <a:spcPct val="130000"/>
              </a:lnSpc>
              <a:buSzPct val="25000"/>
              <a:defRPr/>
            </a:pPr>
            <a:r>
              <a:rPr lang="zh-CN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描述：</a:t>
            </a:r>
          </a:p>
          <a:p>
            <a:pPr algn="l" defTabSz="685165">
              <a:lnSpc>
                <a:spcPct val="130000"/>
              </a:lnSpc>
              <a:buSzPct val="25000"/>
              <a:defRPr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 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程序在动态申请内存后，因逻辑疏忽未能释放 。它像“温水煮青蛙” ，逐渐侵蚀有限的内存资源。</a:t>
            </a:r>
          </a:p>
          <a:p>
            <a:pPr algn="l" defTabSz="685165">
              <a:lnSpc>
                <a:spcPct val="130000"/>
              </a:lnSpc>
              <a:buSzPct val="25000"/>
              <a:defRPr/>
            </a:pP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algn="l" defTabSz="685165">
              <a:lnSpc>
                <a:spcPct val="130000"/>
              </a:lnSpc>
              <a:buSzPct val="25000"/>
              <a:defRPr/>
            </a:pPr>
            <a:r>
              <a:rPr lang="zh-CN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后果：</a:t>
            </a:r>
          </a:p>
          <a:p>
            <a:pPr algn="l" defTabSz="685165">
              <a:lnSpc>
                <a:spcPct val="130000"/>
              </a:lnSpc>
              <a:buSzPct val="25000"/>
              <a:defRPr/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·性能下降、功能异常 </a:t>
            </a:r>
          </a:p>
          <a:p>
            <a:pPr algn="l" defTabSz="685165">
              <a:lnSpc>
                <a:spcPct val="130000"/>
              </a:lnSpc>
              <a:buSzPct val="25000"/>
              <a:defRPr/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·最终导致系统完全崩溃</a:t>
            </a:r>
          </a:p>
          <a:p>
            <a:pPr algn="l" defTabSz="685165">
              <a:lnSpc>
                <a:spcPct val="130000"/>
              </a:lnSpc>
              <a:buSzPct val="25000"/>
              <a:defRPr/>
            </a:pP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320036" y="320040"/>
            <a:ext cx="8503920" cy="45034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阿里巴巴普惠体" panose="00020600040101010101" pitchFamily="18" charset="-122"/>
            </a:endParaRPr>
          </a:p>
        </p:txBody>
      </p:sp>
      <p:sp>
        <p:nvSpPr>
          <p:cNvPr id="3" name="矩形: 圆角 2"/>
          <p:cNvSpPr/>
          <p:nvPr/>
        </p:nvSpPr>
        <p:spPr>
          <a:xfrm>
            <a:off x="-4" y="1277237"/>
            <a:ext cx="9144000" cy="2398828"/>
          </a:xfrm>
          <a:prstGeom prst="roundRect">
            <a:avLst>
              <a:gd name="adj" fmla="val 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1765421" y="2487850"/>
            <a:ext cx="5582162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lvl="0" algn="ctr">
              <a:defRPr sz="10000">
                <a:solidFill>
                  <a:srgbClr val="D3AA8F"/>
                </a:solidFill>
                <a:latin typeface="三极榜书简体" panose="00000500000000000000" pitchFamily="2" charset="-122"/>
                <a:ea typeface="三极榜书简体" panose="00000500000000000000" pitchFamily="2" charset="-122"/>
                <a:cs typeface="+mn-ea"/>
              </a:defRPr>
            </a:lvl1pPr>
          </a:lstStyle>
          <a:p>
            <a:r>
              <a:rPr lang="zh-CN" altLang="en-US" sz="4800" b="1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sym typeface="+mn-lt"/>
              </a:rPr>
              <a:t>总体架构</a:t>
            </a:r>
          </a:p>
        </p:txBody>
      </p:sp>
      <p:sp>
        <p:nvSpPr>
          <p:cNvPr id="18" name="矩形 17"/>
          <p:cNvSpPr/>
          <p:nvPr/>
        </p:nvSpPr>
        <p:spPr>
          <a:xfrm>
            <a:off x="3209369" y="1970603"/>
            <a:ext cx="2725261" cy="461665"/>
          </a:xfrm>
          <a:prstGeom prst="rect">
            <a:avLst/>
          </a:prstGeom>
          <a:noFill/>
          <a:effectLst>
            <a:outerShdw blurRad="190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square" anchor="ctr">
            <a:spAutoFit/>
          </a:bodyPr>
          <a:lstStyle/>
          <a:p>
            <a:pPr lvl="0" algn="ctr">
              <a:defRPr/>
            </a:pPr>
            <a:r>
              <a:rPr lang="zh-CN" altLang="en-US" sz="2400" noProof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+mn-ea"/>
                <a:sym typeface="+mn-lt"/>
              </a:rPr>
              <a:t>第</a:t>
            </a:r>
            <a:r>
              <a:rPr lang="zh-CN" altLang="en-US" sz="240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+mn-ea"/>
                <a:sym typeface="+mn-lt"/>
              </a:rPr>
              <a:t>二</a:t>
            </a:r>
            <a:r>
              <a:rPr lang="zh-CN" altLang="en-US" sz="2400" noProof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+mn-ea"/>
                <a:sym typeface="+mn-lt"/>
              </a:rPr>
              <a:t>部分</a:t>
            </a:r>
            <a:endParaRPr kumimoji="0" lang="zh-CN" altLang="en-US" sz="24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+mn-ea"/>
              <a:sym typeface="+mn-lt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099913" y="806156"/>
            <a:ext cx="944174" cy="944174"/>
            <a:chOff x="622557" y="767301"/>
            <a:chExt cx="944174" cy="944174"/>
          </a:xfrm>
        </p:grpSpPr>
        <p:sp>
          <p:nvSpPr>
            <p:cNvPr id="20" name="椭圆 19"/>
            <p:cNvSpPr/>
            <p:nvPr/>
          </p:nvSpPr>
          <p:spPr>
            <a:xfrm>
              <a:off x="622557" y="767301"/>
              <a:ext cx="944174" cy="944174"/>
            </a:xfrm>
            <a:prstGeom prst="ellipse">
              <a:avLst/>
            </a:prstGeom>
            <a:solidFill>
              <a:schemeClr val="bg1"/>
            </a:solidFill>
            <a:ln w="508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</a:endParaRPr>
            </a:p>
          </p:txBody>
        </p:sp>
        <p:pic>
          <p:nvPicPr>
            <p:cNvPr id="21" name="图片 2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48526" y="899155"/>
              <a:ext cx="697268" cy="697268"/>
            </a:xfrm>
            <a:prstGeom prst="rect">
              <a:avLst/>
            </a:prstGeom>
            <a:ln>
              <a:noFill/>
            </a:ln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矩形 46"/>
          <p:cNvSpPr>
            <a:spLocks noChangeArrowheads="1"/>
          </p:cNvSpPr>
          <p:nvPr/>
        </p:nvSpPr>
        <p:spPr bwMode="auto">
          <a:xfrm>
            <a:off x="889635" y="176530"/>
            <a:ext cx="4518025" cy="57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30000"/>
              </a:lnSpc>
            </a:pP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一套协同工作的内存“防火墙”</a:t>
            </a:r>
          </a:p>
        </p:txBody>
      </p:sp>
      <p:sp>
        <p:nvSpPr>
          <p:cNvPr id="49" name="矩形: 圆角 48"/>
          <p:cNvSpPr/>
          <p:nvPr/>
        </p:nvSpPr>
        <p:spPr>
          <a:xfrm>
            <a:off x="-370858" y="245971"/>
            <a:ext cx="1260420" cy="431505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阿里巴巴普惠体" panose="00020600040101010101" pitchFamily="18" charset="-122"/>
            </a:endParaRPr>
          </a:p>
        </p:txBody>
      </p:sp>
      <p:pic>
        <p:nvPicPr>
          <p:cNvPr id="6" name="图片 6" descr="系统架构图.drawio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55565" y="677545"/>
            <a:ext cx="3430905" cy="4154805"/>
          </a:xfrm>
          <a:prstGeom prst="rect">
            <a:avLst/>
          </a:prstGeom>
        </p:spPr>
      </p:pic>
      <p:grpSp>
        <p:nvGrpSpPr>
          <p:cNvPr id="4" name="组合 3"/>
          <p:cNvGrpSpPr/>
          <p:nvPr>
            <p:custDataLst>
              <p:tags r:id="rId1"/>
            </p:custDataLst>
          </p:nvPr>
        </p:nvGrpSpPr>
        <p:grpSpPr>
          <a:xfrm>
            <a:off x="430530" y="3067685"/>
            <a:ext cx="1069975" cy="348615"/>
            <a:chOff x="3002037" y="1465798"/>
            <a:chExt cx="4241451" cy="369332"/>
          </a:xfrm>
          <a:solidFill>
            <a:schemeClr val="accent2">
              <a:lumMod val="75000"/>
            </a:schemeClr>
          </a:solidFill>
        </p:grpSpPr>
        <p:sp>
          <p:nvSpPr>
            <p:cNvPr id="5" name="矩形 4"/>
            <p:cNvSpPr/>
            <p:nvPr>
              <p:custDataLst>
                <p:tags r:id="rId7"/>
              </p:custDataLst>
            </p:nvPr>
          </p:nvSpPr>
          <p:spPr bwMode="auto">
            <a:xfrm>
              <a:off x="3002037" y="1465798"/>
              <a:ext cx="3978685" cy="369332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600" b="1" dirty="0">
                <a:latin typeface="阿里巴巴普惠体" panose="00020600040101010101" pitchFamily="18" charset="-122"/>
                <a:ea typeface="阿里巴巴普惠体" panose="00020600040101010101" pitchFamily="18" charset="-122"/>
              </a:endParaRPr>
            </a:p>
          </p:txBody>
        </p:sp>
        <p:sp>
          <p:nvSpPr>
            <p:cNvPr id="21" name="TextBox 16"/>
            <p:cNvSpPr txBox="1"/>
            <p:nvPr>
              <p:custDataLst>
                <p:tags r:id="rId8"/>
              </p:custDataLst>
            </p:nvPr>
          </p:nvSpPr>
          <p:spPr>
            <a:xfrm>
              <a:off x="3034263" y="1473871"/>
              <a:ext cx="4209225" cy="3572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b="1" dirty="0">
                  <a:solidFill>
                    <a:srgbClr val="F8F8F8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</a:rPr>
                <a:t>KFENCE</a:t>
              </a:r>
            </a:p>
          </p:txBody>
        </p:sp>
      </p:grpSp>
      <p:grpSp>
        <p:nvGrpSpPr>
          <p:cNvPr id="23" name="组合 22"/>
          <p:cNvGrpSpPr/>
          <p:nvPr>
            <p:custDataLst>
              <p:tags r:id="rId2"/>
            </p:custDataLst>
          </p:nvPr>
        </p:nvGrpSpPr>
        <p:grpSpPr>
          <a:xfrm>
            <a:off x="427990" y="3894455"/>
            <a:ext cx="1069975" cy="348615"/>
            <a:chOff x="3002037" y="1465798"/>
            <a:chExt cx="4241451" cy="369332"/>
          </a:xfrm>
          <a:solidFill>
            <a:schemeClr val="accent2">
              <a:lumMod val="75000"/>
            </a:schemeClr>
          </a:solidFill>
        </p:grpSpPr>
        <p:sp>
          <p:nvSpPr>
            <p:cNvPr id="24" name="矩形 23"/>
            <p:cNvSpPr/>
            <p:nvPr>
              <p:custDataLst>
                <p:tags r:id="rId5"/>
              </p:custDataLst>
            </p:nvPr>
          </p:nvSpPr>
          <p:spPr bwMode="auto">
            <a:xfrm>
              <a:off x="3002037" y="1465798"/>
              <a:ext cx="3978685" cy="369332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600" b="1" dirty="0">
                <a:latin typeface="阿里巴巴普惠体" panose="00020600040101010101" pitchFamily="18" charset="-122"/>
                <a:ea typeface="阿里巴巴普惠体" panose="00020600040101010101" pitchFamily="18" charset="-122"/>
              </a:endParaRPr>
            </a:p>
          </p:txBody>
        </p:sp>
        <p:sp>
          <p:nvSpPr>
            <p:cNvPr id="46" name="TextBox 16"/>
            <p:cNvSpPr txBox="1"/>
            <p:nvPr>
              <p:custDataLst>
                <p:tags r:id="rId6"/>
              </p:custDataLst>
            </p:nvPr>
          </p:nvSpPr>
          <p:spPr>
            <a:xfrm>
              <a:off x="3034263" y="1473871"/>
              <a:ext cx="4209225" cy="3572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b="1" dirty="0">
                  <a:solidFill>
                    <a:srgbClr val="F8F8F8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</a:rPr>
                <a:t>HMMLEAK</a:t>
              </a:r>
            </a:p>
          </p:txBody>
        </p:sp>
      </p:grpSp>
      <p:sp>
        <p:nvSpPr>
          <p:cNvPr id="47" name="文本框 46"/>
          <p:cNvSpPr txBox="1"/>
          <p:nvPr/>
        </p:nvSpPr>
        <p:spPr>
          <a:xfrm>
            <a:off x="407670" y="1001395"/>
            <a:ext cx="4473575" cy="83058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zh-CN" altLang="en-US" sz="1600" b="1"/>
              <a:t>无缝集成</a:t>
            </a:r>
            <a:r>
              <a:rPr lang="en-US" altLang="zh-CN" sz="1600"/>
              <a:t> </a:t>
            </a:r>
          </a:p>
          <a:p>
            <a:endParaRPr lang="en-US" altLang="zh-CN" sz="1600"/>
          </a:p>
          <a:p>
            <a:r>
              <a:rPr lang="en-US" altLang="zh-CN"/>
              <a:t>      </a:t>
            </a:r>
            <a:r>
              <a:rPr lang="en-US" altLang="zh-CN" b="1"/>
              <a:t> Aegis-NX</a:t>
            </a:r>
            <a:r>
              <a:rPr lang="zh-CN" altLang="en-US"/>
              <a:t>作为</a:t>
            </a:r>
            <a:r>
              <a:rPr lang="en-US" altLang="zh-CN"/>
              <a:t>NuttX</a:t>
            </a:r>
            <a:r>
              <a:rPr lang="zh-CN" altLang="en-US"/>
              <a:t>内核的增强模块，通过</a:t>
            </a:r>
            <a:r>
              <a:rPr lang="en-US" altLang="zh-CN"/>
              <a:t>Hook</a:t>
            </a:r>
            <a:r>
              <a:rPr lang="zh-CN" altLang="en-US"/>
              <a:t>机制与核心内存管理器</a:t>
            </a:r>
            <a:r>
              <a:rPr lang="en-US" altLang="zh-CN"/>
              <a:t>mm_heap</a:t>
            </a:r>
            <a:r>
              <a:rPr lang="zh-CN" altLang="en-US"/>
              <a:t>紧密协作，对上层应用透明 。</a:t>
            </a:r>
          </a:p>
        </p:txBody>
      </p:sp>
      <p:sp>
        <p:nvSpPr>
          <p:cNvPr id="51" name="文本框 50"/>
          <p:cNvSpPr txBox="1"/>
          <p:nvPr/>
        </p:nvSpPr>
        <p:spPr>
          <a:xfrm>
            <a:off x="2777490" y="2572385"/>
            <a:ext cx="4334510" cy="29083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zh-CN" altLang="en-US"/>
          </a:p>
        </p:txBody>
      </p:sp>
      <p:sp>
        <p:nvSpPr>
          <p:cNvPr id="52" name="文本框 51"/>
          <p:cNvSpPr txBox="1"/>
          <p:nvPr>
            <p:custDataLst>
              <p:tags r:id="rId3"/>
            </p:custDataLst>
          </p:nvPr>
        </p:nvSpPr>
        <p:spPr>
          <a:xfrm>
            <a:off x="1497965" y="3003550"/>
            <a:ext cx="3369310" cy="6851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200">
                <a:sym typeface="+mn-ea"/>
              </a:rPr>
              <a:t>专注于</a:t>
            </a:r>
            <a:r>
              <a:rPr lang="zh-CN" altLang="en-US" sz="1200" b="1">
                <a:sym typeface="+mn-ea"/>
              </a:rPr>
              <a:t>即时性错误</a:t>
            </a:r>
            <a:r>
              <a:rPr lang="zh-CN" altLang="en-US" sz="1200">
                <a:sym typeface="+mn-ea"/>
              </a:rPr>
              <a:t>，如溢出、</a:t>
            </a:r>
            <a:r>
              <a:rPr lang="en-US" altLang="zh-CN" sz="1200">
                <a:sym typeface="+mn-ea"/>
              </a:rPr>
              <a:t>UAF</a:t>
            </a:r>
            <a:r>
              <a:rPr lang="zh-CN" altLang="en-US" sz="1200">
                <a:sym typeface="+mn-ea"/>
              </a:rPr>
              <a:t>等，通过采样机制实现极低开销的实时捕获 。</a:t>
            </a:r>
          </a:p>
        </p:txBody>
      </p:sp>
      <p:sp>
        <p:nvSpPr>
          <p:cNvPr id="53" name="文本框 52"/>
          <p:cNvSpPr txBox="1"/>
          <p:nvPr/>
        </p:nvSpPr>
        <p:spPr>
          <a:xfrm>
            <a:off x="358140" y="2463800"/>
            <a:ext cx="4572000" cy="4108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600" b="1" dirty="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两大子系统</a:t>
            </a:r>
          </a:p>
        </p:txBody>
      </p:sp>
      <p:sp>
        <p:nvSpPr>
          <p:cNvPr id="54" name="文本框 53"/>
          <p:cNvSpPr txBox="1"/>
          <p:nvPr>
            <p:custDataLst>
              <p:tags r:id="rId4"/>
            </p:custDataLst>
          </p:nvPr>
        </p:nvSpPr>
        <p:spPr>
          <a:xfrm>
            <a:off x="1500505" y="3817620"/>
            <a:ext cx="338074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/>
              <a:t>专注于</a:t>
            </a:r>
            <a:r>
              <a:rPr lang="zh-CN" altLang="en-US" sz="1200" b="1"/>
              <a:t>累积性问题</a:t>
            </a:r>
            <a:r>
              <a:rPr lang="zh-CN" altLang="en-US" sz="1200"/>
              <a:t>，即内存泄漏。它记录所有内存事件，通过后台分析引擎进行风险评估 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320036" y="320040"/>
            <a:ext cx="8503920" cy="45034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阿里巴巴普惠体" panose="00020600040101010101" pitchFamily="18" charset="-122"/>
            </a:endParaRPr>
          </a:p>
        </p:txBody>
      </p:sp>
      <p:sp>
        <p:nvSpPr>
          <p:cNvPr id="3" name="矩形: 圆角 2"/>
          <p:cNvSpPr/>
          <p:nvPr/>
        </p:nvSpPr>
        <p:spPr>
          <a:xfrm>
            <a:off x="-4" y="1277237"/>
            <a:ext cx="9144000" cy="2398828"/>
          </a:xfrm>
          <a:prstGeom prst="roundRect">
            <a:avLst>
              <a:gd name="adj" fmla="val 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1520866" y="2487850"/>
            <a:ext cx="6113305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lvl="0" algn="ctr">
              <a:defRPr sz="10000">
                <a:solidFill>
                  <a:srgbClr val="D3AA8F"/>
                </a:solidFill>
                <a:latin typeface="三极榜书简体" panose="00000500000000000000" pitchFamily="2" charset="-122"/>
                <a:ea typeface="三极榜书简体" panose="00000500000000000000" pitchFamily="2" charset="-122"/>
                <a:cs typeface="+mn-ea"/>
              </a:defRPr>
            </a:lvl1pPr>
          </a:lstStyle>
          <a:p>
            <a:r>
              <a:rPr lang="zh-CN" sz="4800" b="1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sym typeface="+mn-lt"/>
              </a:rPr>
              <a:t>核心技术</a:t>
            </a:r>
          </a:p>
        </p:txBody>
      </p:sp>
      <p:sp>
        <p:nvSpPr>
          <p:cNvPr id="17" name="Rectangle 45"/>
          <p:cNvSpPr/>
          <p:nvPr/>
        </p:nvSpPr>
        <p:spPr>
          <a:xfrm>
            <a:off x="2448728" y="3809137"/>
            <a:ext cx="4275149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lt"/>
              </a:rPr>
              <a:t>.</a:t>
            </a:r>
          </a:p>
        </p:txBody>
      </p:sp>
      <p:sp>
        <p:nvSpPr>
          <p:cNvPr id="18" name="矩形 17"/>
          <p:cNvSpPr/>
          <p:nvPr/>
        </p:nvSpPr>
        <p:spPr>
          <a:xfrm>
            <a:off x="3209369" y="1970603"/>
            <a:ext cx="2725261" cy="461665"/>
          </a:xfrm>
          <a:prstGeom prst="rect">
            <a:avLst/>
          </a:prstGeom>
          <a:noFill/>
          <a:effectLst>
            <a:outerShdw blurRad="190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square" anchor="ctr">
            <a:spAutoFit/>
          </a:bodyPr>
          <a:lstStyle/>
          <a:p>
            <a:pPr lvl="0" algn="ctr">
              <a:defRPr/>
            </a:pPr>
            <a:r>
              <a:rPr lang="zh-CN" altLang="en-US" sz="2400" noProof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+mn-ea"/>
                <a:sym typeface="+mn-lt"/>
              </a:rPr>
              <a:t>第三部分</a:t>
            </a:r>
            <a:endParaRPr kumimoji="0" lang="zh-CN" altLang="en-US" sz="24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+mn-ea"/>
              <a:sym typeface="+mn-lt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099913" y="806156"/>
            <a:ext cx="944174" cy="944174"/>
            <a:chOff x="622557" y="767301"/>
            <a:chExt cx="944174" cy="944174"/>
          </a:xfrm>
        </p:grpSpPr>
        <p:sp>
          <p:nvSpPr>
            <p:cNvPr id="20" name="椭圆 19"/>
            <p:cNvSpPr/>
            <p:nvPr/>
          </p:nvSpPr>
          <p:spPr>
            <a:xfrm>
              <a:off x="622557" y="767301"/>
              <a:ext cx="944174" cy="944174"/>
            </a:xfrm>
            <a:prstGeom prst="ellipse">
              <a:avLst/>
            </a:prstGeom>
            <a:solidFill>
              <a:schemeClr val="bg1"/>
            </a:solidFill>
            <a:ln w="508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</a:endParaRPr>
            </a:p>
          </p:txBody>
        </p:sp>
        <p:pic>
          <p:nvPicPr>
            <p:cNvPr id="21" name="图片 2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48526" y="899155"/>
              <a:ext cx="697268" cy="697268"/>
            </a:xfrm>
            <a:prstGeom prst="rect">
              <a:avLst/>
            </a:prstGeom>
            <a:ln>
              <a:noFill/>
            </a:ln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46"/>
          <p:cNvSpPr>
            <a:spLocks noChangeArrowheads="1"/>
          </p:cNvSpPr>
          <p:nvPr/>
        </p:nvSpPr>
        <p:spPr bwMode="auto">
          <a:xfrm>
            <a:off x="889635" y="542925"/>
            <a:ext cx="4065270" cy="57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30000"/>
              </a:lnSpc>
            </a:pP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KFENCE</a:t>
            </a: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设计理念与核心机制</a:t>
            </a:r>
            <a:endParaRPr lang="en-US" altLang="zh-CN" sz="2400" b="1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矩形: 圆角 18"/>
          <p:cNvSpPr/>
          <p:nvPr/>
        </p:nvSpPr>
        <p:spPr>
          <a:xfrm>
            <a:off x="-408958" y="613001"/>
            <a:ext cx="1260420" cy="431505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阿里巴巴普惠体" panose="00020600040101010101" pitchFamily="18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807845" y="1191895"/>
            <a:ext cx="2279015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/>
              <a:t> </a:t>
            </a:r>
            <a:endParaRPr lang="zh-CN" altLang="en-US" sz="1600"/>
          </a:p>
        </p:txBody>
      </p:sp>
      <p:sp>
        <p:nvSpPr>
          <p:cNvPr id="3" name="文本框 2"/>
          <p:cNvSpPr txBox="1"/>
          <p:nvPr/>
        </p:nvSpPr>
        <p:spPr>
          <a:xfrm>
            <a:off x="2588260" y="1156970"/>
            <a:ext cx="4944745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/>
              <a:t>低开销，通过抽样和警戒区保护实现对内存错误的实时捕捉</a:t>
            </a:r>
            <a:r>
              <a:rPr lang="zh-CN" altLang="en-US" sz="1600"/>
              <a:t>。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630680" y="1123315"/>
            <a:ext cx="916940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b="1" dirty="0">
                <a:latin typeface="Arial" panose="020B0604020202020204" pitchFamily="34" charset="0"/>
                <a:ea typeface="微软雅黑" panose="020B0503020204020204" pitchFamily="34" charset="-122"/>
              </a:rPr>
              <a:t>设计理念：</a:t>
            </a:r>
          </a:p>
        </p:txBody>
      </p:sp>
      <p:cxnSp>
        <p:nvCxnSpPr>
          <p:cNvPr id="24" name="直接连接符 23"/>
          <p:cNvCxnSpPr/>
          <p:nvPr/>
        </p:nvCxnSpPr>
        <p:spPr>
          <a:xfrm flipH="1">
            <a:off x="1075093" y="1564239"/>
            <a:ext cx="67386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408940" y="1920240"/>
            <a:ext cx="984885" cy="3708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b="1" dirty="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采样机制</a:t>
            </a:r>
            <a:endParaRPr lang="zh-CN" altLang="en-US" sz="1400" b="1" dirty="0"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0" name="Up Arrow 61"/>
          <p:cNvSpPr/>
          <p:nvPr>
            <p:custDataLst>
              <p:tags r:id="rId1"/>
            </p:custDataLst>
          </p:nvPr>
        </p:nvSpPr>
        <p:spPr>
          <a:xfrm>
            <a:off x="4276725" y="1670685"/>
            <a:ext cx="76200" cy="3226435"/>
          </a:xfrm>
          <a:prstGeom prst="upArrow">
            <a:avLst>
              <a:gd name="adj1" fmla="val 50000"/>
              <a:gd name="adj2" fmla="val 6714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31875"/>
            <a:endParaRPr lang="en-US" sz="2000" dirty="0">
              <a:solidFill>
                <a:srgbClr val="FFFFFF"/>
              </a:solidFill>
              <a:latin typeface="Arial" panose="020B0604020202020204"/>
              <a:ea typeface="阿里巴巴普惠体" panose="00020600040101010101" pitchFamily="18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729480" y="1884045"/>
            <a:ext cx="1322070" cy="3708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b="1" dirty="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警戒区防护</a:t>
            </a:r>
            <a:endParaRPr lang="zh-CN" altLang="en-US" sz="1400" b="1" dirty="0"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600575" y="2377123"/>
            <a:ext cx="5080000" cy="30670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/>
              <a:t>埋设高精度‘地雷’，捕获单字节溢出”。</a:t>
            </a:r>
          </a:p>
        </p:txBody>
      </p:sp>
      <p:pic>
        <p:nvPicPr>
          <p:cNvPr id="17" name="图片 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8040" y="3082925"/>
            <a:ext cx="4195445" cy="1007110"/>
          </a:xfrm>
          <a:prstGeom prst="rect">
            <a:avLst/>
          </a:prstGeom>
        </p:spPr>
      </p:pic>
      <p:pic>
        <p:nvPicPr>
          <p:cNvPr id="20" name="图片 7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545" y="3002280"/>
            <a:ext cx="3695065" cy="1169035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354965" y="2291080"/>
            <a:ext cx="346773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/>
              <a:t>令牌桶</a:t>
            </a:r>
            <a:r>
              <a:rPr lang="en-US" altLang="zh-CN"/>
              <a:t>+</a:t>
            </a:r>
            <a:r>
              <a:rPr lang="zh-CN" altLang="en-US"/>
              <a:t>布隆过滤器”的复合型采样机制，确保采样的高效性和全面性。</a:t>
            </a:r>
          </a:p>
        </p:txBody>
      </p:sp>
      <p:sp>
        <p:nvSpPr>
          <p:cNvPr id="44" name="矩形 43"/>
          <p:cNvSpPr/>
          <p:nvPr>
            <p:custDataLst>
              <p:tags r:id="rId2"/>
            </p:custDataLst>
          </p:nvPr>
        </p:nvSpPr>
        <p:spPr bwMode="auto">
          <a:xfrm>
            <a:off x="635" y="0"/>
            <a:ext cx="1754505" cy="47561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600" b="1" dirty="0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  <p:sp>
        <p:nvSpPr>
          <p:cNvPr id="25" name="矩形 24"/>
          <p:cNvSpPr/>
          <p:nvPr>
            <p:custDataLst>
              <p:tags r:id="rId3"/>
            </p:custDataLst>
          </p:nvPr>
        </p:nvSpPr>
        <p:spPr bwMode="auto">
          <a:xfrm>
            <a:off x="1773555" y="0"/>
            <a:ext cx="2404745" cy="475615"/>
          </a:xfrm>
          <a:prstGeom prst="rect">
            <a:avLst/>
          </a:prstGeom>
          <a:gradFill>
            <a:gsLst>
              <a:gs pos="50000">
                <a:schemeClr val="accent1"/>
              </a:gs>
              <a:gs pos="0">
                <a:schemeClr val="accent1">
                  <a:lumMod val="25000"/>
                  <a:lumOff val="75000"/>
                </a:schemeClr>
              </a:gs>
              <a:gs pos="100000">
                <a:schemeClr val="accent1">
                  <a:lumMod val="8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600" b="1" dirty="0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  <p:sp>
        <p:nvSpPr>
          <p:cNvPr id="32" name="矩形 31"/>
          <p:cNvSpPr/>
          <p:nvPr>
            <p:custDataLst>
              <p:tags r:id="rId4"/>
            </p:custDataLst>
          </p:nvPr>
        </p:nvSpPr>
        <p:spPr bwMode="auto">
          <a:xfrm>
            <a:off x="4238625" y="0"/>
            <a:ext cx="2366010" cy="475615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600" b="1" dirty="0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  <p:sp>
        <p:nvSpPr>
          <p:cNvPr id="37" name="矩形 36"/>
          <p:cNvSpPr/>
          <p:nvPr>
            <p:custDataLst>
              <p:tags r:id="rId5"/>
            </p:custDataLst>
          </p:nvPr>
        </p:nvSpPr>
        <p:spPr bwMode="auto">
          <a:xfrm>
            <a:off x="6659245" y="0"/>
            <a:ext cx="2484120" cy="475615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600" dirty="0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  <p:sp>
        <p:nvSpPr>
          <p:cNvPr id="46" name="文本框 20"/>
          <p:cNvSpPr txBox="1"/>
          <p:nvPr/>
        </p:nvSpPr>
        <p:spPr>
          <a:xfrm>
            <a:off x="2447606" y="69138"/>
            <a:ext cx="1135688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KFENCE</a:t>
            </a:r>
          </a:p>
        </p:txBody>
      </p:sp>
      <p:sp>
        <p:nvSpPr>
          <p:cNvPr id="51" name="文本框 20"/>
          <p:cNvSpPr txBox="1"/>
          <p:nvPr/>
        </p:nvSpPr>
        <p:spPr>
          <a:xfrm>
            <a:off x="4936171" y="69138"/>
            <a:ext cx="1135688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HMMLEAK</a:t>
            </a:r>
          </a:p>
        </p:txBody>
      </p:sp>
      <p:sp>
        <p:nvSpPr>
          <p:cNvPr id="53" name="文本框 20"/>
          <p:cNvSpPr txBox="1"/>
          <p:nvPr/>
        </p:nvSpPr>
        <p:spPr>
          <a:xfrm>
            <a:off x="7259955" y="69215"/>
            <a:ext cx="128714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sz="160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工业级验证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-24765" y="35560"/>
            <a:ext cx="1746250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400" b="1" dirty="0">
                <a:latin typeface="Arial" panose="020B0604020202020204" pitchFamily="34" charset="0"/>
                <a:ea typeface="微软雅黑" panose="020B0503020204020204" pitchFamily="34" charset="-122"/>
              </a:rPr>
              <a:t>核心技术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46"/>
          <p:cNvSpPr>
            <a:spLocks noChangeArrowheads="1"/>
          </p:cNvSpPr>
          <p:nvPr/>
        </p:nvSpPr>
        <p:spPr bwMode="auto">
          <a:xfrm>
            <a:off x="889635" y="548640"/>
            <a:ext cx="2247900" cy="57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30000"/>
              </a:lnSpc>
            </a:pPr>
            <a:r>
              <a:rPr 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高平台适应性</a:t>
            </a:r>
          </a:p>
        </p:txBody>
      </p:sp>
      <p:sp>
        <p:nvSpPr>
          <p:cNvPr id="19" name="矩形: 圆角 18"/>
          <p:cNvSpPr/>
          <p:nvPr/>
        </p:nvSpPr>
        <p:spPr>
          <a:xfrm>
            <a:off x="-370858" y="618081"/>
            <a:ext cx="1260420" cy="431505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阿里巴巴普惠体" panose="00020600040101010101" pitchFamily="18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17930" y="1151255"/>
            <a:ext cx="1417320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/>
              <a:t>硬件双模支持</a:t>
            </a:r>
            <a:r>
              <a:rPr lang="en-US" altLang="zh-CN" sz="1600" b="1"/>
              <a:t> 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651510" y="1862455"/>
            <a:ext cx="1917700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/>
              <a:t>有</a:t>
            </a:r>
            <a:r>
              <a:rPr lang="en-US" altLang="zh-CN" b="1"/>
              <a:t>MMU</a:t>
            </a:r>
            <a:r>
              <a:rPr lang="zh-CN" altLang="en-US" b="1"/>
              <a:t>的高性能平台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662805" y="1862455"/>
            <a:ext cx="2266950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/>
              <a:t>无</a:t>
            </a:r>
            <a:r>
              <a:rPr lang="en-US" altLang="zh-CN" b="1"/>
              <a:t>MMU</a:t>
            </a:r>
            <a:r>
              <a:rPr lang="zh-CN" altLang="en-US" b="1"/>
              <a:t>的资源受限平台</a:t>
            </a:r>
          </a:p>
        </p:txBody>
      </p:sp>
      <p:sp>
        <p:nvSpPr>
          <p:cNvPr id="10" name="Up Arrow 61"/>
          <p:cNvSpPr/>
          <p:nvPr>
            <p:custDataLst>
              <p:tags r:id="rId1"/>
            </p:custDataLst>
          </p:nvPr>
        </p:nvSpPr>
        <p:spPr>
          <a:xfrm>
            <a:off x="4439920" y="1729105"/>
            <a:ext cx="76200" cy="3226435"/>
          </a:xfrm>
          <a:prstGeom prst="upArrow">
            <a:avLst>
              <a:gd name="adj1" fmla="val 50000"/>
              <a:gd name="adj2" fmla="val 6714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31875"/>
            <a:endParaRPr lang="en-US" sz="2000" dirty="0">
              <a:solidFill>
                <a:srgbClr val="FFFFFF"/>
              </a:solidFill>
              <a:latin typeface="Arial" panose="020B0604020202020204"/>
              <a:ea typeface="阿里巴巴普惠体" panose="00020600040101010101" pitchFamily="18" charset="-122"/>
            </a:endParaRPr>
          </a:p>
        </p:txBody>
      </p:sp>
      <p:pic>
        <p:nvPicPr>
          <p:cNvPr id="6" name="图片 4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410" y="3536950"/>
            <a:ext cx="4083685" cy="975995"/>
          </a:xfrm>
          <a:prstGeom prst="rect">
            <a:avLst/>
          </a:prstGeom>
        </p:spPr>
      </p:pic>
      <p:pic>
        <p:nvPicPr>
          <p:cNvPr id="7" name="图片 3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0115" y="3556000"/>
            <a:ext cx="3876675" cy="93091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651510" y="2397760"/>
            <a:ext cx="3190240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/>
              <a:t>利用</a:t>
            </a:r>
            <a:r>
              <a:rPr lang="en-US" altLang="zh-CN" sz="1200"/>
              <a:t>MMU</a:t>
            </a:r>
            <a:r>
              <a:rPr lang="zh-CN" altLang="en-US" sz="1200"/>
              <a:t>硬件能力，将对象两侧的内存页设置为“禁止访问”。</a:t>
            </a:r>
          </a:p>
          <a:p>
            <a:r>
              <a:rPr lang="zh-CN" altLang="en-US" sz="1200"/>
              <a:t>任何越界都会立即触发硬件异常 </a:t>
            </a:r>
            <a:r>
              <a:rPr lang="en-US" altLang="zh-CN" sz="1200"/>
              <a:t>(Page Fault)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4697730" y="2402840"/>
            <a:ext cx="431165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/>
              <a:t>在对象两侧填充特殊的“哨兵”数据 </a:t>
            </a:r>
            <a:r>
              <a:rPr lang="en-US" altLang="zh-CN" sz="1200"/>
              <a:t>(Canary)</a:t>
            </a:r>
            <a:r>
              <a:rPr lang="zh-CN" altLang="en-US" sz="1200"/>
              <a:t>。</a:t>
            </a:r>
          </a:p>
          <a:p>
            <a:r>
              <a:rPr lang="zh-CN" altLang="en-US" sz="1200"/>
              <a:t>在内存释放时，通过软件校验</a:t>
            </a:r>
            <a:r>
              <a:rPr lang="en-US" altLang="zh-CN" sz="1200"/>
              <a:t>Canary</a:t>
            </a:r>
            <a:r>
              <a:rPr lang="zh-CN" altLang="en-US" sz="1200"/>
              <a:t>是否被篡改来发现越界。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2635250" y="1035050"/>
            <a:ext cx="5311140" cy="6502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>
                <a:sym typeface="+mn-ea"/>
              </a:rPr>
              <a:t>原创性的双模设计，首次为</a:t>
            </a:r>
            <a:r>
              <a:rPr lang="en-US" altLang="zh-CN">
                <a:sym typeface="+mn-ea"/>
              </a:rPr>
              <a:t>NuttX</a:t>
            </a:r>
            <a:r>
              <a:rPr lang="zh-CN" altLang="en-US">
                <a:sym typeface="+mn-ea"/>
              </a:rPr>
              <a:t>生态提供了覆盖所有主流硬件的统一内存安全方案。</a:t>
            </a:r>
            <a:endParaRPr lang="zh-CN" altLang="en-US" sz="1400" dirty="0"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" name="矩形 1"/>
          <p:cNvSpPr/>
          <p:nvPr>
            <p:custDataLst>
              <p:tags r:id="rId2"/>
            </p:custDataLst>
          </p:nvPr>
        </p:nvSpPr>
        <p:spPr bwMode="auto">
          <a:xfrm>
            <a:off x="635" y="0"/>
            <a:ext cx="1754505" cy="47561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600" b="1" dirty="0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>
            <p:custDataLst>
              <p:tags r:id="rId3"/>
            </p:custDataLst>
          </p:nvPr>
        </p:nvSpPr>
        <p:spPr bwMode="auto">
          <a:xfrm>
            <a:off x="1773555" y="0"/>
            <a:ext cx="2404745" cy="475615"/>
          </a:xfrm>
          <a:prstGeom prst="rect">
            <a:avLst/>
          </a:prstGeom>
          <a:gradFill>
            <a:gsLst>
              <a:gs pos="50000">
                <a:schemeClr val="accent1"/>
              </a:gs>
              <a:gs pos="0">
                <a:schemeClr val="accent1">
                  <a:lumMod val="25000"/>
                  <a:lumOff val="75000"/>
                </a:schemeClr>
              </a:gs>
              <a:gs pos="100000">
                <a:schemeClr val="accent1">
                  <a:lumMod val="8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600" b="1" dirty="0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  <p:sp>
        <p:nvSpPr>
          <p:cNvPr id="14" name="矩形 13"/>
          <p:cNvSpPr/>
          <p:nvPr>
            <p:custDataLst>
              <p:tags r:id="rId4"/>
            </p:custDataLst>
          </p:nvPr>
        </p:nvSpPr>
        <p:spPr bwMode="auto">
          <a:xfrm>
            <a:off x="4238625" y="0"/>
            <a:ext cx="2366010" cy="475615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600" b="1" dirty="0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  <p:sp>
        <p:nvSpPr>
          <p:cNvPr id="15" name="矩形 14"/>
          <p:cNvSpPr/>
          <p:nvPr>
            <p:custDataLst>
              <p:tags r:id="rId5"/>
            </p:custDataLst>
          </p:nvPr>
        </p:nvSpPr>
        <p:spPr bwMode="auto">
          <a:xfrm>
            <a:off x="6659245" y="0"/>
            <a:ext cx="2484120" cy="475615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600" dirty="0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  <p:sp>
        <p:nvSpPr>
          <p:cNvPr id="16" name="文本框 20"/>
          <p:cNvSpPr txBox="1"/>
          <p:nvPr/>
        </p:nvSpPr>
        <p:spPr>
          <a:xfrm>
            <a:off x="2447606" y="69138"/>
            <a:ext cx="1135688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KFENCE</a:t>
            </a:r>
          </a:p>
        </p:txBody>
      </p:sp>
      <p:sp>
        <p:nvSpPr>
          <p:cNvPr id="17" name="文本框 20"/>
          <p:cNvSpPr txBox="1"/>
          <p:nvPr/>
        </p:nvSpPr>
        <p:spPr>
          <a:xfrm>
            <a:off x="4936171" y="69138"/>
            <a:ext cx="1135688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HMMLEAK</a:t>
            </a:r>
          </a:p>
        </p:txBody>
      </p:sp>
      <p:sp>
        <p:nvSpPr>
          <p:cNvPr id="20" name="文本框 20"/>
          <p:cNvSpPr txBox="1"/>
          <p:nvPr/>
        </p:nvSpPr>
        <p:spPr>
          <a:xfrm>
            <a:off x="7259955" y="69215"/>
            <a:ext cx="128714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sz="160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工业级验证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-24765" y="35560"/>
            <a:ext cx="1746250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400" b="1" dirty="0">
                <a:latin typeface="Arial" panose="020B0604020202020204" pitchFamily="34" charset="0"/>
                <a:ea typeface="微软雅黑" panose="020B0503020204020204" pitchFamily="34" charset="-122"/>
              </a:rPr>
              <a:t>核心技术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799afea6bb9612938baf5ef8c4eed9d7"/>
          <p:cNvPicPr>
            <a:picLocks noChangeAspect="1"/>
          </p:cNvPicPr>
          <p:nvPr/>
        </p:nvPicPr>
        <p:blipFill>
          <a:blip r:embed="rId7"/>
          <a:srcRect r="8841"/>
          <a:stretch>
            <a:fillRect/>
          </a:stretch>
        </p:blipFill>
        <p:spPr>
          <a:xfrm>
            <a:off x="304800" y="1727835"/>
            <a:ext cx="4936490" cy="2746375"/>
          </a:xfrm>
          <a:prstGeom prst="rect">
            <a:avLst/>
          </a:prstGeom>
        </p:spPr>
      </p:pic>
      <p:sp>
        <p:nvSpPr>
          <p:cNvPr id="18" name="矩形 46"/>
          <p:cNvSpPr>
            <a:spLocks noChangeArrowheads="1"/>
          </p:cNvSpPr>
          <p:nvPr/>
        </p:nvSpPr>
        <p:spPr bwMode="auto">
          <a:xfrm>
            <a:off x="889635" y="662940"/>
            <a:ext cx="2988945" cy="57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30000"/>
              </a:lnSpc>
            </a:pP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精准的错误诊断能力</a:t>
            </a:r>
          </a:p>
        </p:txBody>
      </p:sp>
      <p:sp>
        <p:nvSpPr>
          <p:cNvPr id="19" name="矩形: 圆角 18"/>
          <p:cNvSpPr/>
          <p:nvPr/>
        </p:nvSpPr>
        <p:spPr>
          <a:xfrm>
            <a:off x="-370858" y="733016"/>
            <a:ext cx="1260420" cy="431505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阿里巴巴普惠体" panose="00020600040101010101" pitchFamily="18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31520" y="1277303"/>
            <a:ext cx="5080000" cy="33718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1600"/>
              <a:t>从“发现问题”到“快速定位”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1021715" y="1951355"/>
            <a:ext cx="1042670" cy="0"/>
          </a:xfrm>
          <a:prstGeom prst="line">
            <a:avLst/>
          </a:prstGeom>
          <a:ln w="31750" cap="sq" cmpd="dbl">
            <a:solidFill>
              <a:srgbClr val="00B05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1232535" y="2210435"/>
            <a:ext cx="720725" cy="0"/>
          </a:xfrm>
          <a:prstGeom prst="line">
            <a:avLst/>
          </a:prstGeom>
          <a:ln w="31750" cap="sq" cmpd="dbl">
            <a:solidFill>
              <a:srgbClr val="00B05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>
          <a:xfrm flipV="1">
            <a:off x="2182495" y="1727835"/>
            <a:ext cx="3509010" cy="223520"/>
          </a:xfrm>
          <a:prstGeom prst="straightConnector1">
            <a:avLst/>
          </a:prstGeom>
          <a:ln w="6350" cap="flat" cmpd="sng" algn="ctr">
            <a:solidFill>
              <a:srgbClr val="00B050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>
            <a:off x="1953260" y="2172335"/>
            <a:ext cx="3738245" cy="62865"/>
          </a:xfrm>
          <a:prstGeom prst="straightConnector1">
            <a:avLst/>
          </a:prstGeom>
          <a:ln w="6350" cap="flat" cmpd="sng" algn="ctr">
            <a:solidFill>
              <a:srgbClr val="00B050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5732145" y="1532255"/>
            <a:ext cx="2506980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b="1" dirty="0">
                <a:latin typeface="Arial" panose="020B0604020202020204" pitchFamily="34" charset="0"/>
                <a:ea typeface="微软雅黑" panose="020B0503020204020204" pitchFamily="34" charset="-122"/>
              </a:rPr>
              <a:t>精确的错误类型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5732145" y="2061845"/>
            <a:ext cx="1393825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b="1" dirty="0">
                <a:latin typeface="Arial" panose="020B0604020202020204" pitchFamily="34" charset="0"/>
                <a:ea typeface="微软雅黑" panose="020B0503020204020204" pitchFamily="34" charset="-122"/>
              </a:rPr>
              <a:t>关键地址信息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5819775" y="3343275"/>
            <a:ext cx="1833245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b="1" dirty="0">
                <a:latin typeface="Arial" panose="020B0604020202020204" pitchFamily="34" charset="0"/>
                <a:ea typeface="微软雅黑" panose="020B0503020204020204" pitchFamily="34" charset="-122"/>
              </a:rPr>
              <a:t>分配时调用栈追踪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5344795" y="4018915"/>
            <a:ext cx="3282315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一份报告，锁定源头、定位现场，将开发者从大海捞针式的调试中解放。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5761355" y="2775585"/>
            <a:ext cx="1833245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b="1" dirty="0">
                <a:latin typeface="Arial" panose="020B0604020202020204" pitchFamily="34" charset="0"/>
                <a:ea typeface="微软雅黑" panose="020B0503020204020204" pitchFamily="34" charset="-122"/>
              </a:rPr>
              <a:t>访问时调用栈追踪</a:t>
            </a:r>
          </a:p>
        </p:txBody>
      </p:sp>
      <p:sp>
        <p:nvSpPr>
          <p:cNvPr id="20" name="矩形 19"/>
          <p:cNvSpPr/>
          <p:nvPr/>
        </p:nvSpPr>
        <p:spPr>
          <a:xfrm>
            <a:off x="304800" y="2273300"/>
            <a:ext cx="4834890" cy="331470"/>
          </a:xfrm>
          <a:prstGeom prst="rect">
            <a:avLst/>
          </a:prstGeom>
          <a:ln w="12700" cmpd="sng">
            <a:solidFill>
              <a:srgbClr val="00B050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305435" y="2940050"/>
            <a:ext cx="4834890" cy="331470"/>
          </a:xfrm>
          <a:prstGeom prst="rect">
            <a:avLst/>
          </a:prstGeom>
          <a:ln w="12700" cmpd="sng">
            <a:solidFill>
              <a:srgbClr val="00B050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2" name="直接箭头连接符 21"/>
          <p:cNvCxnSpPr/>
          <p:nvPr/>
        </p:nvCxnSpPr>
        <p:spPr>
          <a:xfrm>
            <a:off x="5153025" y="2528570"/>
            <a:ext cx="666750" cy="411480"/>
          </a:xfrm>
          <a:prstGeom prst="straightConnector1">
            <a:avLst/>
          </a:prstGeom>
          <a:ln w="12700" cmpd="sng">
            <a:solidFill>
              <a:srgbClr val="00B050"/>
            </a:solidFill>
            <a:prstDash val="lgDash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/>
        </p:nvCxnSpPr>
        <p:spPr>
          <a:xfrm>
            <a:off x="5153025" y="3067050"/>
            <a:ext cx="666750" cy="411480"/>
          </a:xfrm>
          <a:prstGeom prst="straightConnector1">
            <a:avLst/>
          </a:prstGeom>
          <a:ln w="12700" cmpd="sng">
            <a:solidFill>
              <a:srgbClr val="00B050"/>
            </a:solidFill>
            <a:prstDash val="lgDash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" name="矩形 2"/>
          <p:cNvSpPr/>
          <p:nvPr>
            <p:custDataLst>
              <p:tags r:id="rId1"/>
            </p:custDataLst>
          </p:nvPr>
        </p:nvSpPr>
        <p:spPr bwMode="auto">
          <a:xfrm>
            <a:off x="635" y="0"/>
            <a:ext cx="1754505" cy="47561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600" b="1" dirty="0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 bwMode="auto">
          <a:xfrm>
            <a:off x="1773555" y="0"/>
            <a:ext cx="2404745" cy="475615"/>
          </a:xfrm>
          <a:prstGeom prst="rect">
            <a:avLst/>
          </a:prstGeom>
          <a:gradFill>
            <a:gsLst>
              <a:gs pos="50000">
                <a:schemeClr val="accent1"/>
              </a:gs>
              <a:gs pos="0">
                <a:schemeClr val="accent1">
                  <a:lumMod val="25000"/>
                  <a:lumOff val="75000"/>
                </a:schemeClr>
              </a:gs>
              <a:gs pos="100000">
                <a:schemeClr val="accent1">
                  <a:lumMod val="8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600" b="1" dirty="0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>
            <p:custDataLst>
              <p:tags r:id="rId3"/>
            </p:custDataLst>
          </p:nvPr>
        </p:nvSpPr>
        <p:spPr bwMode="auto">
          <a:xfrm>
            <a:off x="4238625" y="0"/>
            <a:ext cx="2366010" cy="475615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600" b="1" dirty="0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>
            <p:custDataLst>
              <p:tags r:id="rId4"/>
            </p:custDataLst>
          </p:nvPr>
        </p:nvSpPr>
        <p:spPr bwMode="auto">
          <a:xfrm>
            <a:off x="6659245" y="0"/>
            <a:ext cx="2484120" cy="475615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600" dirty="0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  <p:sp>
        <p:nvSpPr>
          <p:cNvPr id="24" name="文本框 20"/>
          <p:cNvSpPr txBox="1"/>
          <p:nvPr/>
        </p:nvSpPr>
        <p:spPr>
          <a:xfrm>
            <a:off x="2447606" y="69138"/>
            <a:ext cx="1135688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KFENCE</a:t>
            </a:r>
          </a:p>
        </p:txBody>
      </p:sp>
      <p:sp>
        <p:nvSpPr>
          <p:cNvPr id="26" name="文本框 20"/>
          <p:cNvSpPr txBox="1"/>
          <p:nvPr/>
        </p:nvSpPr>
        <p:spPr>
          <a:xfrm>
            <a:off x="4936171" y="69138"/>
            <a:ext cx="1135688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HMMLEAK</a:t>
            </a:r>
          </a:p>
        </p:txBody>
      </p:sp>
      <p:sp>
        <p:nvSpPr>
          <p:cNvPr id="27" name="文本框 20"/>
          <p:cNvSpPr txBox="1"/>
          <p:nvPr/>
        </p:nvSpPr>
        <p:spPr>
          <a:xfrm>
            <a:off x="7259955" y="69215"/>
            <a:ext cx="128714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sz="160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工业级验证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-24765" y="35560"/>
            <a:ext cx="1746250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400" b="1" dirty="0">
                <a:latin typeface="Arial" panose="020B0604020202020204" pitchFamily="34" charset="0"/>
                <a:ea typeface="微软雅黑" panose="020B0503020204020204" pitchFamily="34" charset="-122"/>
              </a:rPr>
              <a:t>核心技术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46"/>
          <p:cNvSpPr>
            <a:spLocks noChangeArrowheads="1"/>
          </p:cNvSpPr>
          <p:nvPr/>
        </p:nvSpPr>
        <p:spPr bwMode="auto">
          <a:xfrm>
            <a:off x="889635" y="516890"/>
            <a:ext cx="4055110" cy="57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30000"/>
              </a:lnSpc>
            </a:pP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HMMLEAK</a:t>
            </a: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设计理念与核心机制</a:t>
            </a:r>
          </a:p>
        </p:txBody>
      </p:sp>
      <p:sp>
        <p:nvSpPr>
          <p:cNvPr id="19" name="矩形: 圆角 18"/>
          <p:cNvSpPr/>
          <p:nvPr/>
        </p:nvSpPr>
        <p:spPr>
          <a:xfrm>
            <a:off x="-370858" y="586331"/>
            <a:ext cx="1260420" cy="431505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阿里巴巴普惠体" panose="00020600040101010101" pitchFamily="18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67970" y="3048635"/>
            <a:ext cx="922655" cy="821055"/>
          </a:xfrm>
          <a:prstGeom prst="rect">
            <a:avLst/>
          </a:prstGeom>
        </p:spPr>
      </p:pic>
      <p:sp>
        <p:nvSpPr>
          <p:cNvPr id="13" name="右箭头 12"/>
          <p:cNvSpPr/>
          <p:nvPr/>
        </p:nvSpPr>
        <p:spPr>
          <a:xfrm>
            <a:off x="1482725" y="3425825"/>
            <a:ext cx="703580" cy="219075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乘号 13"/>
          <p:cNvSpPr/>
          <p:nvPr/>
        </p:nvSpPr>
        <p:spPr>
          <a:xfrm>
            <a:off x="-93345" y="2815590"/>
            <a:ext cx="1576070" cy="1368425"/>
          </a:xfrm>
          <a:prstGeom prst="mathMultiply">
            <a:avLst/>
          </a:prstGeom>
          <a:solidFill>
            <a:srgbClr val="FF0000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5" name="图表 14"/>
          <p:cNvGraphicFramePr/>
          <p:nvPr/>
        </p:nvGraphicFramePr>
        <p:xfrm>
          <a:off x="1307465" y="2013585"/>
          <a:ext cx="3636645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6"/>
          </a:graphicData>
        </a:graphic>
      </p:graphicFrame>
      <p:sp>
        <p:nvSpPr>
          <p:cNvPr id="49" name="文本框 48"/>
          <p:cNvSpPr txBox="1"/>
          <p:nvPr>
            <p:custDataLst>
              <p:tags r:id="rId1"/>
            </p:custDataLst>
          </p:nvPr>
        </p:nvSpPr>
        <p:spPr>
          <a:xfrm>
            <a:off x="1623695" y="1313180"/>
            <a:ext cx="2207260" cy="414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/>
              <a:t>从</a:t>
            </a:r>
            <a:r>
              <a:rPr lang="en-US" altLang="zh-CN"/>
              <a:t>‘</a:t>
            </a:r>
            <a:r>
              <a:rPr lang="zh-CN" altLang="en-US"/>
              <a:t>寻找错误</a:t>
            </a:r>
            <a:r>
              <a:rPr lang="en-US" altLang="zh-CN"/>
              <a:t>’</a:t>
            </a:r>
            <a:r>
              <a:rPr lang="zh-CN" altLang="en-US"/>
              <a:t>到</a:t>
            </a:r>
            <a:r>
              <a:rPr lang="en-US" altLang="zh-CN"/>
              <a:t>‘</a:t>
            </a:r>
            <a:r>
              <a:rPr lang="zh-CN" altLang="en-US"/>
              <a:t>风险评估</a:t>
            </a:r>
            <a:r>
              <a:rPr lang="en-US" altLang="zh-CN"/>
              <a:t>’</a:t>
            </a:r>
            <a:r>
              <a:rPr lang="zh-CN" altLang="en-US"/>
              <a:t>。</a:t>
            </a:r>
          </a:p>
        </p:txBody>
      </p:sp>
      <p:sp>
        <p:nvSpPr>
          <p:cNvPr id="7" name="Up Arrow 61"/>
          <p:cNvSpPr/>
          <p:nvPr>
            <p:custDataLst>
              <p:tags r:id="rId2"/>
            </p:custDataLst>
          </p:nvPr>
        </p:nvSpPr>
        <p:spPr>
          <a:xfrm>
            <a:off x="4312285" y="1017905"/>
            <a:ext cx="171450" cy="4126865"/>
          </a:xfrm>
          <a:prstGeom prst="upArrow">
            <a:avLst>
              <a:gd name="adj1" fmla="val 50000"/>
              <a:gd name="adj2" fmla="val 6714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31875"/>
            <a:endParaRPr lang="en-US" sz="2000" dirty="0">
              <a:solidFill>
                <a:srgbClr val="FFFFFF"/>
              </a:solidFill>
              <a:latin typeface="Arial" panose="020B0604020202020204"/>
              <a:ea typeface="阿里巴巴普惠体" panose="00020600040101010101" pitchFamily="18" charset="-122"/>
            </a:endParaRPr>
          </a:p>
        </p:txBody>
      </p:sp>
      <p:grpSp>
        <p:nvGrpSpPr>
          <p:cNvPr id="93" name="组合 92"/>
          <p:cNvGrpSpPr/>
          <p:nvPr>
            <p:custDataLst>
              <p:tags r:id="rId3"/>
            </p:custDataLst>
          </p:nvPr>
        </p:nvGrpSpPr>
        <p:grpSpPr>
          <a:xfrm>
            <a:off x="240030" y="1370330"/>
            <a:ext cx="1237615" cy="348615"/>
            <a:chOff x="3002037" y="1465798"/>
            <a:chExt cx="6751081" cy="369332"/>
          </a:xfrm>
          <a:solidFill>
            <a:schemeClr val="accent2">
              <a:lumMod val="75000"/>
            </a:schemeClr>
          </a:solidFill>
        </p:grpSpPr>
        <p:sp>
          <p:nvSpPr>
            <p:cNvPr id="94" name="矩形 93"/>
            <p:cNvSpPr/>
            <p:nvPr>
              <p:custDataLst>
                <p:tags r:id="rId11"/>
              </p:custDataLst>
            </p:nvPr>
          </p:nvSpPr>
          <p:spPr bwMode="auto">
            <a:xfrm>
              <a:off x="3002037" y="1465798"/>
              <a:ext cx="6723392" cy="369332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600" b="1" dirty="0">
                <a:latin typeface="阿里巴巴普惠体" panose="00020600040101010101" pitchFamily="18" charset="-122"/>
                <a:ea typeface="阿里巴巴普惠体" panose="00020600040101010101" pitchFamily="18" charset="-122"/>
              </a:endParaRPr>
            </a:p>
          </p:txBody>
        </p:sp>
        <p:sp>
          <p:nvSpPr>
            <p:cNvPr id="8" name="TextBox 16"/>
            <p:cNvSpPr txBox="1"/>
            <p:nvPr>
              <p:custDataLst>
                <p:tags r:id="rId12"/>
              </p:custDataLst>
            </p:nvPr>
          </p:nvSpPr>
          <p:spPr>
            <a:xfrm>
              <a:off x="3002037" y="1471853"/>
              <a:ext cx="6751081" cy="3572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rgbClr val="F8F8F8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</a:rPr>
                <a:t>思想转变</a:t>
              </a:r>
            </a:p>
          </p:txBody>
        </p:sp>
      </p:grpSp>
      <p:grpSp>
        <p:nvGrpSpPr>
          <p:cNvPr id="9" name="组合 8"/>
          <p:cNvGrpSpPr/>
          <p:nvPr>
            <p:custDataLst>
              <p:tags r:id="rId4"/>
            </p:custDataLst>
          </p:nvPr>
        </p:nvGrpSpPr>
        <p:grpSpPr>
          <a:xfrm>
            <a:off x="4719320" y="1271270"/>
            <a:ext cx="1237619" cy="379096"/>
            <a:chOff x="2974326" y="1465798"/>
            <a:chExt cx="6751103" cy="401624"/>
          </a:xfrm>
          <a:solidFill>
            <a:schemeClr val="accent2">
              <a:lumMod val="75000"/>
            </a:schemeClr>
          </a:solidFill>
        </p:grpSpPr>
        <p:sp>
          <p:nvSpPr>
            <p:cNvPr id="10" name="矩形 9"/>
            <p:cNvSpPr/>
            <p:nvPr>
              <p:custDataLst>
                <p:tags r:id="rId9"/>
              </p:custDataLst>
            </p:nvPr>
          </p:nvSpPr>
          <p:spPr bwMode="auto">
            <a:xfrm>
              <a:off x="3002037" y="1465798"/>
              <a:ext cx="6723392" cy="369332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600" b="1" dirty="0">
                <a:latin typeface="阿里巴巴普惠体" panose="00020600040101010101" pitchFamily="18" charset="-122"/>
                <a:ea typeface="阿里巴巴普惠体" panose="00020600040101010101" pitchFamily="18" charset="-122"/>
              </a:endParaRPr>
            </a:p>
          </p:txBody>
        </p:sp>
        <p:sp>
          <p:nvSpPr>
            <p:cNvPr id="11" name="TextBox 16"/>
            <p:cNvSpPr txBox="1"/>
            <p:nvPr>
              <p:custDataLst>
                <p:tags r:id="rId10"/>
              </p:custDataLst>
            </p:nvPr>
          </p:nvSpPr>
          <p:spPr>
            <a:xfrm>
              <a:off x="2974326" y="1510199"/>
              <a:ext cx="6751081" cy="3572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rgbClr val="F8F8F8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</a:rPr>
                <a:t>多维度画像</a:t>
              </a:r>
            </a:p>
          </p:txBody>
        </p:sp>
      </p:grpSp>
      <p:sp>
        <p:nvSpPr>
          <p:cNvPr id="20" name="文本框 19"/>
          <p:cNvSpPr txBox="1"/>
          <p:nvPr/>
        </p:nvSpPr>
        <p:spPr>
          <a:xfrm>
            <a:off x="6058535" y="1176020"/>
            <a:ext cx="3016885" cy="737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sym typeface="+mn-ea"/>
              </a:rPr>
              <a:t>基于内存泄漏特征的多维画像检测框架。</a:t>
            </a:r>
            <a:endParaRPr lang="zh-CN" altLang="en-US" sz="1400" dirty="0"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cxnSp>
        <p:nvCxnSpPr>
          <p:cNvPr id="75" name="直接连接符 74"/>
          <p:cNvCxnSpPr/>
          <p:nvPr/>
        </p:nvCxnSpPr>
        <p:spPr>
          <a:xfrm>
            <a:off x="5389404" y="2914170"/>
            <a:ext cx="2828925" cy="0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连接符 75"/>
          <p:cNvCxnSpPr/>
          <p:nvPr/>
        </p:nvCxnSpPr>
        <p:spPr>
          <a:xfrm>
            <a:off x="5389404" y="3851853"/>
            <a:ext cx="2828925" cy="0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9" name="组合 78"/>
          <p:cNvGrpSpPr/>
          <p:nvPr/>
        </p:nvGrpSpPr>
        <p:grpSpPr>
          <a:xfrm>
            <a:off x="5387858" y="2076288"/>
            <a:ext cx="3105598" cy="727518"/>
            <a:chOff x="7554439" y="1842977"/>
            <a:chExt cx="4140797" cy="970023"/>
          </a:xfrm>
        </p:grpSpPr>
        <p:grpSp>
          <p:nvGrpSpPr>
            <p:cNvPr id="80" name="组合 79"/>
            <p:cNvGrpSpPr/>
            <p:nvPr/>
          </p:nvGrpSpPr>
          <p:grpSpPr>
            <a:xfrm>
              <a:off x="8080816" y="1842977"/>
              <a:ext cx="3614420" cy="970023"/>
              <a:chOff x="1375224" y="2532656"/>
              <a:chExt cx="3614420" cy="970023"/>
            </a:xfrm>
          </p:grpSpPr>
          <p:sp>
            <p:nvSpPr>
              <p:cNvPr id="81" name="文本框 80"/>
              <p:cNvSpPr txBox="1"/>
              <p:nvPr/>
            </p:nvSpPr>
            <p:spPr>
              <a:xfrm>
                <a:off x="1375224" y="2902393"/>
                <a:ext cx="3095184" cy="6002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30000"/>
                  </a:lnSpc>
                </a:pPr>
                <a:r>
                  <a:rPr lang="zh-CN" altLang="en-US" sz="9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阿里巴巴普惠体" panose="00020600040101010101" pitchFamily="18" charset="-122"/>
                    <a:ea typeface="阿里巴巴普惠体" panose="00020600040101010101" pitchFamily="18" charset="-122"/>
                    <a:sym typeface="+mn-ea"/>
                  </a:rPr>
                  <a:t>进程的堆内存占用持续增加，且无法回落到历史最低水平。</a:t>
                </a:r>
                <a:endParaRPr lang="en-US" altLang="zh-CN" sz="9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</a:endParaRPr>
              </a:p>
            </p:txBody>
          </p:sp>
          <p:sp>
            <p:nvSpPr>
              <p:cNvPr id="89" name="文本框 88"/>
              <p:cNvSpPr txBox="1"/>
              <p:nvPr/>
            </p:nvSpPr>
            <p:spPr>
              <a:xfrm>
                <a:off x="1375224" y="2532656"/>
                <a:ext cx="3614420" cy="3793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zh-CN" altLang="en-US" sz="105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阿里巴巴普惠体" panose="00020600040101010101" pitchFamily="18" charset="-122"/>
                    <a:ea typeface="阿里巴巴普惠体" panose="00020600040101010101" pitchFamily="18" charset="-122"/>
                    <a:sym typeface="+mn-ea"/>
                  </a:rPr>
                  <a:t>内存占用稳定增长（最经典特征）</a:t>
                </a:r>
                <a:endParaRPr lang="en-US" altLang="zh-CN" sz="105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</a:endParaRPr>
              </a:p>
            </p:txBody>
          </p:sp>
        </p:grpSp>
        <p:sp>
          <p:nvSpPr>
            <p:cNvPr id="90" name="meeting_115918"/>
            <p:cNvSpPr/>
            <p:nvPr/>
          </p:nvSpPr>
          <p:spPr>
            <a:xfrm>
              <a:off x="7554439" y="1957139"/>
              <a:ext cx="369256" cy="429325"/>
            </a:xfrm>
            <a:custGeom>
              <a:avLst/>
              <a:gdLst>
                <a:gd name="T0" fmla="*/ 4142 w 5720"/>
                <a:gd name="T1" fmla="*/ 1476 h 6660"/>
                <a:gd name="T2" fmla="*/ 4753 w 5720"/>
                <a:gd name="T3" fmla="*/ 1195 h 6660"/>
                <a:gd name="T4" fmla="*/ 4177 w 5720"/>
                <a:gd name="T5" fmla="*/ 1044 h 6660"/>
                <a:gd name="T6" fmla="*/ 3935 w 5720"/>
                <a:gd name="T7" fmla="*/ 1135 h 6660"/>
                <a:gd name="T8" fmla="*/ 2861 w 5720"/>
                <a:gd name="T9" fmla="*/ 1062 h 6660"/>
                <a:gd name="T10" fmla="*/ 1617 w 5720"/>
                <a:gd name="T11" fmla="*/ 1094 h 6660"/>
                <a:gd name="T12" fmla="*/ 967 w 5720"/>
                <a:gd name="T13" fmla="*/ 852 h 6660"/>
                <a:gd name="T14" fmla="*/ 1176 w 5720"/>
                <a:gd name="T15" fmla="*/ 1287 h 6660"/>
                <a:gd name="T16" fmla="*/ 1210 w 5720"/>
                <a:gd name="T17" fmla="*/ 1311 h 6660"/>
                <a:gd name="T18" fmla="*/ 1488 w 5720"/>
                <a:gd name="T19" fmla="*/ 1476 h 6660"/>
                <a:gd name="T20" fmla="*/ 0 w 5720"/>
                <a:gd name="T21" fmla="*/ 1676 h 6660"/>
                <a:gd name="T22" fmla="*/ 200 w 5720"/>
                <a:gd name="T23" fmla="*/ 3544 h 6660"/>
                <a:gd name="T24" fmla="*/ 403 w 5720"/>
                <a:gd name="T25" fmla="*/ 6460 h 6660"/>
                <a:gd name="T26" fmla="*/ 5116 w 5720"/>
                <a:gd name="T27" fmla="*/ 6660 h 6660"/>
                <a:gd name="T28" fmla="*/ 5316 w 5720"/>
                <a:gd name="T29" fmla="*/ 3544 h 6660"/>
                <a:gd name="T30" fmla="*/ 5720 w 5720"/>
                <a:gd name="T31" fmla="*/ 3344 h 6660"/>
                <a:gd name="T32" fmla="*/ 5520 w 5720"/>
                <a:gd name="T33" fmla="*/ 1476 h 6660"/>
                <a:gd name="T34" fmla="*/ 3558 w 5720"/>
                <a:gd name="T35" fmla="*/ 742 h 6660"/>
                <a:gd name="T36" fmla="*/ 3535 w 5720"/>
                <a:gd name="T37" fmla="*/ 733 h 6660"/>
                <a:gd name="T38" fmla="*/ 2674 w 5720"/>
                <a:gd name="T39" fmla="*/ 1476 h 6660"/>
                <a:gd name="T40" fmla="*/ 2129 w 5720"/>
                <a:gd name="T41" fmla="*/ 699 h 6660"/>
                <a:gd name="T42" fmla="*/ 3480 w 5720"/>
                <a:gd name="T43" fmla="*/ 6260 h 6660"/>
                <a:gd name="T44" fmla="*/ 3280 w 5720"/>
                <a:gd name="T45" fmla="*/ 3733 h 6660"/>
                <a:gd name="T46" fmla="*/ 2240 w 5720"/>
                <a:gd name="T47" fmla="*/ 3933 h 6660"/>
                <a:gd name="T48" fmla="*/ 803 w 5720"/>
                <a:gd name="T49" fmla="*/ 6260 h 6660"/>
                <a:gd name="T50" fmla="*/ 4916 w 5720"/>
                <a:gd name="T51" fmla="*/ 3544 h 6660"/>
                <a:gd name="T52" fmla="*/ 5320 w 5720"/>
                <a:gd name="T53" fmla="*/ 3144 h 6660"/>
                <a:gd name="T54" fmla="*/ 603 w 5720"/>
                <a:gd name="T55" fmla="*/ 3144 h 6660"/>
                <a:gd name="T56" fmla="*/ 400 w 5720"/>
                <a:gd name="T57" fmla="*/ 1876 h 6660"/>
                <a:gd name="T58" fmla="*/ 2240 w 5720"/>
                <a:gd name="T59" fmla="*/ 2730 h 6660"/>
                <a:gd name="T60" fmla="*/ 3280 w 5720"/>
                <a:gd name="T61" fmla="*/ 2930 h 6660"/>
                <a:gd name="T62" fmla="*/ 3480 w 5720"/>
                <a:gd name="T63" fmla="*/ 1876 h 6660"/>
                <a:gd name="T64" fmla="*/ 5320 w 5720"/>
                <a:gd name="T65" fmla="*/ 3144 h 6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5720" h="6660">
                  <a:moveTo>
                    <a:pt x="5520" y="1476"/>
                  </a:moveTo>
                  <a:lnTo>
                    <a:pt x="4142" y="1476"/>
                  </a:lnTo>
                  <a:cubicBezTo>
                    <a:pt x="4263" y="1432"/>
                    <a:pt x="4426" y="1384"/>
                    <a:pt x="4546" y="1388"/>
                  </a:cubicBezTo>
                  <a:cubicBezTo>
                    <a:pt x="4657" y="1392"/>
                    <a:pt x="4749" y="1305"/>
                    <a:pt x="4753" y="1195"/>
                  </a:cubicBezTo>
                  <a:cubicBezTo>
                    <a:pt x="4757" y="1085"/>
                    <a:pt x="4670" y="992"/>
                    <a:pt x="4560" y="988"/>
                  </a:cubicBezTo>
                  <a:cubicBezTo>
                    <a:pt x="4435" y="984"/>
                    <a:pt x="4298" y="1010"/>
                    <a:pt x="4177" y="1044"/>
                  </a:cubicBezTo>
                  <a:cubicBezTo>
                    <a:pt x="4169" y="1046"/>
                    <a:pt x="4159" y="1049"/>
                    <a:pt x="4149" y="1052"/>
                  </a:cubicBezTo>
                  <a:cubicBezTo>
                    <a:pt x="4128" y="1056"/>
                    <a:pt x="4020" y="1088"/>
                    <a:pt x="3935" y="1135"/>
                  </a:cubicBezTo>
                  <a:cubicBezTo>
                    <a:pt x="3985" y="866"/>
                    <a:pt x="3920" y="704"/>
                    <a:pt x="3920" y="704"/>
                  </a:cubicBezTo>
                  <a:cubicBezTo>
                    <a:pt x="3643" y="0"/>
                    <a:pt x="3057" y="719"/>
                    <a:pt x="2861" y="1062"/>
                  </a:cubicBezTo>
                  <a:cubicBezTo>
                    <a:pt x="2665" y="687"/>
                    <a:pt x="2264" y="112"/>
                    <a:pt x="1772" y="453"/>
                  </a:cubicBezTo>
                  <a:cubicBezTo>
                    <a:pt x="1503" y="629"/>
                    <a:pt x="1506" y="867"/>
                    <a:pt x="1617" y="1094"/>
                  </a:cubicBezTo>
                  <a:cubicBezTo>
                    <a:pt x="1507" y="1036"/>
                    <a:pt x="1367" y="939"/>
                    <a:pt x="1249" y="835"/>
                  </a:cubicBezTo>
                  <a:cubicBezTo>
                    <a:pt x="1166" y="762"/>
                    <a:pt x="1040" y="770"/>
                    <a:pt x="967" y="852"/>
                  </a:cubicBezTo>
                  <a:cubicBezTo>
                    <a:pt x="893" y="935"/>
                    <a:pt x="901" y="1062"/>
                    <a:pt x="984" y="1135"/>
                  </a:cubicBezTo>
                  <a:cubicBezTo>
                    <a:pt x="988" y="1138"/>
                    <a:pt x="1066" y="1207"/>
                    <a:pt x="1176" y="1287"/>
                  </a:cubicBezTo>
                  <a:cubicBezTo>
                    <a:pt x="1176" y="1287"/>
                    <a:pt x="1176" y="1287"/>
                    <a:pt x="1177" y="1287"/>
                  </a:cubicBezTo>
                  <a:cubicBezTo>
                    <a:pt x="1187" y="1295"/>
                    <a:pt x="1198" y="1303"/>
                    <a:pt x="1210" y="1311"/>
                  </a:cubicBezTo>
                  <a:cubicBezTo>
                    <a:pt x="1224" y="1321"/>
                    <a:pt x="1239" y="1331"/>
                    <a:pt x="1253" y="1341"/>
                  </a:cubicBezTo>
                  <a:cubicBezTo>
                    <a:pt x="1338" y="1398"/>
                    <a:pt x="1416" y="1443"/>
                    <a:pt x="1488" y="1476"/>
                  </a:cubicBezTo>
                  <a:lnTo>
                    <a:pt x="200" y="1476"/>
                  </a:lnTo>
                  <a:cubicBezTo>
                    <a:pt x="89" y="1476"/>
                    <a:pt x="0" y="1566"/>
                    <a:pt x="0" y="1676"/>
                  </a:cubicBezTo>
                  <a:lnTo>
                    <a:pt x="0" y="3344"/>
                  </a:lnTo>
                  <a:cubicBezTo>
                    <a:pt x="0" y="3455"/>
                    <a:pt x="89" y="3544"/>
                    <a:pt x="200" y="3544"/>
                  </a:cubicBezTo>
                  <a:lnTo>
                    <a:pt x="403" y="3544"/>
                  </a:lnTo>
                  <a:lnTo>
                    <a:pt x="403" y="6460"/>
                  </a:lnTo>
                  <a:cubicBezTo>
                    <a:pt x="403" y="6571"/>
                    <a:pt x="493" y="6660"/>
                    <a:pt x="603" y="6660"/>
                  </a:cubicBezTo>
                  <a:lnTo>
                    <a:pt x="5116" y="6660"/>
                  </a:lnTo>
                  <a:cubicBezTo>
                    <a:pt x="5227" y="6660"/>
                    <a:pt x="5316" y="6571"/>
                    <a:pt x="5316" y="6460"/>
                  </a:cubicBezTo>
                  <a:lnTo>
                    <a:pt x="5316" y="3544"/>
                  </a:lnTo>
                  <a:lnTo>
                    <a:pt x="5520" y="3544"/>
                  </a:lnTo>
                  <a:cubicBezTo>
                    <a:pt x="5630" y="3544"/>
                    <a:pt x="5720" y="3455"/>
                    <a:pt x="5720" y="3344"/>
                  </a:cubicBezTo>
                  <a:lnTo>
                    <a:pt x="5720" y="1676"/>
                  </a:lnTo>
                  <a:cubicBezTo>
                    <a:pt x="5720" y="1566"/>
                    <a:pt x="5630" y="1476"/>
                    <a:pt x="5520" y="1476"/>
                  </a:cubicBezTo>
                  <a:close/>
                  <a:moveTo>
                    <a:pt x="3535" y="733"/>
                  </a:moveTo>
                  <a:cubicBezTo>
                    <a:pt x="3545" y="729"/>
                    <a:pt x="3553" y="736"/>
                    <a:pt x="3558" y="742"/>
                  </a:cubicBezTo>
                  <a:cubicBezTo>
                    <a:pt x="3631" y="836"/>
                    <a:pt x="3236" y="1522"/>
                    <a:pt x="3046" y="1436"/>
                  </a:cubicBezTo>
                  <a:cubicBezTo>
                    <a:pt x="2997" y="1341"/>
                    <a:pt x="3421" y="777"/>
                    <a:pt x="3535" y="733"/>
                  </a:cubicBezTo>
                  <a:close/>
                  <a:moveTo>
                    <a:pt x="2129" y="699"/>
                  </a:moveTo>
                  <a:cubicBezTo>
                    <a:pt x="2404" y="776"/>
                    <a:pt x="2594" y="1244"/>
                    <a:pt x="2674" y="1476"/>
                  </a:cubicBezTo>
                  <a:lnTo>
                    <a:pt x="2442" y="1476"/>
                  </a:lnTo>
                  <a:cubicBezTo>
                    <a:pt x="2175" y="1209"/>
                    <a:pt x="1610" y="552"/>
                    <a:pt x="2129" y="699"/>
                  </a:cubicBezTo>
                  <a:close/>
                  <a:moveTo>
                    <a:pt x="4916" y="6260"/>
                  </a:moveTo>
                  <a:lnTo>
                    <a:pt x="3480" y="6260"/>
                  </a:lnTo>
                  <a:lnTo>
                    <a:pt x="3480" y="3933"/>
                  </a:lnTo>
                  <a:cubicBezTo>
                    <a:pt x="3480" y="3822"/>
                    <a:pt x="3390" y="3733"/>
                    <a:pt x="3280" y="3733"/>
                  </a:cubicBezTo>
                  <a:lnTo>
                    <a:pt x="2440" y="3733"/>
                  </a:lnTo>
                  <a:cubicBezTo>
                    <a:pt x="2329" y="3733"/>
                    <a:pt x="2240" y="3822"/>
                    <a:pt x="2240" y="3933"/>
                  </a:cubicBezTo>
                  <a:lnTo>
                    <a:pt x="2240" y="6260"/>
                  </a:lnTo>
                  <a:lnTo>
                    <a:pt x="803" y="6260"/>
                  </a:lnTo>
                  <a:lnTo>
                    <a:pt x="803" y="3544"/>
                  </a:lnTo>
                  <a:lnTo>
                    <a:pt x="4916" y="3544"/>
                  </a:lnTo>
                  <a:lnTo>
                    <a:pt x="4916" y="6260"/>
                  </a:lnTo>
                  <a:close/>
                  <a:moveTo>
                    <a:pt x="5320" y="3144"/>
                  </a:moveTo>
                  <a:lnTo>
                    <a:pt x="5116" y="3144"/>
                  </a:lnTo>
                  <a:lnTo>
                    <a:pt x="603" y="3144"/>
                  </a:lnTo>
                  <a:lnTo>
                    <a:pt x="400" y="3144"/>
                  </a:lnTo>
                  <a:lnTo>
                    <a:pt x="400" y="1876"/>
                  </a:lnTo>
                  <a:lnTo>
                    <a:pt x="2240" y="1876"/>
                  </a:lnTo>
                  <a:lnTo>
                    <a:pt x="2240" y="2730"/>
                  </a:lnTo>
                  <a:cubicBezTo>
                    <a:pt x="2240" y="2841"/>
                    <a:pt x="2329" y="2930"/>
                    <a:pt x="2440" y="2930"/>
                  </a:cubicBezTo>
                  <a:lnTo>
                    <a:pt x="3280" y="2930"/>
                  </a:lnTo>
                  <a:cubicBezTo>
                    <a:pt x="3390" y="2930"/>
                    <a:pt x="3480" y="2841"/>
                    <a:pt x="3480" y="2730"/>
                  </a:cubicBezTo>
                  <a:lnTo>
                    <a:pt x="3480" y="1876"/>
                  </a:lnTo>
                  <a:lnTo>
                    <a:pt x="5320" y="1876"/>
                  </a:lnTo>
                  <a:lnTo>
                    <a:pt x="5320" y="31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350"/>
            </a:p>
          </p:txBody>
        </p:sp>
      </p:grpSp>
      <p:grpSp>
        <p:nvGrpSpPr>
          <p:cNvPr id="91" name="组合 90"/>
          <p:cNvGrpSpPr/>
          <p:nvPr/>
        </p:nvGrpSpPr>
        <p:grpSpPr>
          <a:xfrm>
            <a:off x="5387858" y="3009575"/>
            <a:ext cx="2827468" cy="727518"/>
            <a:chOff x="7554439" y="3383271"/>
            <a:chExt cx="3769957" cy="970023"/>
          </a:xfrm>
        </p:grpSpPr>
        <p:grpSp>
          <p:nvGrpSpPr>
            <p:cNvPr id="92" name="组合 91"/>
            <p:cNvGrpSpPr/>
            <p:nvPr/>
          </p:nvGrpSpPr>
          <p:grpSpPr>
            <a:xfrm>
              <a:off x="8080816" y="3383271"/>
              <a:ext cx="3243580" cy="970023"/>
              <a:chOff x="1375224" y="2532656"/>
              <a:chExt cx="3243580" cy="970023"/>
            </a:xfrm>
          </p:grpSpPr>
          <p:sp>
            <p:nvSpPr>
              <p:cNvPr id="96" name="文本框 95"/>
              <p:cNvSpPr txBox="1"/>
              <p:nvPr/>
            </p:nvSpPr>
            <p:spPr>
              <a:xfrm>
                <a:off x="1375224" y="2902393"/>
                <a:ext cx="3095184" cy="6002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30000"/>
                  </a:lnSpc>
                </a:pPr>
                <a:r>
                  <a:rPr lang="zh-CN" altLang="en-US" sz="9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阿里巴巴普惠体" panose="00020600040101010101" pitchFamily="18" charset="-122"/>
                    <a:ea typeface="阿里巴巴普惠体" panose="00020600040101010101" pitchFamily="18" charset="-122"/>
                    <a:sym typeface="+mn-ea"/>
                  </a:rPr>
                  <a:t>泄漏的内存永远不会被释放，因此其</a:t>
                </a:r>
                <a:r>
                  <a:rPr lang="en-US" altLang="zh-CN" sz="9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阿里巴巴普惠体" panose="00020600040101010101" pitchFamily="18" charset="-122"/>
                    <a:ea typeface="阿里巴巴普惠体" panose="00020600040101010101" pitchFamily="18" charset="-122"/>
                    <a:sym typeface="+mn-ea"/>
                  </a:rPr>
                  <a:t>“</a:t>
                </a:r>
                <a:r>
                  <a:rPr lang="zh-CN" altLang="en-US" sz="9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阿里巴巴普惠体" panose="00020600040101010101" pitchFamily="18" charset="-122"/>
                    <a:ea typeface="阿里巴巴普惠体" panose="00020600040101010101" pitchFamily="18" charset="-122"/>
                    <a:sym typeface="+mn-ea"/>
                  </a:rPr>
                  <a:t>年龄</a:t>
                </a:r>
                <a:r>
                  <a:rPr lang="en-US" altLang="zh-CN" sz="9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阿里巴巴普惠体" panose="00020600040101010101" pitchFamily="18" charset="-122"/>
                    <a:ea typeface="阿里巴巴普惠体" panose="00020600040101010101" pitchFamily="18" charset="-122"/>
                    <a:sym typeface="+mn-ea"/>
                  </a:rPr>
                  <a:t>”</a:t>
                </a:r>
                <a:r>
                  <a:rPr lang="zh-CN" altLang="en-US" sz="9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阿里巴巴普惠体" panose="00020600040101010101" pitchFamily="18" charset="-122"/>
                    <a:ea typeface="阿里巴巴普惠体" panose="00020600040101010101" pitchFamily="18" charset="-122"/>
                    <a:sym typeface="+mn-ea"/>
                  </a:rPr>
                  <a:t>会持续增长。</a:t>
                </a:r>
                <a:endParaRPr lang="en-US" altLang="zh-CN" sz="9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</a:endParaRPr>
              </a:p>
            </p:txBody>
          </p:sp>
          <p:sp>
            <p:nvSpPr>
              <p:cNvPr id="97" name="文本框 96"/>
              <p:cNvSpPr txBox="1"/>
              <p:nvPr/>
            </p:nvSpPr>
            <p:spPr>
              <a:xfrm>
                <a:off x="1375224" y="2532656"/>
                <a:ext cx="3243580" cy="3793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zh-CN" altLang="en-US" sz="105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阿里巴巴普惠体" panose="00020600040101010101" pitchFamily="18" charset="-122"/>
                    <a:ea typeface="阿里巴巴普惠体" panose="00020600040101010101" pitchFamily="18" charset="-122"/>
                    <a:sym typeface="+mn-ea"/>
                  </a:rPr>
                  <a:t>老对象（生命周期特征）</a:t>
                </a:r>
                <a:endParaRPr lang="en-US" altLang="zh-CN" sz="105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</a:endParaRPr>
              </a:p>
            </p:txBody>
          </p:sp>
        </p:grpSp>
        <p:sp>
          <p:nvSpPr>
            <p:cNvPr id="98" name="meeting_115918"/>
            <p:cNvSpPr/>
            <p:nvPr/>
          </p:nvSpPr>
          <p:spPr>
            <a:xfrm>
              <a:off x="7554439" y="3497433"/>
              <a:ext cx="369256" cy="429325"/>
            </a:xfrm>
            <a:custGeom>
              <a:avLst/>
              <a:gdLst>
                <a:gd name="T0" fmla="*/ 4142 w 5720"/>
                <a:gd name="T1" fmla="*/ 1476 h 6660"/>
                <a:gd name="T2" fmla="*/ 4753 w 5720"/>
                <a:gd name="T3" fmla="*/ 1195 h 6660"/>
                <a:gd name="T4" fmla="*/ 4177 w 5720"/>
                <a:gd name="T5" fmla="*/ 1044 h 6660"/>
                <a:gd name="T6" fmla="*/ 3935 w 5720"/>
                <a:gd name="T7" fmla="*/ 1135 h 6660"/>
                <a:gd name="T8" fmla="*/ 2861 w 5720"/>
                <a:gd name="T9" fmla="*/ 1062 h 6660"/>
                <a:gd name="T10" fmla="*/ 1617 w 5720"/>
                <a:gd name="T11" fmla="*/ 1094 h 6660"/>
                <a:gd name="T12" fmla="*/ 967 w 5720"/>
                <a:gd name="T13" fmla="*/ 852 h 6660"/>
                <a:gd name="T14" fmla="*/ 1176 w 5720"/>
                <a:gd name="T15" fmla="*/ 1287 h 6660"/>
                <a:gd name="T16" fmla="*/ 1210 w 5720"/>
                <a:gd name="T17" fmla="*/ 1311 h 6660"/>
                <a:gd name="T18" fmla="*/ 1488 w 5720"/>
                <a:gd name="T19" fmla="*/ 1476 h 6660"/>
                <a:gd name="T20" fmla="*/ 0 w 5720"/>
                <a:gd name="T21" fmla="*/ 1676 h 6660"/>
                <a:gd name="T22" fmla="*/ 200 w 5720"/>
                <a:gd name="T23" fmla="*/ 3544 h 6660"/>
                <a:gd name="T24" fmla="*/ 403 w 5720"/>
                <a:gd name="T25" fmla="*/ 6460 h 6660"/>
                <a:gd name="T26" fmla="*/ 5116 w 5720"/>
                <a:gd name="T27" fmla="*/ 6660 h 6660"/>
                <a:gd name="T28" fmla="*/ 5316 w 5720"/>
                <a:gd name="T29" fmla="*/ 3544 h 6660"/>
                <a:gd name="T30" fmla="*/ 5720 w 5720"/>
                <a:gd name="T31" fmla="*/ 3344 h 6660"/>
                <a:gd name="T32" fmla="*/ 5520 w 5720"/>
                <a:gd name="T33" fmla="*/ 1476 h 6660"/>
                <a:gd name="T34" fmla="*/ 3558 w 5720"/>
                <a:gd name="T35" fmla="*/ 742 h 6660"/>
                <a:gd name="T36" fmla="*/ 3535 w 5720"/>
                <a:gd name="T37" fmla="*/ 733 h 6660"/>
                <a:gd name="T38" fmla="*/ 2674 w 5720"/>
                <a:gd name="T39" fmla="*/ 1476 h 6660"/>
                <a:gd name="T40" fmla="*/ 2129 w 5720"/>
                <a:gd name="T41" fmla="*/ 699 h 6660"/>
                <a:gd name="T42" fmla="*/ 3480 w 5720"/>
                <a:gd name="T43" fmla="*/ 6260 h 6660"/>
                <a:gd name="T44" fmla="*/ 3280 w 5720"/>
                <a:gd name="T45" fmla="*/ 3733 h 6660"/>
                <a:gd name="T46" fmla="*/ 2240 w 5720"/>
                <a:gd name="T47" fmla="*/ 3933 h 6660"/>
                <a:gd name="T48" fmla="*/ 803 w 5720"/>
                <a:gd name="T49" fmla="*/ 6260 h 6660"/>
                <a:gd name="T50" fmla="*/ 4916 w 5720"/>
                <a:gd name="T51" fmla="*/ 3544 h 6660"/>
                <a:gd name="T52" fmla="*/ 5320 w 5720"/>
                <a:gd name="T53" fmla="*/ 3144 h 6660"/>
                <a:gd name="T54" fmla="*/ 603 w 5720"/>
                <a:gd name="T55" fmla="*/ 3144 h 6660"/>
                <a:gd name="T56" fmla="*/ 400 w 5720"/>
                <a:gd name="T57" fmla="*/ 1876 h 6660"/>
                <a:gd name="T58" fmla="*/ 2240 w 5720"/>
                <a:gd name="T59" fmla="*/ 2730 h 6660"/>
                <a:gd name="T60" fmla="*/ 3280 w 5720"/>
                <a:gd name="T61" fmla="*/ 2930 h 6660"/>
                <a:gd name="T62" fmla="*/ 3480 w 5720"/>
                <a:gd name="T63" fmla="*/ 1876 h 6660"/>
                <a:gd name="T64" fmla="*/ 5320 w 5720"/>
                <a:gd name="T65" fmla="*/ 3144 h 6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5720" h="6660">
                  <a:moveTo>
                    <a:pt x="5520" y="1476"/>
                  </a:moveTo>
                  <a:lnTo>
                    <a:pt x="4142" y="1476"/>
                  </a:lnTo>
                  <a:cubicBezTo>
                    <a:pt x="4263" y="1432"/>
                    <a:pt x="4426" y="1384"/>
                    <a:pt x="4546" y="1388"/>
                  </a:cubicBezTo>
                  <a:cubicBezTo>
                    <a:pt x="4657" y="1392"/>
                    <a:pt x="4749" y="1305"/>
                    <a:pt x="4753" y="1195"/>
                  </a:cubicBezTo>
                  <a:cubicBezTo>
                    <a:pt x="4757" y="1085"/>
                    <a:pt x="4670" y="992"/>
                    <a:pt x="4560" y="988"/>
                  </a:cubicBezTo>
                  <a:cubicBezTo>
                    <a:pt x="4435" y="984"/>
                    <a:pt x="4298" y="1010"/>
                    <a:pt x="4177" y="1044"/>
                  </a:cubicBezTo>
                  <a:cubicBezTo>
                    <a:pt x="4169" y="1046"/>
                    <a:pt x="4159" y="1049"/>
                    <a:pt x="4149" y="1052"/>
                  </a:cubicBezTo>
                  <a:cubicBezTo>
                    <a:pt x="4128" y="1056"/>
                    <a:pt x="4020" y="1088"/>
                    <a:pt x="3935" y="1135"/>
                  </a:cubicBezTo>
                  <a:cubicBezTo>
                    <a:pt x="3985" y="866"/>
                    <a:pt x="3920" y="704"/>
                    <a:pt x="3920" y="704"/>
                  </a:cubicBezTo>
                  <a:cubicBezTo>
                    <a:pt x="3643" y="0"/>
                    <a:pt x="3057" y="719"/>
                    <a:pt x="2861" y="1062"/>
                  </a:cubicBezTo>
                  <a:cubicBezTo>
                    <a:pt x="2665" y="687"/>
                    <a:pt x="2264" y="112"/>
                    <a:pt x="1772" y="453"/>
                  </a:cubicBezTo>
                  <a:cubicBezTo>
                    <a:pt x="1503" y="629"/>
                    <a:pt x="1506" y="867"/>
                    <a:pt x="1617" y="1094"/>
                  </a:cubicBezTo>
                  <a:cubicBezTo>
                    <a:pt x="1507" y="1036"/>
                    <a:pt x="1367" y="939"/>
                    <a:pt x="1249" y="835"/>
                  </a:cubicBezTo>
                  <a:cubicBezTo>
                    <a:pt x="1166" y="762"/>
                    <a:pt x="1040" y="770"/>
                    <a:pt x="967" y="852"/>
                  </a:cubicBezTo>
                  <a:cubicBezTo>
                    <a:pt x="893" y="935"/>
                    <a:pt x="901" y="1062"/>
                    <a:pt x="984" y="1135"/>
                  </a:cubicBezTo>
                  <a:cubicBezTo>
                    <a:pt x="988" y="1138"/>
                    <a:pt x="1066" y="1207"/>
                    <a:pt x="1176" y="1287"/>
                  </a:cubicBezTo>
                  <a:cubicBezTo>
                    <a:pt x="1176" y="1287"/>
                    <a:pt x="1176" y="1287"/>
                    <a:pt x="1177" y="1287"/>
                  </a:cubicBezTo>
                  <a:cubicBezTo>
                    <a:pt x="1187" y="1295"/>
                    <a:pt x="1198" y="1303"/>
                    <a:pt x="1210" y="1311"/>
                  </a:cubicBezTo>
                  <a:cubicBezTo>
                    <a:pt x="1224" y="1321"/>
                    <a:pt x="1239" y="1331"/>
                    <a:pt x="1253" y="1341"/>
                  </a:cubicBezTo>
                  <a:cubicBezTo>
                    <a:pt x="1338" y="1398"/>
                    <a:pt x="1416" y="1443"/>
                    <a:pt x="1488" y="1476"/>
                  </a:cubicBezTo>
                  <a:lnTo>
                    <a:pt x="200" y="1476"/>
                  </a:lnTo>
                  <a:cubicBezTo>
                    <a:pt x="89" y="1476"/>
                    <a:pt x="0" y="1566"/>
                    <a:pt x="0" y="1676"/>
                  </a:cubicBezTo>
                  <a:lnTo>
                    <a:pt x="0" y="3344"/>
                  </a:lnTo>
                  <a:cubicBezTo>
                    <a:pt x="0" y="3455"/>
                    <a:pt x="89" y="3544"/>
                    <a:pt x="200" y="3544"/>
                  </a:cubicBezTo>
                  <a:lnTo>
                    <a:pt x="403" y="3544"/>
                  </a:lnTo>
                  <a:lnTo>
                    <a:pt x="403" y="6460"/>
                  </a:lnTo>
                  <a:cubicBezTo>
                    <a:pt x="403" y="6571"/>
                    <a:pt x="493" y="6660"/>
                    <a:pt x="603" y="6660"/>
                  </a:cubicBezTo>
                  <a:lnTo>
                    <a:pt x="5116" y="6660"/>
                  </a:lnTo>
                  <a:cubicBezTo>
                    <a:pt x="5227" y="6660"/>
                    <a:pt x="5316" y="6571"/>
                    <a:pt x="5316" y="6460"/>
                  </a:cubicBezTo>
                  <a:lnTo>
                    <a:pt x="5316" y="3544"/>
                  </a:lnTo>
                  <a:lnTo>
                    <a:pt x="5520" y="3544"/>
                  </a:lnTo>
                  <a:cubicBezTo>
                    <a:pt x="5630" y="3544"/>
                    <a:pt x="5720" y="3455"/>
                    <a:pt x="5720" y="3344"/>
                  </a:cubicBezTo>
                  <a:lnTo>
                    <a:pt x="5720" y="1676"/>
                  </a:lnTo>
                  <a:cubicBezTo>
                    <a:pt x="5720" y="1566"/>
                    <a:pt x="5630" y="1476"/>
                    <a:pt x="5520" y="1476"/>
                  </a:cubicBezTo>
                  <a:close/>
                  <a:moveTo>
                    <a:pt x="3535" y="733"/>
                  </a:moveTo>
                  <a:cubicBezTo>
                    <a:pt x="3545" y="729"/>
                    <a:pt x="3553" y="736"/>
                    <a:pt x="3558" y="742"/>
                  </a:cubicBezTo>
                  <a:cubicBezTo>
                    <a:pt x="3631" y="836"/>
                    <a:pt x="3236" y="1522"/>
                    <a:pt x="3046" y="1436"/>
                  </a:cubicBezTo>
                  <a:cubicBezTo>
                    <a:pt x="2997" y="1341"/>
                    <a:pt x="3421" y="777"/>
                    <a:pt x="3535" y="733"/>
                  </a:cubicBezTo>
                  <a:close/>
                  <a:moveTo>
                    <a:pt x="2129" y="699"/>
                  </a:moveTo>
                  <a:cubicBezTo>
                    <a:pt x="2404" y="776"/>
                    <a:pt x="2594" y="1244"/>
                    <a:pt x="2674" y="1476"/>
                  </a:cubicBezTo>
                  <a:lnTo>
                    <a:pt x="2442" y="1476"/>
                  </a:lnTo>
                  <a:cubicBezTo>
                    <a:pt x="2175" y="1209"/>
                    <a:pt x="1610" y="552"/>
                    <a:pt x="2129" y="699"/>
                  </a:cubicBezTo>
                  <a:close/>
                  <a:moveTo>
                    <a:pt x="4916" y="6260"/>
                  </a:moveTo>
                  <a:lnTo>
                    <a:pt x="3480" y="6260"/>
                  </a:lnTo>
                  <a:lnTo>
                    <a:pt x="3480" y="3933"/>
                  </a:lnTo>
                  <a:cubicBezTo>
                    <a:pt x="3480" y="3822"/>
                    <a:pt x="3390" y="3733"/>
                    <a:pt x="3280" y="3733"/>
                  </a:cubicBezTo>
                  <a:lnTo>
                    <a:pt x="2440" y="3733"/>
                  </a:lnTo>
                  <a:cubicBezTo>
                    <a:pt x="2329" y="3733"/>
                    <a:pt x="2240" y="3822"/>
                    <a:pt x="2240" y="3933"/>
                  </a:cubicBezTo>
                  <a:lnTo>
                    <a:pt x="2240" y="6260"/>
                  </a:lnTo>
                  <a:lnTo>
                    <a:pt x="803" y="6260"/>
                  </a:lnTo>
                  <a:lnTo>
                    <a:pt x="803" y="3544"/>
                  </a:lnTo>
                  <a:lnTo>
                    <a:pt x="4916" y="3544"/>
                  </a:lnTo>
                  <a:lnTo>
                    <a:pt x="4916" y="6260"/>
                  </a:lnTo>
                  <a:close/>
                  <a:moveTo>
                    <a:pt x="5320" y="3144"/>
                  </a:moveTo>
                  <a:lnTo>
                    <a:pt x="5116" y="3144"/>
                  </a:lnTo>
                  <a:lnTo>
                    <a:pt x="603" y="3144"/>
                  </a:lnTo>
                  <a:lnTo>
                    <a:pt x="400" y="3144"/>
                  </a:lnTo>
                  <a:lnTo>
                    <a:pt x="400" y="1876"/>
                  </a:lnTo>
                  <a:lnTo>
                    <a:pt x="2240" y="1876"/>
                  </a:lnTo>
                  <a:lnTo>
                    <a:pt x="2240" y="2730"/>
                  </a:lnTo>
                  <a:cubicBezTo>
                    <a:pt x="2240" y="2841"/>
                    <a:pt x="2329" y="2930"/>
                    <a:pt x="2440" y="2930"/>
                  </a:cubicBezTo>
                  <a:lnTo>
                    <a:pt x="3280" y="2930"/>
                  </a:lnTo>
                  <a:cubicBezTo>
                    <a:pt x="3390" y="2930"/>
                    <a:pt x="3480" y="2841"/>
                    <a:pt x="3480" y="2730"/>
                  </a:cubicBezTo>
                  <a:lnTo>
                    <a:pt x="3480" y="1876"/>
                  </a:lnTo>
                  <a:lnTo>
                    <a:pt x="5320" y="1876"/>
                  </a:lnTo>
                  <a:lnTo>
                    <a:pt x="5320" y="31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350"/>
            </a:p>
          </p:txBody>
        </p:sp>
      </p:grpSp>
      <p:grpSp>
        <p:nvGrpSpPr>
          <p:cNvPr id="99" name="组合 98"/>
          <p:cNvGrpSpPr/>
          <p:nvPr/>
        </p:nvGrpSpPr>
        <p:grpSpPr>
          <a:xfrm>
            <a:off x="5387858" y="4068593"/>
            <a:ext cx="2716171" cy="670368"/>
            <a:chOff x="7554439" y="5063265"/>
            <a:chExt cx="3621561" cy="893823"/>
          </a:xfrm>
        </p:grpSpPr>
        <p:grpSp>
          <p:nvGrpSpPr>
            <p:cNvPr id="100" name="组合 99"/>
            <p:cNvGrpSpPr/>
            <p:nvPr/>
          </p:nvGrpSpPr>
          <p:grpSpPr>
            <a:xfrm>
              <a:off x="8080816" y="5063265"/>
              <a:ext cx="3095184" cy="893823"/>
              <a:chOff x="1375224" y="2532656"/>
              <a:chExt cx="3095184" cy="893823"/>
            </a:xfrm>
          </p:grpSpPr>
          <p:sp>
            <p:nvSpPr>
              <p:cNvPr id="101" name="文本框 100"/>
              <p:cNvSpPr txBox="1"/>
              <p:nvPr/>
            </p:nvSpPr>
            <p:spPr>
              <a:xfrm>
                <a:off x="1375224" y="2826193"/>
                <a:ext cx="3095184" cy="6002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30000"/>
                  </a:lnSpc>
                </a:pPr>
                <a:r>
                  <a:rPr lang="zh-CN" altLang="en-US" sz="9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阿里巴巴普惠体" panose="00020600040101010101" pitchFamily="18" charset="-122"/>
                    <a:ea typeface="阿里巴巴普惠体" panose="00020600040101010101" pitchFamily="18" charset="-122"/>
                    <a:sym typeface="+mn-ea"/>
                  </a:rPr>
                  <a:t>泄漏的内存通常是</a:t>
                </a:r>
                <a:r>
                  <a:rPr lang="en-US" altLang="zh-CN" sz="9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阿里巴巴普惠体" panose="00020600040101010101" pitchFamily="18" charset="-122"/>
                    <a:ea typeface="阿里巴巴普惠体" panose="00020600040101010101" pitchFamily="18" charset="-122"/>
                    <a:sym typeface="+mn-ea"/>
                  </a:rPr>
                  <a:t>“</a:t>
                </a:r>
                <a:r>
                  <a:rPr lang="zh-CN" altLang="en-US" sz="9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阿里巴巴普惠体" panose="00020600040101010101" pitchFamily="18" charset="-122"/>
                    <a:ea typeface="阿里巴巴普惠体" panose="00020600040101010101" pitchFamily="18" charset="-122"/>
                    <a:sym typeface="+mn-ea"/>
                  </a:rPr>
                  <a:t>一次写入，永不读取</a:t>
                </a:r>
                <a:r>
                  <a:rPr lang="en-US" altLang="zh-CN" sz="9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阿里巴巴普惠体" panose="00020600040101010101" pitchFamily="18" charset="-122"/>
                    <a:ea typeface="阿里巴巴普惠体" panose="00020600040101010101" pitchFamily="18" charset="-122"/>
                    <a:sym typeface="+mn-ea"/>
                  </a:rPr>
                  <a:t>”</a:t>
                </a:r>
                <a:r>
                  <a:rPr lang="zh-CN" altLang="en-US" sz="9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阿里巴巴普惠体" panose="00020600040101010101" pitchFamily="18" charset="-122"/>
                    <a:ea typeface="阿里巴巴普惠体" panose="00020600040101010101" pitchFamily="18" charset="-122"/>
                    <a:sym typeface="+mn-ea"/>
                  </a:rPr>
                  <a:t>。</a:t>
                </a:r>
                <a:endParaRPr lang="en-US" altLang="zh-CN" sz="9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</a:endParaRPr>
              </a:p>
            </p:txBody>
          </p:sp>
          <p:sp>
            <p:nvSpPr>
              <p:cNvPr id="102" name="文本框 101"/>
              <p:cNvSpPr txBox="1"/>
              <p:nvPr/>
            </p:nvSpPr>
            <p:spPr>
              <a:xfrm>
                <a:off x="1375224" y="2532656"/>
                <a:ext cx="3093720" cy="3793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zh-CN" altLang="en-US" sz="105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阿里巴巴普惠体" panose="00020600040101010101" pitchFamily="18" charset="-122"/>
                    <a:ea typeface="阿里巴巴普惠体" panose="00020600040101010101" pitchFamily="18" charset="-122"/>
                    <a:sym typeface="+mn-ea"/>
                  </a:rPr>
                  <a:t>不可变对象（数据不活跃特征）</a:t>
                </a:r>
                <a:endParaRPr lang="en-US" altLang="zh-CN" sz="105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</a:endParaRPr>
              </a:p>
            </p:txBody>
          </p:sp>
        </p:grpSp>
        <p:sp>
          <p:nvSpPr>
            <p:cNvPr id="103" name="meeting_115918"/>
            <p:cNvSpPr/>
            <p:nvPr/>
          </p:nvSpPr>
          <p:spPr>
            <a:xfrm>
              <a:off x="7554439" y="5177427"/>
              <a:ext cx="369256" cy="429325"/>
            </a:xfrm>
            <a:custGeom>
              <a:avLst/>
              <a:gdLst>
                <a:gd name="T0" fmla="*/ 4142 w 5720"/>
                <a:gd name="T1" fmla="*/ 1476 h 6660"/>
                <a:gd name="T2" fmla="*/ 4753 w 5720"/>
                <a:gd name="T3" fmla="*/ 1195 h 6660"/>
                <a:gd name="T4" fmla="*/ 4177 w 5720"/>
                <a:gd name="T5" fmla="*/ 1044 h 6660"/>
                <a:gd name="T6" fmla="*/ 3935 w 5720"/>
                <a:gd name="T7" fmla="*/ 1135 h 6660"/>
                <a:gd name="T8" fmla="*/ 2861 w 5720"/>
                <a:gd name="T9" fmla="*/ 1062 h 6660"/>
                <a:gd name="T10" fmla="*/ 1617 w 5720"/>
                <a:gd name="T11" fmla="*/ 1094 h 6660"/>
                <a:gd name="T12" fmla="*/ 967 w 5720"/>
                <a:gd name="T13" fmla="*/ 852 h 6660"/>
                <a:gd name="T14" fmla="*/ 1176 w 5720"/>
                <a:gd name="T15" fmla="*/ 1287 h 6660"/>
                <a:gd name="T16" fmla="*/ 1210 w 5720"/>
                <a:gd name="T17" fmla="*/ 1311 h 6660"/>
                <a:gd name="T18" fmla="*/ 1488 w 5720"/>
                <a:gd name="T19" fmla="*/ 1476 h 6660"/>
                <a:gd name="T20" fmla="*/ 0 w 5720"/>
                <a:gd name="T21" fmla="*/ 1676 h 6660"/>
                <a:gd name="T22" fmla="*/ 200 w 5720"/>
                <a:gd name="T23" fmla="*/ 3544 h 6660"/>
                <a:gd name="T24" fmla="*/ 403 w 5720"/>
                <a:gd name="T25" fmla="*/ 6460 h 6660"/>
                <a:gd name="T26" fmla="*/ 5116 w 5720"/>
                <a:gd name="T27" fmla="*/ 6660 h 6660"/>
                <a:gd name="T28" fmla="*/ 5316 w 5720"/>
                <a:gd name="T29" fmla="*/ 3544 h 6660"/>
                <a:gd name="T30" fmla="*/ 5720 w 5720"/>
                <a:gd name="T31" fmla="*/ 3344 h 6660"/>
                <a:gd name="T32" fmla="*/ 5520 w 5720"/>
                <a:gd name="T33" fmla="*/ 1476 h 6660"/>
                <a:gd name="T34" fmla="*/ 3558 w 5720"/>
                <a:gd name="T35" fmla="*/ 742 h 6660"/>
                <a:gd name="T36" fmla="*/ 3535 w 5720"/>
                <a:gd name="T37" fmla="*/ 733 h 6660"/>
                <a:gd name="T38" fmla="*/ 2674 w 5720"/>
                <a:gd name="T39" fmla="*/ 1476 h 6660"/>
                <a:gd name="T40" fmla="*/ 2129 w 5720"/>
                <a:gd name="T41" fmla="*/ 699 h 6660"/>
                <a:gd name="T42" fmla="*/ 3480 w 5720"/>
                <a:gd name="T43" fmla="*/ 6260 h 6660"/>
                <a:gd name="T44" fmla="*/ 3280 w 5720"/>
                <a:gd name="T45" fmla="*/ 3733 h 6660"/>
                <a:gd name="T46" fmla="*/ 2240 w 5720"/>
                <a:gd name="T47" fmla="*/ 3933 h 6660"/>
                <a:gd name="T48" fmla="*/ 803 w 5720"/>
                <a:gd name="T49" fmla="*/ 6260 h 6660"/>
                <a:gd name="T50" fmla="*/ 4916 w 5720"/>
                <a:gd name="T51" fmla="*/ 3544 h 6660"/>
                <a:gd name="T52" fmla="*/ 5320 w 5720"/>
                <a:gd name="T53" fmla="*/ 3144 h 6660"/>
                <a:gd name="T54" fmla="*/ 603 w 5720"/>
                <a:gd name="T55" fmla="*/ 3144 h 6660"/>
                <a:gd name="T56" fmla="*/ 400 w 5720"/>
                <a:gd name="T57" fmla="*/ 1876 h 6660"/>
                <a:gd name="T58" fmla="*/ 2240 w 5720"/>
                <a:gd name="T59" fmla="*/ 2730 h 6660"/>
                <a:gd name="T60" fmla="*/ 3280 w 5720"/>
                <a:gd name="T61" fmla="*/ 2930 h 6660"/>
                <a:gd name="T62" fmla="*/ 3480 w 5720"/>
                <a:gd name="T63" fmla="*/ 1876 h 6660"/>
                <a:gd name="T64" fmla="*/ 5320 w 5720"/>
                <a:gd name="T65" fmla="*/ 3144 h 6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5720" h="6660">
                  <a:moveTo>
                    <a:pt x="5520" y="1476"/>
                  </a:moveTo>
                  <a:lnTo>
                    <a:pt x="4142" y="1476"/>
                  </a:lnTo>
                  <a:cubicBezTo>
                    <a:pt x="4263" y="1432"/>
                    <a:pt x="4426" y="1384"/>
                    <a:pt x="4546" y="1388"/>
                  </a:cubicBezTo>
                  <a:cubicBezTo>
                    <a:pt x="4657" y="1392"/>
                    <a:pt x="4749" y="1305"/>
                    <a:pt x="4753" y="1195"/>
                  </a:cubicBezTo>
                  <a:cubicBezTo>
                    <a:pt x="4757" y="1085"/>
                    <a:pt x="4670" y="992"/>
                    <a:pt x="4560" y="988"/>
                  </a:cubicBezTo>
                  <a:cubicBezTo>
                    <a:pt x="4435" y="984"/>
                    <a:pt x="4298" y="1010"/>
                    <a:pt x="4177" y="1044"/>
                  </a:cubicBezTo>
                  <a:cubicBezTo>
                    <a:pt x="4169" y="1046"/>
                    <a:pt x="4159" y="1049"/>
                    <a:pt x="4149" y="1052"/>
                  </a:cubicBezTo>
                  <a:cubicBezTo>
                    <a:pt x="4128" y="1056"/>
                    <a:pt x="4020" y="1088"/>
                    <a:pt x="3935" y="1135"/>
                  </a:cubicBezTo>
                  <a:cubicBezTo>
                    <a:pt x="3985" y="866"/>
                    <a:pt x="3920" y="704"/>
                    <a:pt x="3920" y="704"/>
                  </a:cubicBezTo>
                  <a:cubicBezTo>
                    <a:pt x="3643" y="0"/>
                    <a:pt x="3057" y="719"/>
                    <a:pt x="2861" y="1062"/>
                  </a:cubicBezTo>
                  <a:cubicBezTo>
                    <a:pt x="2665" y="687"/>
                    <a:pt x="2264" y="112"/>
                    <a:pt x="1772" y="453"/>
                  </a:cubicBezTo>
                  <a:cubicBezTo>
                    <a:pt x="1503" y="629"/>
                    <a:pt x="1506" y="867"/>
                    <a:pt x="1617" y="1094"/>
                  </a:cubicBezTo>
                  <a:cubicBezTo>
                    <a:pt x="1507" y="1036"/>
                    <a:pt x="1367" y="939"/>
                    <a:pt x="1249" y="835"/>
                  </a:cubicBezTo>
                  <a:cubicBezTo>
                    <a:pt x="1166" y="762"/>
                    <a:pt x="1040" y="770"/>
                    <a:pt x="967" y="852"/>
                  </a:cubicBezTo>
                  <a:cubicBezTo>
                    <a:pt x="893" y="935"/>
                    <a:pt x="901" y="1062"/>
                    <a:pt x="984" y="1135"/>
                  </a:cubicBezTo>
                  <a:cubicBezTo>
                    <a:pt x="988" y="1138"/>
                    <a:pt x="1066" y="1207"/>
                    <a:pt x="1176" y="1287"/>
                  </a:cubicBezTo>
                  <a:cubicBezTo>
                    <a:pt x="1176" y="1287"/>
                    <a:pt x="1176" y="1287"/>
                    <a:pt x="1177" y="1287"/>
                  </a:cubicBezTo>
                  <a:cubicBezTo>
                    <a:pt x="1187" y="1295"/>
                    <a:pt x="1198" y="1303"/>
                    <a:pt x="1210" y="1311"/>
                  </a:cubicBezTo>
                  <a:cubicBezTo>
                    <a:pt x="1224" y="1321"/>
                    <a:pt x="1239" y="1331"/>
                    <a:pt x="1253" y="1341"/>
                  </a:cubicBezTo>
                  <a:cubicBezTo>
                    <a:pt x="1338" y="1398"/>
                    <a:pt x="1416" y="1443"/>
                    <a:pt x="1488" y="1476"/>
                  </a:cubicBezTo>
                  <a:lnTo>
                    <a:pt x="200" y="1476"/>
                  </a:lnTo>
                  <a:cubicBezTo>
                    <a:pt x="89" y="1476"/>
                    <a:pt x="0" y="1566"/>
                    <a:pt x="0" y="1676"/>
                  </a:cubicBezTo>
                  <a:lnTo>
                    <a:pt x="0" y="3344"/>
                  </a:lnTo>
                  <a:cubicBezTo>
                    <a:pt x="0" y="3455"/>
                    <a:pt x="89" y="3544"/>
                    <a:pt x="200" y="3544"/>
                  </a:cubicBezTo>
                  <a:lnTo>
                    <a:pt x="403" y="3544"/>
                  </a:lnTo>
                  <a:lnTo>
                    <a:pt x="403" y="6460"/>
                  </a:lnTo>
                  <a:cubicBezTo>
                    <a:pt x="403" y="6571"/>
                    <a:pt x="493" y="6660"/>
                    <a:pt x="603" y="6660"/>
                  </a:cubicBezTo>
                  <a:lnTo>
                    <a:pt x="5116" y="6660"/>
                  </a:lnTo>
                  <a:cubicBezTo>
                    <a:pt x="5227" y="6660"/>
                    <a:pt x="5316" y="6571"/>
                    <a:pt x="5316" y="6460"/>
                  </a:cubicBezTo>
                  <a:lnTo>
                    <a:pt x="5316" y="3544"/>
                  </a:lnTo>
                  <a:lnTo>
                    <a:pt x="5520" y="3544"/>
                  </a:lnTo>
                  <a:cubicBezTo>
                    <a:pt x="5630" y="3544"/>
                    <a:pt x="5720" y="3455"/>
                    <a:pt x="5720" y="3344"/>
                  </a:cubicBezTo>
                  <a:lnTo>
                    <a:pt x="5720" y="1676"/>
                  </a:lnTo>
                  <a:cubicBezTo>
                    <a:pt x="5720" y="1566"/>
                    <a:pt x="5630" y="1476"/>
                    <a:pt x="5520" y="1476"/>
                  </a:cubicBezTo>
                  <a:close/>
                  <a:moveTo>
                    <a:pt x="3535" y="733"/>
                  </a:moveTo>
                  <a:cubicBezTo>
                    <a:pt x="3545" y="729"/>
                    <a:pt x="3553" y="736"/>
                    <a:pt x="3558" y="742"/>
                  </a:cubicBezTo>
                  <a:cubicBezTo>
                    <a:pt x="3631" y="836"/>
                    <a:pt x="3236" y="1522"/>
                    <a:pt x="3046" y="1436"/>
                  </a:cubicBezTo>
                  <a:cubicBezTo>
                    <a:pt x="2997" y="1341"/>
                    <a:pt x="3421" y="777"/>
                    <a:pt x="3535" y="733"/>
                  </a:cubicBezTo>
                  <a:close/>
                  <a:moveTo>
                    <a:pt x="2129" y="699"/>
                  </a:moveTo>
                  <a:cubicBezTo>
                    <a:pt x="2404" y="776"/>
                    <a:pt x="2594" y="1244"/>
                    <a:pt x="2674" y="1476"/>
                  </a:cubicBezTo>
                  <a:lnTo>
                    <a:pt x="2442" y="1476"/>
                  </a:lnTo>
                  <a:cubicBezTo>
                    <a:pt x="2175" y="1209"/>
                    <a:pt x="1610" y="552"/>
                    <a:pt x="2129" y="699"/>
                  </a:cubicBezTo>
                  <a:close/>
                  <a:moveTo>
                    <a:pt x="4916" y="6260"/>
                  </a:moveTo>
                  <a:lnTo>
                    <a:pt x="3480" y="6260"/>
                  </a:lnTo>
                  <a:lnTo>
                    <a:pt x="3480" y="3933"/>
                  </a:lnTo>
                  <a:cubicBezTo>
                    <a:pt x="3480" y="3822"/>
                    <a:pt x="3390" y="3733"/>
                    <a:pt x="3280" y="3733"/>
                  </a:cubicBezTo>
                  <a:lnTo>
                    <a:pt x="2440" y="3733"/>
                  </a:lnTo>
                  <a:cubicBezTo>
                    <a:pt x="2329" y="3733"/>
                    <a:pt x="2240" y="3822"/>
                    <a:pt x="2240" y="3933"/>
                  </a:cubicBezTo>
                  <a:lnTo>
                    <a:pt x="2240" y="6260"/>
                  </a:lnTo>
                  <a:lnTo>
                    <a:pt x="803" y="6260"/>
                  </a:lnTo>
                  <a:lnTo>
                    <a:pt x="803" y="3544"/>
                  </a:lnTo>
                  <a:lnTo>
                    <a:pt x="4916" y="3544"/>
                  </a:lnTo>
                  <a:lnTo>
                    <a:pt x="4916" y="6260"/>
                  </a:lnTo>
                  <a:close/>
                  <a:moveTo>
                    <a:pt x="5320" y="3144"/>
                  </a:moveTo>
                  <a:lnTo>
                    <a:pt x="5116" y="3144"/>
                  </a:lnTo>
                  <a:lnTo>
                    <a:pt x="603" y="3144"/>
                  </a:lnTo>
                  <a:lnTo>
                    <a:pt x="400" y="3144"/>
                  </a:lnTo>
                  <a:lnTo>
                    <a:pt x="400" y="1876"/>
                  </a:lnTo>
                  <a:lnTo>
                    <a:pt x="2240" y="1876"/>
                  </a:lnTo>
                  <a:lnTo>
                    <a:pt x="2240" y="2730"/>
                  </a:lnTo>
                  <a:cubicBezTo>
                    <a:pt x="2240" y="2841"/>
                    <a:pt x="2329" y="2930"/>
                    <a:pt x="2440" y="2930"/>
                  </a:cubicBezTo>
                  <a:lnTo>
                    <a:pt x="3280" y="2930"/>
                  </a:lnTo>
                  <a:cubicBezTo>
                    <a:pt x="3390" y="2930"/>
                    <a:pt x="3480" y="2841"/>
                    <a:pt x="3480" y="2730"/>
                  </a:cubicBezTo>
                  <a:lnTo>
                    <a:pt x="3480" y="1876"/>
                  </a:lnTo>
                  <a:lnTo>
                    <a:pt x="5320" y="1876"/>
                  </a:lnTo>
                  <a:lnTo>
                    <a:pt x="5320" y="31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350"/>
            </a:p>
          </p:txBody>
        </p:sp>
      </p:grpSp>
      <p:sp>
        <p:nvSpPr>
          <p:cNvPr id="23" name="矩形 22"/>
          <p:cNvSpPr/>
          <p:nvPr>
            <p:custDataLst>
              <p:tags r:id="rId5"/>
            </p:custDataLst>
          </p:nvPr>
        </p:nvSpPr>
        <p:spPr bwMode="auto">
          <a:xfrm>
            <a:off x="635" y="0"/>
            <a:ext cx="1754505" cy="47561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600" b="1" dirty="0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  <p:sp>
        <p:nvSpPr>
          <p:cNvPr id="24" name="矩形 23"/>
          <p:cNvSpPr/>
          <p:nvPr>
            <p:custDataLst>
              <p:tags r:id="rId6"/>
            </p:custDataLst>
          </p:nvPr>
        </p:nvSpPr>
        <p:spPr bwMode="auto">
          <a:xfrm>
            <a:off x="1773555" y="0"/>
            <a:ext cx="2404745" cy="475615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600" b="1" dirty="0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  <p:sp>
        <p:nvSpPr>
          <p:cNvPr id="26" name="矩形 25"/>
          <p:cNvSpPr/>
          <p:nvPr>
            <p:custDataLst>
              <p:tags r:id="rId7"/>
            </p:custDataLst>
          </p:nvPr>
        </p:nvSpPr>
        <p:spPr bwMode="auto">
          <a:xfrm>
            <a:off x="4238625" y="0"/>
            <a:ext cx="2366010" cy="475615"/>
          </a:xfrm>
          <a:prstGeom prst="rect">
            <a:avLst/>
          </a:prstGeom>
          <a:gradFill>
            <a:gsLst>
              <a:gs pos="50000">
                <a:schemeClr val="accent1"/>
              </a:gs>
              <a:gs pos="0">
                <a:schemeClr val="accent1">
                  <a:lumMod val="25000"/>
                  <a:lumOff val="75000"/>
                </a:schemeClr>
              </a:gs>
              <a:gs pos="100000">
                <a:schemeClr val="accent1">
                  <a:lumMod val="85000"/>
                </a:schemeClr>
              </a:gs>
            </a:gsLst>
            <a:lin ang="54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600" b="1" dirty="0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  <p:sp>
        <p:nvSpPr>
          <p:cNvPr id="27" name="矩形 26"/>
          <p:cNvSpPr/>
          <p:nvPr>
            <p:custDataLst>
              <p:tags r:id="rId8"/>
            </p:custDataLst>
          </p:nvPr>
        </p:nvSpPr>
        <p:spPr bwMode="auto">
          <a:xfrm>
            <a:off x="6659245" y="0"/>
            <a:ext cx="2484120" cy="475615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600" dirty="0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  <p:sp>
        <p:nvSpPr>
          <p:cNvPr id="28" name="文本框 20"/>
          <p:cNvSpPr txBox="1"/>
          <p:nvPr/>
        </p:nvSpPr>
        <p:spPr>
          <a:xfrm>
            <a:off x="2447606" y="69138"/>
            <a:ext cx="1135688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KFENCE</a:t>
            </a:r>
          </a:p>
        </p:txBody>
      </p:sp>
      <p:sp>
        <p:nvSpPr>
          <p:cNvPr id="29" name="文本框 20"/>
          <p:cNvSpPr txBox="1"/>
          <p:nvPr/>
        </p:nvSpPr>
        <p:spPr>
          <a:xfrm>
            <a:off x="4936171" y="69138"/>
            <a:ext cx="1135688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HMMLEAK</a:t>
            </a:r>
          </a:p>
        </p:txBody>
      </p:sp>
      <p:sp>
        <p:nvSpPr>
          <p:cNvPr id="30" name="文本框 20"/>
          <p:cNvSpPr txBox="1"/>
          <p:nvPr/>
        </p:nvSpPr>
        <p:spPr>
          <a:xfrm>
            <a:off x="7259955" y="69215"/>
            <a:ext cx="128714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sz="160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工业级验证</a:t>
            </a:r>
          </a:p>
        </p:txBody>
      </p:sp>
      <p:sp>
        <p:nvSpPr>
          <p:cNvPr id="31" name="文本框 30"/>
          <p:cNvSpPr txBox="1"/>
          <p:nvPr/>
        </p:nvSpPr>
        <p:spPr>
          <a:xfrm>
            <a:off x="-24765" y="35560"/>
            <a:ext cx="1746250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400" b="1" dirty="0">
                <a:latin typeface="Arial" panose="020B0604020202020204" pitchFamily="34" charset="0"/>
                <a:ea typeface="微软雅黑" panose="020B0503020204020204" pitchFamily="34" charset="-122"/>
              </a:rPr>
              <a:t>核心技术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矩形 46"/>
          <p:cNvSpPr>
            <a:spLocks noChangeArrowheads="1"/>
          </p:cNvSpPr>
          <p:nvPr/>
        </p:nvSpPr>
        <p:spPr bwMode="auto">
          <a:xfrm>
            <a:off x="1037590" y="505460"/>
            <a:ext cx="3263900" cy="57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30000"/>
              </a:lnSpc>
            </a:pP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HMMLEAK</a:t>
            </a: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整体框架</a:t>
            </a:r>
          </a:p>
        </p:txBody>
      </p:sp>
      <p:sp>
        <p:nvSpPr>
          <p:cNvPr id="104" name="矩形: 圆角 103"/>
          <p:cNvSpPr/>
          <p:nvPr/>
        </p:nvSpPr>
        <p:spPr>
          <a:xfrm>
            <a:off x="-370858" y="573631"/>
            <a:ext cx="1260420" cy="431505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阿里巴巴普惠体" panose="00020600040101010101" pitchFamily="18" charset="-122"/>
            </a:endParaRPr>
          </a:p>
        </p:txBody>
      </p:sp>
      <p:pic>
        <p:nvPicPr>
          <p:cNvPr id="3" name="图片 2" descr="hmmleak整体.drawi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0200" y="1766570"/>
            <a:ext cx="4810125" cy="2466975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5618480" y="1273810"/>
            <a:ext cx="3230880" cy="33718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zh-CN" altLang="en-US" sz="16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数据追踪层（收集内存分配信息）</a:t>
            </a:r>
          </a:p>
        </p:txBody>
      </p:sp>
      <p:sp>
        <p:nvSpPr>
          <p:cNvPr id="8" name="下箭头 7"/>
          <p:cNvSpPr/>
          <p:nvPr/>
        </p:nvSpPr>
        <p:spPr>
          <a:xfrm>
            <a:off x="7216775" y="1669415"/>
            <a:ext cx="99060" cy="469900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5516880" y="2129155"/>
            <a:ext cx="3434080" cy="33718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zh-CN" altLang="en-US" sz="16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特征分析层（多维度分析泄漏概率）</a:t>
            </a:r>
          </a:p>
        </p:txBody>
      </p:sp>
      <p:sp>
        <p:nvSpPr>
          <p:cNvPr id="10" name="下箭头 9"/>
          <p:cNvSpPr/>
          <p:nvPr/>
        </p:nvSpPr>
        <p:spPr>
          <a:xfrm>
            <a:off x="7216775" y="2507615"/>
            <a:ext cx="99060" cy="469900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720080" y="2990215"/>
            <a:ext cx="3027680" cy="33718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zh-CN" altLang="en-US" sz="16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决策评分引擎（划分风险等级）</a:t>
            </a:r>
          </a:p>
        </p:txBody>
      </p:sp>
      <p:sp>
        <p:nvSpPr>
          <p:cNvPr id="12" name="下箭头 11"/>
          <p:cNvSpPr/>
          <p:nvPr/>
        </p:nvSpPr>
        <p:spPr>
          <a:xfrm>
            <a:off x="7216775" y="3380105"/>
            <a:ext cx="99060" cy="469900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618480" y="3816985"/>
            <a:ext cx="3230880" cy="33718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zh-CN" altLang="en-US" sz="16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报告生成层（提供系列用户命令）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1376680" y="1273810"/>
            <a:ext cx="2971165" cy="304165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>
                <a:latin typeface="宋体" panose="02010600030101010101" pitchFamily="2" charset="-122"/>
                <a:ea typeface="宋体" panose="02010600030101010101" pitchFamily="2" charset="-122"/>
              </a:rPr>
              <a:t>高内聚、低耦合的模块化设计</a:t>
            </a:r>
          </a:p>
        </p:txBody>
      </p:sp>
      <p:sp>
        <p:nvSpPr>
          <p:cNvPr id="5" name="矩形 4"/>
          <p:cNvSpPr/>
          <p:nvPr>
            <p:custDataLst>
              <p:tags r:id="rId1"/>
            </p:custDataLst>
          </p:nvPr>
        </p:nvSpPr>
        <p:spPr bwMode="auto">
          <a:xfrm>
            <a:off x="635" y="0"/>
            <a:ext cx="1754505" cy="47561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600" b="1" dirty="0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 bwMode="auto">
          <a:xfrm>
            <a:off x="1773555" y="0"/>
            <a:ext cx="2404745" cy="475615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600" b="1" dirty="0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>
            <p:custDataLst>
              <p:tags r:id="rId3"/>
            </p:custDataLst>
          </p:nvPr>
        </p:nvSpPr>
        <p:spPr bwMode="auto">
          <a:xfrm>
            <a:off x="4238625" y="0"/>
            <a:ext cx="2366010" cy="475615"/>
          </a:xfrm>
          <a:prstGeom prst="rect">
            <a:avLst/>
          </a:prstGeom>
          <a:gradFill>
            <a:gsLst>
              <a:gs pos="50000">
                <a:schemeClr val="accent1"/>
              </a:gs>
              <a:gs pos="0">
                <a:schemeClr val="accent1">
                  <a:lumMod val="25000"/>
                  <a:lumOff val="75000"/>
                </a:schemeClr>
              </a:gs>
              <a:gs pos="100000">
                <a:schemeClr val="accent1">
                  <a:lumMod val="85000"/>
                </a:schemeClr>
              </a:gs>
            </a:gsLst>
            <a:lin ang="54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600" b="1" dirty="0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  <p:sp>
        <p:nvSpPr>
          <p:cNvPr id="15" name="矩形 14"/>
          <p:cNvSpPr/>
          <p:nvPr>
            <p:custDataLst>
              <p:tags r:id="rId4"/>
            </p:custDataLst>
          </p:nvPr>
        </p:nvSpPr>
        <p:spPr bwMode="auto">
          <a:xfrm>
            <a:off x="6659245" y="0"/>
            <a:ext cx="2484120" cy="475615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600" dirty="0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  <p:sp>
        <p:nvSpPr>
          <p:cNvPr id="16" name="文本框 20"/>
          <p:cNvSpPr txBox="1"/>
          <p:nvPr/>
        </p:nvSpPr>
        <p:spPr>
          <a:xfrm>
            <a:off x="2447606" y="69138"/>
            <a:ext cx="1135688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KFENCE</a:t>
            </a:r>
          </a:p>
        </p:txBody>
      </p:sp>
      <p:sp>
        <p:nvSpPr>
          <p:cNvPr id="17" name="文本框 20"/>
          <p:cNvSpPr txBox="1"/>
          <p:nvPr/>
        </p:nvSpPr>
        <p:spPr>
          <a:xfrm>
            <a:off x="4936171" y="69138"/>
            <a:ext cx="1135688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HMMLEAK</a:t>
            </a:r>
          </a:p>
        </p:txBody>
      </p:sp>
      <p:sp>
        <p:nvSpPr>
          <p:cNvPr id="18" name="文本框 20"/>
          <p:cNvSpPr txBox="1"/>
          <p:nvPr/>
        </p:nvSpPr>
        <p:spPr>
          <a:xfrm>
            <a:off x="7259955" y="69215"/>
            <a:ext cx="128714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sz="160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工业级验证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-24765" y="35560"/>
            <a:ext cx="1746250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400" b="1" dirty="0">
                <a:latin typeface="Arial" panose="020B0604020202020204" pitchFamily="34" charset="0"/>
                <a:ea typeface="微软雅黑" panose="020B0503020204020204" pitchFamily="34" charset="-122"/>
              </a:rPr>
              <a:t>核心技术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46"/>
          <p:cNvSpPr>
            <a:spLocks noChangeArrowheads="1"/>
          </p:cNvSpPr>
          <p:nvPr/>
        </p:nvSpPr>
        <p:spPr bwMode="auto">
          <a:xfrm>
            <a:off x="1037590" y="518160"/>
            <a:ext cx="2515235" cy="57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30000"/>
              </a:lnSpc>
            </a:pP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高效的追踪架构</a:t>
            </a:r>
          </a:p>
        </p:txBody>
      </p:sp>
      <p:sp>
        <p:nvSpPr>
          <p:cNvPr id="21" name="矩形: 圆角 20"/>
          <p:cNvSpPr/>
          <p:nvPr/>
        </p:nvSpPr>
        <p:spPr>
          <a:xfrm>
            <a:off x="-370858" y="586331"/>
            <a:ext cx="1260420" cy="431505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阿里巴巴普惠体" panose="00020600040101010101" pitchFamily="18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59435" y="1771015"/>
            <a:ext cx="347154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ym typeface="+mn-ea"/>
              </a:rPr>
              <a:t> </a:t>
            </a:r>
            <a:r>
              <a:rPr lang="zh-CN" altLang="en-US" sz="1200">
                <a:sym typeface="+mn-ea"/>
              </a:rPr>
              <a:t>系统采用了由</a:t>
            </a:r>
            <a:r>
              <a:rPr lang="zh-CN" altLang="en-US" sz="1200" b="1">
                <a:sym typeface="+mn-ea"/>
              </a:rPr>
              <a:t>进程哈希表</a:t>
            </a:r>
            <a:r>
              <a:rPr lang="zh-CN" altLang="en-US" sz="1200">
                <a:sym typeface="+mn-ea"/>
              </a:rPr>
              <a:t>、进程专属的</a:t>
            </a:r>
            <a:r>
              <a:rPr lang="zh-CN" altLang="en-US" sz="1200" b="1">
                <a:sym typeface="+mn-ea"/>
              </a:rPr>
              <a:t>内存块哈希表</a:t>
            </a:r>
            <a:r>
              <a:rPr lang="zh-CN" altLang="en-US" sz="1200">
                <a:sym typeface="+mn-ea"/>
              </a:rPr>
              <a:t>和全局的地址</a:t>
            </a:r>
            <a:r>
              <a:rPr lang="en-US" altLang="zh-CN" sz="1200">
                <a:sym typeface="+mn-ea"/>
              </a:rPr>
              <a:t>-PID</a:t>
            </a:r>
            <a:r>
              <a:rPr lang="zh-CN" altLang="en-US" sz="1200" b="1">
                <a:sym typeface="+mn-ea"/>
              </a:rPr>
              <a:t>索引哈希表</a:t>
            </a:r>
            <a:r>
              <a:rPr lang="zh-CN" altLang="en-US" sz="1200">
                <a:sym typeface="+mn-ea"/>
              </a:rPr>
              <a:t>构成的</a:t>
            </a:r>
            <a:r>
              <a:rPr lang="zh-CN" altLang="en-US" sz="1200" b="1">
                <a:sym typeface="+mn-ea"/>
              </a:rPr>
              <a:t>三级追踪架构 。</a:t>
            </a:r>
            <a:endParaRPr lang="zh-CN" altLang="en-US" sz="1200" b="1" dirty="0"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409700" y="3043555"/>
            <a:ext cx="1933575" cy="414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sym typeface="+mn-ea"/>
              </a:rPr>
              <a:t>实现</a:t>
            </a:r>
            <a:r>
              <a:rPr lang="en-US" altLang="zh-CN" b="1">
                <a:sym typeface="+mn-ea"/>
              </a:rPr>
              <a:t>O</a:t>
            </a:r>
            <a:r>
              <a:rPr lang="zh-CN" altLang="en-US" b="1">
                <a:sym typeface="+mn-ea"/>
              </a:rPr>
              <a:t>（</a:t>
            </a:r>
            <a:r>
              <a:rPr lang="en-US" altLang="zh-CN" b="1">
                <a:sym typeface="+mn-ea"/>
              </a:rPr>
              <a:t>1</a:t>
            </a:r>
            <a:r>
              <a:rPr lang="zh-CN" altLang="en-US" b="1">
                <a:sym typeface="+mn-ea"/>
              </a:rPr>
              <a:t>）</a:t>
            </a:r>
            <a:r>
              <a:rPr lang="zh-CN" altLang="en-US">
                <a:sym typeface="+mn-ea"/>
              </a:rPr>
              <a:t>快速查找</a:t>
            </a:r>
            <a:endParaRPr lang="zh-CN" altLang="en-US" b="1" dirty="0"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71010" y="1046480"/>
            <a:ext cx="4411980" cy="3749040"/>
          </a:xfrm>
          <a:prstGeom prst="rect">
            <a:avLst/>
          </a:prstGeom>
        </p:spPr>
      </p:pic>
      <p:sp>
        <p:nvSpPr>
          <p:cNvPr id="14" name="矩形 13"/>
          <p:cNvSpPr/>
          <p:nvPr>
            <p:custDataLst>
              <p:tags r:id="rId1"/>
            </p:custDataLst>
          </p:nvPr>
        </p:nvSpPr>
        <p:spPr bwMode="auto">
          <a:xfrm>
            <a:off x="635" y="0"/>
            <a:ext cx="1754505" cy="47561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600" b="1" dirty="0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  <p:sp>
        <p:nvSpPr>
          <p:cNvPr id="15" name="矩形 14"/>
          <p:cNvSpPr/>
          <p:nvPr>
            <p:custDataLst>
              <p:tags r:id="rId2"/>
            </p:custDataLst>
          </p:nvPr>
        </p:nvSpPr>
        <p:spPr bwMode="auto">
          <a:xfrm>
            <a:off x="1773555" y="0"/>
            <a:ext cx="2404745" cy="475615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600" b="1" dirty="0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  <p:sp>
        <p:nvSpPr>
          <p:cNvPr id="16" name="矩形 15"/>
          <p:cNvSpPr/>
          <p:nvPr>
            <p:custDataLst>
              <p:tags r:id="rId3"/>
            </p:custDataLst>
          </p:nvPr>
        </p:nvSpPr>
        <p:spPr bwMode="auto">
          <a:xfrm>
            <a:off x="4238625" y="0"/>
            <a:ext cx="2366010" cy="475615"/>
          </a:xfrm>
          <a:prstGeom prst="rect">
            <a:avLst/>
          </a:prstGeom>
          <a:gradFill>
            <a:gsLst>
              <a:gs pos="50000">
                <a:schemeClr val="accent1"/>
              </a:gs>
              <a:gs pos="0">
                <a:schemeClr val="accent1">
                  <a:lumMod val="25000"/>
                  <a:lumOff val="75000"/>
                </a:schemeClr>
              </a:gs>
              <a:gs pos="100000">
                <a:schemeClr val="accent1">
                  <a:lumMod val="85000"/>
                </a:schemeClr>
              </a:gs>
            </a:gsLst>
            <a:lin ang="54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600" b="1" dirty="0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  <p:sp>
        <p:nvSpPr>
          <p:cNvPr id="17" name="矩形 16"/>
          <p:cNvSpPr/>
          <p:nvPr>
            <p:custDataLst>
              <p:tags r:id="rId4"/>
            </p:custDataLst>
          </p:nvPr>
        </p:nvSpPr>
        <p:spPr bwMode="auto">
          <a:xfrm>
            <a:off x="6659245" y="0"/>
            <a:ext cx="2484120" cy="475615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600" dirty="0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  <p:sp>
        <p:nvSpPr>
          <p:cNvPr id="18" name="文本框 20"/>
          <p:cNvSpPr txBox="1"/>
          <p:nvPr/>
        </p:nvSpPr>
        <p:spPr>
          <a:xfrm>
            <a:off x="2447606" y="69138"/>
            <a:ext cx="1135688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KFENCE</a:t>
            </a:r>
          </a:p>
        </p:txBody>
      </p:sp>
      <p:sp>
        <p:nvSpPr>
          <p:cNvPr id="19" name="文本框 20"/>
          <p:cNvSpPr txBox="1"/>
          <p:nvPr/>
        </p:nvSpPr>
        <p:spPr>
          <a:xfrm>
            <a:off x="4936171" y="69138"/>
            <a:ext cx="1135688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HMMLEAK</a:t>
            </a:r>
          </a:p>
        </p:txBody>
      </p:sp>
      <p:sp>
        <p:nvSpPr>
          <p:cNvPr id="22" name="文本框 20"/>
          <p:cNvSpPr txBox="1"/>
          <p:nvPr/>
        </p:nvSpPr>
        <p:spPr>
          <a:xfrm>
            <a:off x="7259955" y="69215"/>
            <a:ext cx="128714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sz="160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工业级验证</a:t>
            </a:r>
          </a:p>
        </p:txBody>
      </p:sp>
      <p:sp>
        <p:nvSpPr>
          <p:cNvPr id="34" name="文本框 33"/>
          <p:cNvSpPr txBox="1"/>
          <p:nvPr/>
        </p:nvSpPr>
        <p:spPr>
          <a:xfrm>
            <a:off x="-24765" y="35560"/>
            <a:ext cx="1746250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400" b="1" dirty="0">
                <a:latin typeface="Arial" panose="020B0604020202020204" pitchFamily="34" charset="0"/>
                <a:ea typeface="微软雅黑" panose="020B0503020204020204" pitchFamily="34" charset="-122"/>
              </a:rPr>
              <a:t>核心技术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: 圆角 2"/>
          <p:cNvSpPr/>
          <p:nvPr/>
        </p:nvSpPr>
        <p:spPr>
          <a:xfrm>
            <a:off x="4502150" y="2123440"/>
            <a:ext cx="4361180" cy="2281555"/>
          </a:xfrm>
          <a:prstGeom prst="roundRect">
            <a:avLst>
              <a:gd name="adj" fmla="val 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46"/>
          <p:cNvSpPr>
            <a:spLocks noChangeArrowheads="1"/>
          </p:cNvSpPr>
          <p:nvPr/>
        </p:nvSpPr>
        <p:spPr bwMode="auto">
          <a:xfrm>
            <a:off x="1037590" y="505460"/>
            <a:ext cx="3458210" cy="57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30000"/>
              </a:lnSpc>
            </a:pP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极致的易用性与灵活性</a:t>
            </a:r>
          </a:p>
        </p:txBody>
      </p:sp>
      <p:sp>
        <p:nvSpPr>
          <p:cNvPr id="21" name="矩形: 圆角 20"/>
          <p:cNvSpPr/>
          <p:nvPr/>
        </p:nvSpPr>
        <p:spPr>
          <a:xfrm>
            <a:off x="-370858" y="573631"/>
            <a:ext cx="1260420" cy="431505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阿里巴巴普惠体" panose="00020600040101010101" pitchFamily="18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97180" y="1174750"/>
            <a:ext cx="1271270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/>
              <a:t>多场景模型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4552950" y="1201420"/>
            <a:ext cx="1102995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/>
              <a:t>用户命令</a:t>
            </a:r>
          </a:p>
        </p:txBody>
      </p:sp>
      <p:sp>
        <p:nvSpPr>
          <p:cNvPr id="82" name="椭圆 81"/>
          <p:cNvSpPr/>
          <p:nvPr>
            <p:custDataLst>
              <p:tags r:id="rId1"/>
            </p:custDataLst>
          </p:nvPr>
        </p:nvSpPr>
        <p:spPr>
          <a:xfrm>
            <a:off x="194506" y="2219908"/>
            <a:ext cx="305494" cy="30549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/>
          </a:p>
        </p:txBody>
      </p:sp>
      <p:grpSp>
        <p:nvGrpSpPr>
          <p:cNvPr id="84" name="组合 83"/>
          <p:cNvGrpSpPr/>
          <p:nvPr>
            <p:custDataLst>
              <p:tags r:id="rId2"/>
            </p:custDataLst>
          </p:nvPr>
        </p:nvGrpSpPr>
        <p:grpSpPr>
          <a:xfrm>
            <a:off x="501194" y="2044736"/>
            <a:ext cx="1505136" cy="637012"/>
            <a:chOff x="1375225" y="2239000"/>
            <a:chExt cx="2006848" cy="849349"/>
          </a:xfrm>
        </p:grpSpPr>
        <p:sp>
          <p:nvSpPr>
            <p:cNvPr id="86" name="文本框 85"/>
            <p:cNvSpPr txBox="1"/>
            <p:nvPr>
              <p:custDataLst>
                <p:tags r:id="rId22"/>
              </p:custDataLst>
            </p:nvPr>
          </p:nvSpPr>
          <p:spPr>
            <a:xfrm>
              <a:off x="1375225" y="2489496"/>
              <a:ext cx="2006848" cy="3793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>
                <a:lnSpc>
                  <a:spcPct val="120000"/>
                </a:lnSpc>
              </a:pPr>
              <a:r>
                <a:rPr lang="zh-CN" altLang="en-US" sz="105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</a:rPr>
                <a:t>均衡模式</a:t>
              </a:r>
              <a:endParaRPr lang="en-US" altLang="zh-CN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endParaRPr>
            </a:p>
          </p:txBody>
        </p:sp>
        <p:sp>
          <p:nvSpPr>
            <p:cNvPr id="87" name="文本框 86"/>
            <p:cNvSpPr txBox="1"/>
            <p:nvPr>
              <p:custDataLst>
                <p:tags r:id="rId23"/>
              </p:custDataLst>
            </p:nvPr>
          </p:nvSpPr>
          <p:spPr>
            <a:xfrm>
              <a:off x="1375225" y="2239000"/>
              <a:ext cx="2006848" cy="3429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>
                <a:lnSpc>
                  <a:spcPct val="120000"/>
                </a:lnSpc>
              </a:pPr>
              <a:r>
                <a:rPr lang="en-US" altLang="zh-CN" sz="900" dirty="0">
                  <a:solidFill>
                    <a:schemeClr val="accent2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</a:rPr>
                <a:t>Balanced Profile</a:t>
              </a:r>
            </a:p>
          </p:txBody>
        </p:sp>
        <p:sp>
          <p:nvSpPr>
            <p:cNvPr id="88" name="矩形: 圆角 87"/>
            <p:cNvSpPr/>
            <p:nvPr>
              <p:custDataLst>
                <p:tags r:id="rId24"/>
              </p:custDataLst>
            </p:nvPr>
          </p:nvSpPr>
          <p:spPr>
            <a:xfrm>
              <a:off x="1477525" y="3042630"/>
              <a:ext cx="540000" cy="45719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50"/>
            </a:p>
          </p:txBody>
        </p:sp>
      </p:grpSp>
      <p:sp>
        <p:nvSpPr>
          <p:cNvPr id="13" name="椭圆 12"/>
          <p:cNvSpPr/>
          <p:nvPr>
            <p:custDataLst>
              <p:tags r:id="rId3"/>
            </p:custDataLst>
          </p:nvPr>
        </p:nvSpPr>
        <p:spPr>
          <a:xfrm>
            <a:off x="2105856" y="2219908"/>
            <a:ext cx="305494" cy="30549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/>
          </a:p>
        </p:txBody>
      </p:sp>
      <p:grpSp>
        <p:nvGrpSpPr>
          <p:cNvPr id="15" name="组合 14"/>
          <p:cNvGrpSpPr/>
          <p:nvPr>
            <p:custDataLst>
              <p:tags r:id="rId4"/>
            </p:custDataLst>
          </p:nvPr>
        </p:nvGrpSpPr>
        <p:grpSpPr>
          <a:xfrm>
            <a:off x="2385521" y="2034540"/>
            <a:ext cx="2083609" cy="637071"/>
            <a:chOff x="1375224" y="2239000"/>
            <a:chExt cx="2797386" cy="849349"/>
          </a:xfrm>
        </p:grpSpPr>
        <p:sp>
          <p:nvSpPr>
            <p:cNvPr id="17" name="文本框 16"/>
            <p:cNvSpPr txBox="1"/>
            <p:nvPr>
              <p:custDataLst>
                <p:tags r:id="rId19"/>
              </p:custDataLst>
            </p:nvPr>
          </p:nvSpPr>
          <p:spPr>
            <a:xfrm>
              <a:off x="1375225" y="2489496"/>
              <a:ext cx="2006848" cy="3792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>
                <a:lnSpc>
                  <a:spcPct val="120000"/>
                </a:lnSpc>
              </a:pPr>
              <a:r>
                <a:rPr lang="zh-CN" altLang="en-US" sz="105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</a:rPr>
                <a:t>高吞吐服务模式</a:t>
              </a:r>
            </a:p>
          </p:txBody>
        </p:sp>
        <p:sp>
          <p:nvSpPr>
            <p:cNvPr id="18" name="文本框 17"/>
            <p:cNvSpPr txBox="1"/>
            <p:nvPr>
              <p:custDataLst>
                <p:tags r:id="rId20"/>
              </p:custDataLst>
            </p:nvPr>
          </p:nvSpPr>
          <p:spPr>
            <a:xfrm>
              <a:off x="1375224" y="2239000"/>
              <a:ext cx="2797386" cy="5646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>
                <a:lnSpc>
                  <a:spcPct val="120000"/>
                </a:lnSpc>
              </a:pPr>
              <a:r>
                <a:rPr lang="en-US" altLang="zh-CN" sz="900" dirty="0">
                  <a:solidFill>
                    <a:schemeClr val="accent2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</a:rPr>
                <a:t>High-Throughput Service Profile</a:t>
              </a:r>
            </a:p>
          </p:txBody>
        </p:sp>
        <p:sp>
          <p:nvSpPr>
            <p:cNvPr id="19" name="矩形: 圆角 87"/>
            <p:cNvSpPr/>
            <p:nvPr>
              <p:custDataLst>
                <p:tags r:id="rId21"/>
              </p:custDataLst>
            </p:nvPr>
          </p:nvSpPr>
          <p:spPr>
            <a:xfrm>
              <a:off x="1477525" y="3042630"/>
              <a:ext cx="540000" cy="45719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50"/>
            </a:p>
          </p:txBody>
        </p:sp>
      </p:grpSp>
      <p:sp>
        <p:nvSpPr>
          <p:cNvPr id="22" name="椭圆 21"/>
          <p:cNvSpPr/>
          <p:nvPr>
            <p:custDataLst>
              <p:tags r:id="rId5"/>
            </p:custDataLst>
          </p:nvPr>
        </p:nvSpPr>
        <p:spPr>
          <a:xfrm>
            <a:off x="190061" y="3061283"/>
            <a:ext cx="305494" cy="30549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/>
          </a:p>
        </p:txBody>
      </p:sp>
      <p:grpSp>
        <p:nvGrpSpPr>
          <p:cNvPr id="24" name="组合 23"/>
          <p:cNvGrpSpPr/>
          <p:nvPr>
            <p:custDataLst>
              <p:tags r:id="rId6"/>
            </p:custDataLst>
          </p:nvPr>
        </p:nvGrpSpPr>
        <p:grpSpPr>
          <a:xfrm>
            <a:off x="2311579" y="2796576"/>
            <a:ext cx="2380614" cy="637012"/>
            <a:chOff x="1240605" y="2239000"/>
            <a:chExt cx="3174152" cy="849349"/>
          </a:xfrm>
        </p:grpSpPr>
        <p:sp>
          <p:nvSpPr>
            <p:cNvPr id="26" name="文本框 25"/>
            <p:cNvSpPr txBox="1"/>
            <p:nvPr>
              <p:custDataLst>
                <p:tags r:id="rId16"/>
              </p:custDataLst>
            </p:nvPr>
          </p:nvSpPr>
          <p:spPr>
            <a:xfrm>
              <a:off x="1240605" y="2522516"/>
              <a:ext cx="2006848" cy="3793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>
                <a:lnSpc>
                  <a:spcPct val="120000"/>
                </a:lnSpc>
              </a:pPr>
              <a:r>
                <a:rPr lang="zh-CN" altLang="en-US" sz="105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</a:rPr>
                <a:t>长任务模式</a:t>
              </a:r>
            </a:p>
          </p:txBody>
        </p:sp>
        <p:sp>
          <p:nvSpPr>
            <p:cNvPr id="27" name="文本框 26"/>
            <p:cNvSpPr txBox="1"/>
            <p:nvPr>
              <p:custDataLst>
                <p:tags r:id="rId17"/>
              </p:custDataLst>
            </p:nvPr>
          </p:nvSpPr>
          <p:spPr>
            <a:xfrm>
              <a:off x="1375224" y="2239000"/>
              <a:ext cx="3039533" cy="3429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>
                <a:lnSpc>
                  <a:spcPct val="120000"/>
                </a:lnSpc>
              </a:pPr>
              <a:r>
                <a:rPr lang="en-US" altLang="zh-CN" sz="900" dirty="0">
                  <a:solidFill>
                    <a:schemeClr val="accent2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</a:rPr>
                <a:t>Long-Running Task Profile</a:t>
              </a:r>
            </a:p>
          </p:txBody>
        </p:sp>
        <p:sp>
          <p:nvSpPr>
            <p:cNvPr id="28" name="矩形: 圆角 87"/>
            <p:cNvSpPr/>
            <p:nvPr>
              <p:custDataLst>
                <p:tags r:id="rId18"/>
              </p:custDataLst>
            </p:nvPr>
          </p:nvSpPr>
          <p:spPr>
            <a:xfrm>
              <a:off x="1477525" y="3042630"/>
              <a:ext cx="540000" cy="45719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50"/>
            </a:p>
          </p:txBody>
        </p:sp>
      </p:grpSp>
      <p:sp>
        <p:nvSpPr>
          <p:cNvPr id="29" name="椭圆 28"/>
          <p:cNvSpPr/>
          <p:nvPr>
            <p:custDataLst>
              <p:tags r:id="rId7"/>
            </p:custDataLst>
          </p:nvPr>
        </p:nvSpPr>
        <p:spPr>
          <a:xfrm>
            <a:off x="2109666" y="2924758"/>
            <a:ext cx="305494" cy="30549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/>
          </a:p>
        </p:txBody>
      </p:sp>
      <p:grpSp>
        <p:nvGrpSpPr>
          <p:cNvPr id="31" name="组合 30"/>
          <p:cNvGrpSpPr/>
          <p:nvPr>
            <p:custDataLst>
              <p:tags r:id="rId8"/>
            </p:custDataLst>
          </p:nvPr>
        </p:nvGrpSpPr>
        <p:grpSpPr>
          <a:xfrm>
            <a:off x="499924" y="2810546"/>
            <a:ext cx="1505136" cy="637012"/>
            <a:chOff x="1375225" y="2239000"/>
            <a:chExt cx="2006848" cy="849349"/>
          </a:xfrm>
        </p:grpSpPr>
        <p:sp>
          <p:nvSpPr>
            <p:cNvPr id="33" name="文本框 32"/>
            <p:cNvSpPr txBox="1"/>
            <p:nvPr>
              <p:custDataLst>
                <p:tags r:id="rId13"/>
              </p:custDataLst>
            </p:nvPr>
          </p:nvSpPr>
          <p:spPr>
            <a:xfrm>
              <a:off x="1375225" y="2489496"/>
              <a:ext cx="2006848" cy="3793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>
                <a:lnSpc>
                  <a:spcPct val="120000"/>
                </a:lnSpc>
              </a:pPr>
              <a:r>
                <a:rPr lang="zh-CN" altLang="en-US" sz="105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</a:rPr>
                <a:t>快速扫描模式</a:t>
              </a:r>
            </a:p>
          </p:txBody>
        </p:sp>
        <p:sp>
          <p:nvSpPr>
            <p:cNvPr id="34" name="文本框 33"/>
            <p:cNvSpPr txBox="1"/>
            <p:nvPr>
              <p:custDataLst>
                <p:tags r:id="rId14"/>
              </p:custDataLst>
            </p:nvPr>
          </p:nvSpPr>
          <p:spPr>
            <a:xfrm>
              <a:off x="1375225" y="2239000"/>
              <a:ext cx="2006848" cy="3429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>
                <a:lnSpc>
                  <a:spcPct val="120000"/>
                </a:lnSpc>
              </a:pPr>
              <a:r>
                <a:rPr lang="en-US" altLang="zh-CN" sz="900" dirty="0">
                  <a:solidFill>
                    <a:schemeClr val="accent2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</a:rPr>
                <a:t>Aggressive Scan Profile</a:t>
              </a:r>
            </a:p>
          </p:txBody>
        </p:sp>
        <p:sp>
          <p:nvSpPr>
            <p:cNvPr id="35" name="矩形: 圆角 87"/>
            <p:cNvSpPr/>
            <p:nvPr>
              <p:custDataLst>
                <p:tags r:id="rId15"/>
              </p:custDataLst>
            </p:nvPr>
          </p:nvSpPr>
          <p:spPr>
            <a:xfrm>
              <a:off x="1612997" y="3042630"/>
              <a:ext cx="540000" cy="45719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50"/>
            </a:p>
          </p:txBody>
        </p:sp>
      </p:grpSp>
      <p:sp>
        <p:nvSpPr>
          <p:cNvPr id="37" name="文本框 36"/>
          <p:cNvSpPr txBox="1"/>
          <p:nvPr/>
        </p:nvSpPr>
        <p:spPr>
          <a:xfrm>
            <a:off x="5491480" y="1221105"/>
            <a:ext cx="2226945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0">
                <a:latin typeface="宋体" panose="02010600030101010101" pitchFamily="2" charset="-122"/>
                <a:ea typeface="宋体" panose="02010600030101010101" pitchFamily="2" charset="-122"/>
              </a:rPr>
              <a:t>操作简易</a:t>
            </a:r>
            <a:r>
              <a:rPr lang="en-US" altLang="zh-CN" sz="1600" b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1600" b="0">
                <a:latin typeface="宋体" panose="02010600030101010101" pitchFamily="2" charset="-122"/>
                <a:ea typeface="宋体" panose="02010600030101010101" pitchFamily="2" charset="-122"/>
              </a:rPr>
              <a:t>配置灵活</a:t>
            </a:r>
          </a:p>
        </p:txBody>
      </p:sp>
      <p:sp>
        <p:nvSpPr>
          <p:cNvPr id="39" name="文本框 38"/>
          <p:cNvSpPr txBox="1"/>
          <p:nvPr/>
        </p:nvSpPr>
        <p:spPr>
          <a:xfrm>
            <a:off x="4552950" y="2202815"/>
            <a:ext cx="4093845" cy="22091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indent="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200">
                <a:solidFill>
                  <a:schemeClr val="bg1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hmmleak start [&lt;mode&gt;] [&lt;interval&gt;]: </a:t>
            </a:r>
            <a:r>
              <a:rPr lang="zh-CN" altLang="en-US" sz="1200">
                <a:solidFill>
                  <a:schemeClr val="bg1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启动后台守护进程，可直接选用左侧场景模型。</a:t>
            </a:r>
            <a:r>
              <a:rPr lang="en-US" altLang="zh-CN" sz="1200">
                <a:solidFill>
                  <a:schemeClr val="bg1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 </a:t>
            </a:r>
          </a:p>
          <a:p>
            <a:pPr marL="0" indent="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200">
                <a:solidFill>
                  <a:schemeClr val="bg1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hmmleak stop: </a:t>
            </a:r>
            <a:r>
              <a:rPr lang="zh-CN" altLang="en-US" sz="1200">
                <a:solidFill>
                  <a:schemeClr val="bg1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停止并清理所有监控任务。</a:t>
            </a:r>
          </a:p>
          <a:p>
            <a:pPr marL="0" indent="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200">
                <a:solidFill>
                  <a:schemeClr val="bg1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hmmleak status [&lt;pid&gt;]: </a:t>
            </a:r>
            <a:r>
              <a:rPr lang="zh-CN" altLang="en-US" sz="1200">
                <a:solidFill>
                  <a:schemeClr val="bg1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查看所有进程的内存健康状况，快速定位风险。</a:t>
            </a:r>
          </a:p>
          <a:p>
            <a:pPr marL="0" indent="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200">
                <a:solidFill>
                  <a:schemeClr val="bg1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hmmleak details &lt;pid&gt;</a:t>
            </a:r>
            <a:r>
              <a:rPr lang="zh-CN" altLang="en-US" sz="1200">
                <a:solidFill>
                  <a:schemeClr val="bg1"/>
                </a:solidFill>
                <a:latin typeface="Times New Roman" panose="02020603050405020304"/>
                <a:ea typeface="宋体" panose="02010600030101010101" pitchFamily="2" charset="-122"/>
                <a:sym typeface="+mn-ea"/>
              </a:rPr>
              <a:t>：</a:t>
            </a:r>
            <a:r>
              <a:rPr lang="zh-CN" altLang="en-US" sz="1200">
                <a:solidFill>
                  <a:schemeClr val="bg1"/>
                </a:solidFill>
                <a:latin typeface="Times New Roman" panose="02020603050405020304"/>
                <a:ea typeface="宋体" panose="02010600030101010101" pitchFamily="2" charset="-122"/>
              </a:rPr>
              <a:t>深度诊断指定进程，追溯可疑内存块源头。</a:t>
            </a:r>
          </a:p>
          <a:p>
            <a:pPr marL="0" indent="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chemeClr val="bg1"/>
                </a:solidFill>
                <a:latin typeface="Times New Roman" panose="02020603050405020304"/>
                <a:ea typeface="宋体" panose="02010600030101010101" pitchFamily="2" charset="-122"/>
                <a:sym typeface="+mn-ea"/>
              </a:rPr>
              <a:t> </a:t>
            </a:r>
            <a:endParaRPr lang="en-US" altLang="zh-CN" sz="1600" dirty="0">
              <a:solidFill>
                <a:schemeClr val="bg1"/>
              </a:solidFill>
              <a:latin typeface="Times New Roman" panose="02020603050405020304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4596765" y="1685290"/>
            <a:ext cx="1466215" cy="3708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核心命令一览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504950" y="1188720"/>
            <a:ext cx="3048000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latin typeface="Arial" panose="020B0604020202020204" pitchFamily="34" charset="0"/>
                <a:ea typeface="微软雅黑" panose="020B0503020204020204" pitchFamily="34" charset="-122"/>
              </a:rPr>
              <a:t>适应多样化的应用场景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622300" y="3673475"/>
            <a:ext cx="3194685" cy="4108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6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为未来应用提供动态适配的潜力</a:t>
            </a:r>
            <a:endParaRPr lang="zh-CN" altLang="en-US" sz="160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3" name="矩形 22"/>
          <p:cNvSpPr/>
          <p:nvPr>
            <p:custDataLst>
              <p:tags r:id="rId9"/>
            </p:custDataLst>
          </p:nvPr>
        </p:nvSpPr>
        <p:spPr bwMode="auto">
          <a:xfrm>
            <a:off x="635" y="0"/>
            <a:ext cx="1754505" cy="47561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600" b="1" dirty="0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  <p:sp>
        <p:nvSpPr>
          <p:cNvPr id="10" name="矩形 9"/>
          <p:cNvSpPr/>
          <p:nvPr>
            <p:custDataLst>
              <p:tags r:id="rId10"/>
            </p:custDataLst>
          </p:nvPr>
        </p:nvSpPr>
        <p:spPr bwMode="auto">
          <a:xfrm>
            <a:off x="1773555" y="0"/>
            <a:ext cx="2404745" cy="475615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600" b="1" dirty="0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  <p:sp>
        <p:nvSpPr>
          <p:cNvPr id="12" name="矩形 11"/>
          <p:cNvSpPr/>
          <p:nvPr>
            <p:custDataLst>
              <p:tags r:id="rId11"/>
            </p:custDataLst>
          </p:nvPr>
        </p:nvSpPr>
        <p:spPr bwMode="auto">
          <a:xfrm>
            <a:off x="4238625" y="0"/>
            <a:ext cx="2366010" cy="475615"/>
          </a:xfrm>
          <a:prstGeom prst="rect">
            <a:avLst/>
          </a:prstGeom>
          <a:gradFill>
            <a:gsLst>
              <a:gs pos="50000">
                <a:schemeClr val="accent1"/>
              </a:gs>
              <a:gs pos="0">
                <a:schemeClr val="accent1">
                  <a:lumMod val="25000"/>
                  <a:lumOff val="75000"/>
                </a:schemeClr>
              </a:gs>
              <a:gs pos="100000">
                <a:schemeClr val="accent1">
                  <a:lumMod val="85000"/>
                </a:schemeClr>
              </a:gs>
            </a:gsLst>
            <a:lin ang="54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600" b="1" dirty="0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  <p:sp>
        <p:nvSpPr>
          <p:cNvPr id="14" name="矩形 13"/>
          <p:cNvSpPr/>
          <p:nvPr>
            <p:custDataLst>
              <p:tags r:id="rId12"/>
            </p:custDataLst>
          </p:nvPr>
        </p:nvSpPr>
        <p:spPr bwMode="auto">
          <a:xfrm>
            <a:off x="6659245" y="0"/>
            <a:ext cx="2484120" cy="475615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600" dirty="0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  <p:sp>
        <p:nvSpPr>
          <p:cNvPr id="16" name="文本框 20"/>
          <p:cNvSpPr txBox="1"/>
          <p:nvPr/>
        </p:nvSpPr>
        <p:spPr>
          <a:xfrm>
            <a:off x="2447606" y="69138"/>
            <a:ext cx="1135688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KFENCE</a:t>
            </a:r>
          </a:p>
        </p:txBody>
      </p:sp>
      <p:sp>
        <p:nvSpPr>
          <p:cNvPr id="25" name="文本框 20"/>
          <p:cNvSpPr txBox="1"/>
          <p:nvPr/>
        </p:nvSpPr>
        <p:spPr>
          <a:xfrm>
            <a:off x="4936171" y="69138"/>
            <a:ext cx="1135688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HMMLEAK</a:t>
            </a:r>
          </a:p>
        </p:txBody>
      </p:sp>
      <p:sp>
        <p:nvSpPr>
          <p:cNvPr id="30" name="文本框 20"/>
          <p:cNvSpPr txBox="1"/>
          <p:nvPr/>
        </p:nvSpPr>
        <p:spPr>
          <a:xfrm>
            <a:off x="7259955" y="69215"/>
            <a:ext cx="128714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sz="160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工业级验证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-24765" y="35560"/>
            <a:ext cx="1746250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400" b="1" dirty="0">
                <a:latin typeface="Arial" panose="020B0604020202020204" pitchFamily="34" charset="0"/>
                <a:ea typeface="微软雅黑" panose="020B0503020204020204" pitchFamily="34" charset="-122"/>
              </a:rPr>
              <a:t>核心技术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46"/>
          <p:cNvSpPr>
            <a:spLocks noChangeArrowheads="1"/>
          </p:cNvSpPr>
          <p:nvPr/>
        </p:nvSpPr>
        <p:spPr bwMode="auto">
          <a:xfrm>
            <a:off x="1037590" y="441960"/>
            <a:ext cx="2119630" cy="57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30000"/>
              </a:lnSpc>
            </a:pP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工业级验证</a:t>
            </a:r>
          </a:p>
        </p:txBody>
      </p:sp>
      <p:sp>
        <p:nvSpPr>
          <p:cNvPr id="21" name="矩形: 圆角 20"/>
          <p:cNvSpPr/>
          <p:nvPr/>
        </p:nvSpPr>
        <p:spPr>
          <a:xfrm>
            <a:off x="-370858" y="510131"/>
            <a:ext cx="1260420" cy="431505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阿里巴巴普惠体" panose="00020600040101010101" pitchFamily="18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362075" y="1002030"/>
            <a:ext cx="6501765" cy="10604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b="0" dirty="0">
                <a:latin typeface="+mj-ea"/>
                <a:ea typeface="+mj-ea"/>
                <a:cs typeface="+mj-ea"/>
              </a:rPr>
              <a:t>首次将工业级安全测试标准</a:t>
            </a:r>
            <a:r>
              <a:rPr lang="en-US" altLang="zh-CN" b="1" dirty="0">
                <a:latin typeface="+mj-ea"/>
                <a:ea typeface="+mj-ea"/>
                <a:cs typeface="+mj-ea"/>
              </a:rPr>
              <a:t>Juliet</a:t>
            </a:r>
            <a:r>
              <a:rPr lang="zh-CN" altLang="en-US" b="0" dirty="0">
                <a:latin typeface="+mj-ea"/>
                <a:ea typeface="+mj-ea"/>
                <a:cs typeface="+mj-ea"/>
              </a:rPr>
              <a:t>引入</a:t>
            </a:r>
            <a:r>
              <a:rPr lang="en-US" altLang="zh-CN" b="0" dirty="0" err="1">
                <a:latin typeface="+mj-ea"/>
                <a:ea typeface="+mj-ea"/>
                <a:cs typeface="+mj-ea"/>
              </a:rPr>
              <a:t>NuttX</a:t>
            </a:r>
            <a:r>
              <a:rPr lang="en-US" altLang="zh-CN" b="0" dirty="0">
                <a:latin typeface="+mj-ea"/>
                <a:ea typeface="+mj-ea"/>
                <a:cs typeface="+mj-ea"/>
              </a:rPr>
              <a:t>/RTOS</a:t>
            </a:r>
            <a:r>
              <a:rPr lang="zh-CN" altLang="en-US" b="0" dirty="0">
                <a:latin typeface="+mj-ea"/>
                <a:ea typeface="+mj-ea"/>
                <a:cs typeface="+mj-ea"/>
              </a:rPr>
              <a:t>领域，为</a:t>
            </a:r>
            <a:r>
              <a:rPr lang="en-US" altLang="zh-CN" b="0" dirty="0">
                <a:latin typeface="+mj-ea"/>
                <a:ea typeface="+mj-ea"/>
                <a:cs typeface="+mj-ea"/>
              </a:rPr>
              <a:t>KFENCE</a:t>
            </a:r>
            <a:r>
              <a:rPr lang="zh-CN" altLang="en-US" b="0" dirty="0">
                <a:latin typeface="+mj-ea"/>
                <a:ea typeface="+mj-ea"/>
                <a:cs typeface="+mj-ea"/>
              </a:rPr>
              <a:t>在资源受限设备中的可靠性提供了学术与实践的双重验证。</a:t>
            </a: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b="0" dirty="0">
              <a:latin typeface="+mj-ea"/>
              <a:ea typeface="+mj-ea"/>
              <a:cs typeface="+mj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111150" y="1988186"/>
            <a:ext cx="2475230" cy="52895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latin typeface="+mj-ea"/>
                <a:ea typeface="+mj-ea"/>
                <a:cs typeface="+mj-ea"/>
                <a:sym typeface="+mn-ea"/>
              </a:rPr>
              <a:t>集成三类</a:t>
            </a:r>
            <a:r>
              <a:rPr lang="en-US" altLang="zh-CN" dirty="0">
                <a:latin typeface="+mj-ea"/>
                <a:ea typeface="+mj-ea"/>
                <a:cs typeface="+mj-ea"/>
                <a:sym typeface="+mn-ea"/>
              </a:rPr>
              <a:t> </a:t>
            </a:r>
            <a:r>
              <a:rPr lang="zh-CN" altLang="en-US" dirty="0">
                <a:latin typeface="+mj-ea"/>
                <a:ea typeface="+mj-ea"/>
                <a:cs typeface="+mj-ea"/>
                <a:sym typeface="+mn-ea"/>
              </a:rPr>
              <a:t>核心 </a:t>
            </a:r>
            <a:r>
              <a:rPr lang="en-US" altLang="zh-CN" dirty="0">
                <a:latin typeface="+mj-ea"/>
                <a:ea typeface="+mj-ea"/>
                <a:cs typeface="+mj-ea"/>
                <a:sym typeface="+mn-ea"/>
              </a:rPr>
              <a:t>CWE</a:t>
            </a:r>
            <a:endParaRPr lang="zh-CN" altLang="en-US" dirty="0">
              <a:latin typeface="+mj-ea"/>
              <a:ea typeface="+mj-ea"/>
              <a:cs typeface="+mj-ea"/>
              <a:sym typeface="+mn-ea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400" dirty="0">
              <a:latin typeface="+mj-ea"/>
              <a:ea typeface="+mj-ea"/>
              <a:cs typeface="+mj-ea"/>
              <a:sym typeface="+mn-ea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1047014" y="2487296"/>
            <a:ext cx="2319655" cy="528955"/>
            <a:chOff x="870585" y="2670809"/>
            <a:chExt cx="2319655" cy="528955"/>
          </a:xfrm>
        </p:grpSpPr>
        <p:sp>
          <p:nvSpPr>
            <p:cNvPr id="16" name="矩形 15"/>
            <p:cNvSpPr/>
            <p:nvPr>
              <p:custDataLst>
                <p:tags r:id="rId9"/>
              </p:custDataLst>
            </p:nvPr>
          </p:nvSpPr>
          <p:spPr>
            <a:xfrm>
              <a:off x="870585" y="2670809"/>
              <a:ext cx="2319655" cy="528955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accent1">
                  <a:alpha val="67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algn="ctr">
                <a:lnSpc>
                  <a:spcPct val="130000"/>
                </a:lnSpc>
              </a:pPr>
              <a:endParaRPr lang="zh-CN" altLang="en-US" sz="1050" dirty="0">
                <a:cs typeface="+mn-ea"/>
                <a:sym typeface="+mn-lt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889635" y="2710815"/>
              <a:ext cx="2284730" cy="4603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rgbClr val="000000"/>
                  </a:solidFill>
                  <a:latin typeface="+mn-ea"/>
                  <a:cs typeface="+mn-ea"/>
                </a:rPr>
                <a:t>CWE-122</a:t>
              </a:r>
              <a:endParaRPr lang="zh-CN" altLang="en-US" sz="1200" dirty="0">
                <a:solidFill>
                  <a:srgbClr val="000000"/>
                </a:solidFill>
                <a:latin typeface="+mn-ea"/>
                <a:cs typeface="+mn-ea"/>
              </a:endParaRPr>
            </a:p>
            <a:p>
              <a:pPr algn="ctr"/>
              <a:r>
                <a:rPr lang="en-US" altLang="zh-CN" sz="1200" dirty="0">
                  <a:solidFill>
                    <a:srgbClr val="000000"/>
                  </a:solidFill>
                  <a:latin typeface="+mn-ea"/>
                  <a:cs typeface="+mn-ea"/>
                </a:rPr>
                <a:t>Heap-Based Buffer Overflow</a:t>
              </a:r>
              <a:endParaRPr lang="zh-CN" altLang="en-US" sz="1200" dirty="0">
                <a:solidFill>
                  <a:srgbClr val="000000"/>
                </a:solidFill>
                <a:latin typeface="+mn-ea"/>
                <a:cs typeface="+mn-ea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048084" y="3175636"/>
            <a:ext cx="2319655" cy="528955"/>
            <a:chOff x="3534409" y="2670808"/>
            <a:chExt cx="2319655" cy="528955"/>
          </a:xfrm>
        </p:grpSpPr>
        <p:sp>
          <p:nvSpPr>
            <p:cNvPr id="17" name="矩形 16"/>
            <p:cNvSpPr/>
            <p:nvPr>
              <p:custDataLst>
                <p:tags r:id="rId8"/>
              </p:custDataLst>
            </p:nvPr>
          </p:nvSpPr>
          <p:spPr>
            <a:xfrm>
              <a:off x="3534409" y="2670808"/>
              <a:ext cx="2319655" cy="528955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accent1">
                  <a:alpha val="67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algn="ctr">
                <a:lnSpc>
                  <a:spcPct val="130000"/>
                </a:lnSpc>
              </a:pPr>
              <a:endParaRPr lang="zh-CN" altLang="en-US" sz="1050">
                <a:cs typeface="+mn-ea"/>
                <a:sym typeface="+mn-lt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3559175" y="2705100"/>
              <a:ext cx="2270125" cy="4603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rgbClr val="000000"/>
                  </a:solidFill>
                  <a:latin typeface="+mn-ea"/>
                  <a:cs typeface="+mn-ea"/>
                </a:rPr>
                <a:t>CWE-415</a:t>
              </a:r>
            </a:p>
            <a:p>
              <a:pPr algn="ctr"/>
              <a:r>
                <a:rPr lang="en-US" altLang="zh-CN" sz="1200" dirty="0">
                  <a:solidFill>
                    <a:srgbClr val="000000"/>
                  </a:solidFill>
                  <a:latin typeface="+mn-ea"/>
                  <a:cs typeface="+mn-ea"/>
                </a:rPr>
                <a:t>Double Free</a:t>
              </a:r>
              <a:endParaRPr lang="zh-CN" altLang="en-US" sz="1200" dirty="0">
                <a:solidFill>
                  <a:srgbClr val="000000"/>
                </a:solidFill>
                <a:latin typeface="+mn-ea"/>
                <a:cs typeface="+mn-ea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1047013" y="3863976"/>
            <a:ext cx="2319655" cy="528956"/>
            <a:chOff x="6468110" y="2670808"/>
            <a:chExt cx="2319655" cy="528956"/>
          </a:xfrm>
        </p:grpSpPr>
        <p:sp>
          <p:nvSpPr>
            <p:cNvPr id="18" name="矩形 17"/>
            <p:cNvSpPr/>
            <p:nvPr>
              <p:custDataLst>
                <p:tags r:id="rId7"/>
              </p:custDataLst>
            </p:nvPr>
          </p:nvSpPr>
          <p:spPr>
            <a:xfrm>
              <a:off x="6468110" y="2670808"/>
              <a:ext cx="2319655" cy="52895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accent1">
                  <a:alpha val="67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sz="1050" dirty="0">
                  <a:cs typeface="+mn-ea"/>
                  <a:sym typeface="+mn-lt"/>
                </a:rPr>
                <a:t>漏洞</a:t>
              </a: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6887210" y="2710815"/>
              <a:ext cx="1481455" cy="4603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rgbClr val="000000"/>
                  </a:solidFill>
                  <a:latin typeface="+mn-ea"/>
                  <a:cs typeface="+mn-ea"/>
                </a:rPr>
                <a:t>CWE-416</a:t>
              </a:r>
            </a:p>
            <a:p>
              <a:pPr algn="ctr"/>
              <a:r>
                <a:rPr lang="en-US" altLang="zh-CN" sz="1200" dirty="0">
                  <a:solidFill>
                    <a:srgbClr val="000000"/>
                  </a:solidFill>
                  <a:latin typeface="+mn-ea"/>
                  <a:cs typeface="+mn-ea"/>
                </a:rPr>
                <a:t>Use-After-Free</a:t>
              </a:r>
              <a:endParaRPr lang="zh-CN" altLang="en-US" sz="1200" dirty="0">
                <a:solidFill>
                  <a:srgbClr val="000000"/>
                </a:solidFill>
                <a:latin typeface="+mn-ea"/>
                <a:cs typeface="+mn-ea"/>
              </a:endParaRPr>
            </a:p>
          </p:txBody>
        </p:sp>
      </p:grpSp>
      <p:sp>
        <p:nvSpPr>
          <p:cNvPr id="3" name="矩形 2"/>
          <p:cNvSpPr/>
          <p:nvPr>
            <p:custDataLst>
              <p:tags r:id="rId1"/>
            </p:custDataLst>
          </p:nvPr>
        </p:nvSpPr>
        <p:spPr bwMode="auto">
          <a:xfrm>
            <a:off x="635" y="0"/>
            <a:ext cx="1754505" cy="47561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600" b="1" dirty="0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  <p:sp>
        <p:nvSpPr>
          <p:cNvPr id="24" name="矩形 23"/>
          <p:cNvSpPr/>
          <p:nvPr>
            <p:custDataLst>
              <p:tags r:id="rId2"/>
            </p:custDataLst>
          </p:nvPr>
        </p:nvSpPr>
        <p:spPr bwMode="auto">
          <a:xfrm>
            <a:off x="1773555" y="0"/>
            <a:ext cx="2404745" cy="475615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600" b="1" dirty="0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  <p:sp>
        <p:nvSpPr>
          <p:cNvPr id="26" name="矩形 25"/>
          <p:cNvSpPr/>
          <p:nvPr>
            <p:custDataLst>
              <p:tags r:id="rId3"/>
            </p:custDataLst>
          </p:nvPr>
        </p:nvSpPr>
        <p:spPr bwMode="auto">
          <a:xfrm>
            <a:off x="4238625" y="0"/>
            <a:ext cx="2366010" cy="475615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600" b="1" dirty="0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  <p:sp>
        <p:nvSpPr>
          <p:cNvPr id="27" name="矩形 26"/>
          <p:cNvSpPr/>
          <p:nvPr>
            <p:custDataLst>
              <p:tags r:id="rId4"/>
            </p:custDataLst>
          </p:nvPr>
        </p:nvSpPr>
        <p:spPr bwMode="auto">
          <a:xfrm>
            <a:off x="6659245" y="0"/>
            <a:ext cx="2484120" cy="475615"/>
          </a:xfrm>
          <a:prstGeom prst="rect">
            <a:avLst/>
          </a:prstGeom>
          <a:gradFill>
            <a:gsLst>
              <a:gs pos="50000">
                <a:schemeClr val="accent1"/>
              </a:gs>
              <a:gs pos="0">
                <a:schemeClr val="accent1">
                  <a:lumMod val="25000"/>
                  <a:lumOff val="75000"/>
                </a:schemeClr>
              </a:gs>
              <a:gs pos="100000">
                <a:schemeClr val="accent1">
                  <a:lumMod val="85000"/>
                </a:schemeClr>
              </a:gs>
            </a:gsLst>
            <a:lin ang="54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600" dirty="0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  <p:sp>
        <p:nvSpPr>
          <p:cNvPr id="28" name="文本框 20"/>
          <p:cNvSpPr txBox="1"/>
          <p:nvPr/>
        </p:nvSpPr>
        <p:spPr>
          <a:xfrm>
            <a:off x="2447606" y="69138"/>
            <a:ext cx="1135688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KFENCE</a:t>
            </a:r>
          </a:p>
        </p:txBody>
      </p:sp>
      <p:sp>
        <p:nvSpPr>
          <p:cNvPr id="29" name="文本框 20"/>
          <p:cNvSpPr txBox="1"/>
          <p:nvPr/>
        </p:nvSpPr>
        <p:spPr>
          <a:xfrm>
            <a:off x="4936171" y="69138"/>
            <a:ext cx="1135688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HMMLEAK</a:t>
            </a:r>
          </a:p>
        </p:txBody>
      </p:sp>
      <p:sp>
        <p:nvSpPr>
          <p:cNvPr id="30" name="文本框 20"/>
          <p:cNvSpPr txBox="1"/>
          <p:nvPr/>
        </p:nvSpPr>
        <p:spPr>
          <a:xfrm>
            <a:off x="7259955" y="69215"/>
            <a:ext cx="128714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sz="1600" b="1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工业级</a:t>
            </a:r>
            <a:r>
              <a:rPr lang="zh-CN" sz="160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验证</a:t>
            </a:r>
          </a:p>
        </p:txBody>
      </p:sp>
      <p:sp>
        <p:nvSpPr>
          <p:cNvPr id="31" name="文本框 30"/>
          <p:cNvSpPr txBox="1"/>
          <p:nvPr/>
        </p:nvSpPr>
        <p:spPr>
          <a:xfrm>
            <a:off x="-24765" y="35560"/>
            <a:ext cx="1746250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400" b="1" dirty="0">
                <a:latin typeface="Arial" panose="020B0604020202020204" pitchFamily="34" charset="0"/>
                <a:ea typeface="微软雅黑" panose="020B0503020204020204" pitchFamily="34" charset="-122"/>
              </a:rPr>
              <a:t>核心技术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5533925" y="1978025"/>
            <a:ext cx="2431582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latin typeface="+mj-ea"/>
                <a:ea typeface="+mj-ea"/>
                <a:cs typeface="+mj-ea"/>
                <a:sym typeface="+mn-ea"/>
              </a:rPr>
              <a:t>两大修改适配</a:t>
            </a:r>
            <a:endParaRPr lang="zh-CN" altLang="en-US" sz="1400" dirty="0">
              <a:latin typeface="+mj-ea"/>
              <a:ea typeface="+mj-ea"/>
              <a:cs typeface="+mj-ea"/>
              <a:sym typeface="+mn-ea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4797808" y="2480078"/>
            <a:ext cx="3257334" cy="938642"/>
            <a:chOff x="870585" y="2670810"/>
            <a:chExt cx="2319655" cy="528955"/>
          </a:xfrm>
        </p:grpSpPr>
        <p:sp>
          <p:nvSpPr>
            <p:cNvPr id="11" name="矩形 10"/>
            <p:cNvSpPr/>
            <p:nvPr>
              <p:custDataLst>
                <p:tags r:id="rId6"/>
              </p:custDataLst>
            </p:nvPr>
          </p:nvSpPr>
          <p:spPr>
            <a:xfrm>
              <a:off x="870585" y="2670810"/>
              <a:ext cx="2319655" cy="528955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accent1">
                  <a:alpha val="67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algn="ctr">
                <a:lnSpc>
                  <a:spcPct val="130000"/>
                </a:lnSpc>
              </a:pPr>
              <a:endParaRPr lang="zh-CN" altLang="en-US" sz="1050" dirty="0">
                <a:cs typeface="+mn-ea"/>
                <a:sym typeface="+mn-lt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889635" y="2780619"/>
              <a:ext cx="2284730" cy="36422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200" dirty="0">
                  <a:solidFill>
                    <a:srgbClr val="000000"/>
                  </a:solidFill>
                  <a:latin typeface="+mn-ea"/>
                  <a:cs typeface="+mn-ea"/>
                </a:rPr>
                <a:t>适配函数。测试的内存分配机制，以适配</a:t>
              </a:r>
              <a:r>
                <a:rPr lang="en-US" altLang="zh-CN" sz="1200" dirty="0" err="1">
                  <a:solidFill>
                    <a:srgbClr val="000000"/>
                  </a:solidFill>
                  <a:latin typeface="+mn-ea"/>
                  <a:cs typeface="+mn-ea"/>
                </a:rPr>
                <a:t>NuttX</a:t>
              </a:r>
              <a:r>
                <a:rPr lang="zh-CN" altLang="en-US" sz="1200" dirty="0">
                  <a:solidFill>
                    <a:srgbClr val="000000"/>
                  </a:solidFill>
                  <a:latin typeface="+mn-ea"/>
                  <a:cs typeface="+mn-ea"/>
                </a:rPr>
                <a:t>内核；</a:t>
              </a:r>
              <a:r>
                <a:rPr lang="zh-CN" altLang="zh-CN" sz="1200" dirty="0">
                  <a:solidFill>
                    <a:srgbClr val="000000"/>
                  </a:solidFill>
                  <a:latin typeface="+mn-ea"/>
                  <a:cs typeface="+mn-ea"/>
                </a:rPr>
                <a:t>移除不兼容的库函数调用并替换为</a:t>
              </a:r>
              <a:r>
                <a:rPr lang="en-US" altLang="zh-CN" sz="1200" dirty="0" err="1">
                  <a:solidFill>
                    <a:srgbClr val="000000"/>
                  </a:solidFill>
                  <a:latin typeface="+mn-ea"/>
                  <a:cs typeface="+mn-ea"/>
                </a:rPr>
                <a:t>NuttX</a:t>
              </a:r>
              <a:r>
                <a:rPr lang="zh-CN" altLang="zh-CN" sz="1200" dirty="0">
                  <a:solidFill>
                    <a:srgbClr val="000000"/>
                  </a:solidFill>
                  <a:latin typeface="+mn-ea"/>
                  <a:cs typeface="+mn-ea"/>
                </a:rPr>
                <a:t>兼容的实现</a:t>
              </a:r>
              <a:endParaRPr lang="zh-CN" altLang="en-US" sz="1200" dirty="0">
                <a:solidFill>
                  <a:srgbClr val="000000"/>
                </a:solidFill>
                <a:latin typeface="+mn-ea"/>
                <a:cs typeface="+mn-ea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4797809" y="3613574"/>
            <a:ext cx="3257333" cy="883669"/>
            <a:chOff x="870585" y="2670809"/>
            <a:chExt cx="2319655" cy="528955"/>
          </a:xfrm>
        </p:grpSpPr>
        <p:sp>
          <p:nvSpPr>
            <p:cNvPr id="32" name="矩形 31"/>
            <p:cNvSpPr/>
            <p:nvPr>
              <p:custDataLst>
                <p:tags r:id="rId5"/>
              </p:custDataLst>
            </p:nvPr>
          </p:nvSpPr>
          <p:spPr>
            <a:xfrm>
              <a:off x="870585" y="2670809"/>
              <a:ext cx="2319655" cy="528955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accent1">
                  <a:alpha val="67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algn="ctr">
                <a:lnSpc>
                  <a:spcPct val="130000"/>
                </a:lnSpc>
              </a:pPr>
              <a:endParaRPr lang="zh-CN" altLang="en-US" sz="1050" dirty="0">
                <a:cs typeface="+mn-ea"/>
                <a:sym typeface="+mn-lt"/>
              </a:endParaRP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889635" y="2780619"/>
              <a:ext cx="2284730" cy="38688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200" dirty="0">
                  <a:solidFill>
                    <a:srgbClr val="000000"/>
                  </a:solidFill>
                  <a:latin typeface="+mn-ea"/>
                  <a:cs typeface="+mn-ea"/>
                </a:rPr>
                <a:t>修改文件结构。</a:t>
              </a:r>
              <a:r>
                <a:rPr lang="zh-CN" altLang="zh-CN" sz="1200" dirty="0">
                  <a:solidFill>
                    <a:srgbClr val="000000"/>
                  </a:solidFill>
                  <a:latin typeface="+mn-ea"/>
                  <a:cs typeface="+mn-ea"/>
                </a:rPr>
                <a:t>将测试用例中的</a:t>
              </a:r>
              <a:r>
                <a:rPr lang="en-US" altLang="zh-CN" sz="1200" dirty="0">
                  <a:solidFill>
                    <a:srgbClr val="000000"/>
                  </a:solidFill>
                  <a:latin typeface="+mn-ea"/>
                  <a:cs typeface="+mn-ea"/>
                </a:rPr>
                <a:t>main</a:t>
              </a:r>
              <a:r>
                <a:rPr lang="zh-CN" altLang="zh-CN" sz="1200" dirty="0">
                  <a:solidFill>
                    <a:srgbClr val="000000"/>
                  </a:solidFill>
                  <a:latin typeface="+mn-ea"/>
                  <a:cs typeface="+mn-ea"/>
                </a:rPr>
                <a:t>函数改编为单独的测试函数，并在</a:t>
              </a:r>
              <a:r>
                <a:rPr lang="zh-CN" altLang="en-US" sz="1200" dirty="0">
                  <a:solidFill>
                    <a:srgbClr val="000000"/>
                  </a:solidFill>
                  <a:latin typeface="+mn-ea"/>
                  <a:cs typeface="+mn-ea"/>
                </a:rPr>
                <a:t>每个</a:t>
              </a:r>
              <a:r>
                <a:rPr lang="en-US" altLang="zh-CN" sz="1200" dirty="0">
                  <a:solidFill>
                    <a:srgbClr val="000000"/>
                  </a:solidFill>
                  <a:latin typeface="+mn-ea"/>
                  <a:cs typeface="+mn-ea"/>
                </a:rPr>
                <a:t>CWE</a:t>
              </a:r>
              <a:r>
                <a:rPr lang="zh-CN" altLang="zh-CN" sz="1200" dirty="0">
                  <a:solidFill>
                    <a:srgbClr val="000000"/>
                  </a:solidFill>
                  <a:latin typeface="+mn-ea"/>
                  <a:cs typeface="+mn-ea"/>
                </a:rPr>
                <a:t>单独编写的文件中统一运行</a:t>
              </a:r>
              <a:endParaRPr lang="zh-CN" altLang="en-US" sz="1200" dirty="0">
                <a:solidFill>
                  <a:srgbClr val="000000"/>
                </a:solidFill>
                <a:latin typeface="+mn-ea"/>
                <a:cs typeface="+mn-ea"/>
              </a:endParaRPr>
            </a:p>
          </p:txBody>
        </p:sp>
      </p:grp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320036" y="320040"/>
            <a:ext cx="8503920" cy="45034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阿里巴巴普惠体" panose="00020600040101010101" pitchFamily="18" charset="-122"/>
            </a:endParaRPr>
          </a:p>
        </p:txBody>
      </p:sp>
      <p:sp>
        <p:nvSpPr>
          <p:cNvPr id="3" name="矩形: 圆角 2"/>
          <p:cNvSpPr/>
          <p:nvPr/>
        </p:nvSpPr>
        <p:spPr>
          <a:xfrm>
            <a:off x="-4" y="1277237"/>
            <a:ext cx="9144000" cy="2398828"/>
          </a:xfrm>
          <a:prstGeom prst="roundRect">
            <a:avLst>
              <a:gd name="adj" fmla="val 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1520866" y="2487850"/>
            <a:ext cx="6113305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lvl="0" algn="ctr">
              <a:defRPr sz="10000">
                <a:solidFill>
                  <a:srgbClr val="D3AA8F"/>
                </a:solidFill>
                <a:latin typeface="三极榜书简体" panose="00000500000000000000" pitchFamily="2" charset="-122"/>
                <a:ea typeface="三极榜书简体" panose="00000500000000000000" pitchFamily="2" charset="-122"/>
                <a:cs typeface="+mn-ea"/>
              </a:defRPr>
            </a:lvl1pPr>
          </a:lstStyle>
          <a:p>
            <a:r>
              <a:rPr lang="zh-CN" altLang="en-US" sz="4800" b="1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sym typeface="+mn-lt"/>
              </a:rPr>
              <a:t>成果展示</a:t>
            </a:r>
          </a:p>
        </p:txBody>
      </p:sp>
      <p:sp>
        <p:nvSpPr>
          <p:cNvPr id="18" name="矩形 17"/>
          <p:cNvSpPr/>
          <p:nvPr/>
        </p:nvSpPr>
        <p:spPr>
          <a:xfrm>
            <a:off x="3209369" y="1970603"/>
            <a:ext cx="2725261" cy="461665"/>
          </a:xfrm>
          <a:prstGeom prst="rect">
            <a:avLst/>
          </a:prstGeom>
          <a:noFill/>
          <a:effectLst>
            <a:outerShdw blurRad="190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square" anchor="ctr">
            <a:spAutoFit/>
          </a:bodyPr>
          <a:lstStyle/>
          <a:p>
            <a:pPr lvl="0" algn="ctr">
              <a:defRPr/>
            </a:pPr>
            <a:r>
              <a:rPr lang="zh-CN" altLang="en-US" sz="2400" noProof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+mn-ea"/>
                <a:sym typeface="+mn-lt"/>
              </a:rPr>
              <a:t>第四部分</a:t>
            </a:r>
            <a:endParaRPr kumimoji="0" lang="zh-CN" altLang="en-US" sz="24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+mn-ea"/>
              <a:sym typeface="+mn-lt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099913" y="806156"/>
            <a:ext cx="944174" cy="944174"/>
            <a:chOff x="622557" y="767301"/>
            <a:chExt cx="944174" cy="944174"/>
          </a:xfrm>
        </p:grpSpPr>
        <p:sp>
          <p:nvSpPr>
            <p:cNvPr id="20" name="椭圆 19"/>
            <p:cNvSpPr/>
            <p:nvPr/>
          </p:nvSpPr>
          <p:spPr>
            <a:xfrm>
              <a:off x="622557" y="767301"/>
              <a:ext cx="944174" cy="944174"/>
            </a:xfrm>
            <a:prstGeom prst="ellipse">
              <a:avLst/>
            </a:prstGeom>
            <a:solidFill>
              <a:schemeClr val="bg1"/>
            </a:solidFill>
            <a:ln w="508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</a:endParaRPr>
            </a:p>
          </p:txBody>
        </p:sp>
        <p:pic>
          <p:nvPicPr>
            <p:cNvPr id="21" name="图片 2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48526" y="899155"/>
              <a:ext cx="697268" cy="697268"/>
            </a:xfrm>
            <a:prstGeom prst="rect">
              <a:avLst/>
            </a:prstGeom>
            <a:ln>
              <a:noFill/>
            </a:ln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46"/>
          <p:cNvSpPr>
            <a:spLocks noChangeArrowheads="1"/>
          </p:cNvSpPr>
          <p:nvPr/>
        </p:nvSpPr>
        <p:spPr bwMode="auto">
          <a:xfrm>
            <a:off x="1007745" y="213995"/>
            <a:ext cx="5184775" cy="57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30000"/>
              </a:lnSpc>
            </a:pP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硬件平台验证：从仿真到现实的跨越</a:t>
            </a:r>
          </a:p>
        </p:txBody>
      </p:sp>
      <p:sp>
        <p:nvSpPr>
          <p:cNvPr id="29" name="矩形: 圆角 28"/>
          <p:cNvSpPr/>
          <p:nvPr/>
        </p:nvSpPr>
        <p:spPr>
          <a:xfrm>
            <a:off x="-400703" y="282166"/>
            <a:ext cx="1260420" cy="431505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阿里巴巴普惠体" panose="00020600040101010101" pitchFamily="18" charset="-122"/>
            </a:endParaRPr>
          </a:p>
        </p:txBody>
      </p:sp>
      <p:pic>
        <p:nvPicPr>
          <p:cNvPr id="13" name="图片 13" descr="b8caf14fa2c50e39da1e5ab009e1d0a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066165" y="429895"/>
            <a:ext cx="2470785" cy="403225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432935" y="1150620"/>
            <a:ext cx="4572000" cy="8502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b="1" dirty="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证明了方案的真实可行性与可移植性</a:t>
            </a:r>
          </a:p>
          <a:p>
            <a:pPr>
              <a:lnSpc>
                <a:spcPct val="130000"/>
              </a:lnSpc>
            </a:pPr>
            <a:r>
              <a:rPr lang="en-US" altLang="zh-CN" sz="1200" dirty="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   </a:t>
            </a:r>
            <a:r>
              <a:rPr lang="zh-CN" altLang="en-US" sz="1200" dirty="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这标志着</a:t>
            </a:r>
            <a:r>
              <a:rPr lang="en-US" altLang="zh-CN" sz="1200" dirty="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Aegis-NX</a:t>
            </a:r>
            <a:r>
              <a:rPr lang="zh-CN" altLang="en-US" sz="1200" dirty="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不再是仿真器中的概念，而是能在真实、复杂的工业级硬件环境中稳定运行的实用工具。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4432935" y="2185670"/>
            <a:ext cx="4572000" cy="8502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b="1" dirty="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提供了高可信度的性能评估数据</a:t>
            </a:r>
          </a:p>
          <a:p>
            <a:pPr>
              <a:lnSpc>
                <a:spcPct val="130000"/>
              </a:lnSpc>
            </a:pPr>
            <a:r>
              <a:rPr lang="en-US" altLang="zh-CN" sz="1200" dirty="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   </a:t>
            </a:r>
            <a:r>
              <a:rPr lang="zh-CN" altLang="en-US" sz="1200" dirty="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所有性能基准测试以及功能测试均在真实硬件上运行，为方案的低开销特性提供了最权威、最可信的证明。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4432935" y="3220720"/>
            <a:ext cx="4572000" cy="8502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b="1" dirty="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完整验证了</a:t>
            </a:r>
            <a:r>
              <a:rPr lang="en-US" altLang="zh-CN" b="1" dirty="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KFENCE</a:t>
            </a:r>
            <a:r>
              <a:rPr lang="zh-CN" altLang="en-US" b="1" dirty="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核心创新</a:t>
            </a:r>
            <a:r>
              <a:rPr lang="en-US" altLang="zh-CN" b="1" dirty="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——</a:t>
            </a:r>
            <a:r>
              <a:rPr lang="zh-CN" altLang="en-US" b="1" dirty="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硬件双模支持</a:t>
            </a:r>
          </a:p>
          <a:p>
            <a:pPr>
              <a:lnSpc>
                <a:spcPct val="130000"/>
              </a:lnSpc>
            </a:pPr>
            <a:r>
              <a:rPr lang="en-US" altLang="zh-CN" sz="1200" dirty="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   </a:t>
            </a:r>
            <a:r>
              <a:rPr lang="zh-CN" altLang="en-US" sz="1200" dirty="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检验了利用</a:t>
            </a:r>
            <a:r>
              <a:rPr lang="en-US" altLang="zh-CN" sz="1200" dirty="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MMU</a:t>
            </a:r>
            <a:r>
              <a:rPr lang="zh-CN" altLang="en-US" sz="1200" dirty="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硬件防护页捕获内存错误的能力，与无</a:t>
            </a:r>
            <a:r>
              <a:rPr lang="en-US" altLang="zh-CN" sz="1200" dirty="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MMU</a:t>
            </a:r>
            <a:r>
              <a:rPr lang="zh-CN" altLang="en-US" sz="1200" dirty="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的软件方案形成了完美的闭环验证。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1336675" y="3797935"/>
            <a:ext cx="1649730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 dirty="0">
                <a:latin typeface="Arial" panose="020B0604020202020204" pitchFamily="34" charset="0"/>
                <a:ea typeface="微软雅黑" panose="020B0503020204020204" pitchFamily="34" charset="-122"/>
              </a:rPr>
              <a:t>BeagleBone Black</a:t>
            </a: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46"/>
          <p:cNvSpPr>
            <a:spLocks noChangeArrowheads="1"/>
          </p:cNvSpPr>
          <p:nvPr/>
        </p:nvSpPr>
        <p:spPr bwMode="auto">
          <a:xfrm>
            <a:off x="1007810" y="214195"/>
            <a:ext cx="3782630" cy="525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30000"/>
              </a:lnSpc>
            </a:pP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性能评估</a:t>
            </a: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——CoreMark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9" name="矩形: 圆角 28"/>
          <p:cNvSpPr/>
          <p:nvPr/>
        </p:nvSpPr>
        <p:spPr>
          <a:xfrm>
            <a:off x="-400703" y="282166"/>
            <a:ext cx="1260420" cy="431505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阿里巴巴普惠体" panose="00020600040101010101" pitchFamily="18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0870" y="1444557"/>
            <a:ext cx="3738974" cy="198633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955040" y="911924"/>
            <a:ext cx="5283200" cy="34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latin typeface="Arial" panose="020B0604020202020204" pitchFamily="34" charset="0"/>
                <a:ea typeface="微软雅黑" panose="020B0503020204020204" pitchFamily="34" charset="-122"/>
              </a:rPr>
              <a:t>针对有</a:t>
            </a:r>
            <a:r>
              <a:rPr lang="en-US" altLang="zh-CN" sz="1400" dirty="0">
                <a:latin typeface="Arial" panose="020B0604020202020204" pitchFamily="34" charset="0"/>
                <a:ea typeface="微软雅黑" panose="020B0503020204020204" pitchFamily="34" charset="-122"/>
              </a:rPr>
              <a:t>MMU</a:t>
            </a:r>
            <a:r>
              <a:rPr lang="zh-CN" altLang="en-US" sz="1400" dirty="0">
                <a:latin typeface="Arial" panose="020B0604020202020204" pitchFamily="34" charset="0"/>
                <a:ea typeface="微软雅黑" panose="020B0503020204020204" pitchFamily="34" charset="-122"/>
              </a:rPr>
              <a:t>版本的</a:t>
            </a:r>
            <a:r>
              <a:rPr lang="en-US" altLang="zh-CN" sz="1400" dirty="0">
                <a:latin typeface="Arial" panose="020B0604020202020204" pitchFamily="34" charset="0"/>
                <a:ea typeface="微软雅黑" panose="020B0503020204020204" pitchFamily="34" charset="-122"/>
              </a:rPr>
              <a:t>KFENCE</a:t>
            </a:r>
            <a:r>
              <a:rPr lang="zh-CN" altLang="en-US" sz="1400" dirty="0">
                <a:latin typeface="Arial" panose="020B0604020202020204" pitchFamily="34" charset="0"/>
                <a:ea typeface="微软雅黑" panose="020B0503020204020204" pitchFamily="34" charset="-122"/>
              </a:rPr>
              <a:t>，我们的测试环境和测试结果如下：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507" y="1444557"/>
            <a:ext cx="4720083" cy="2236147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2138142" y="3639531"/>
            <a:ext cx="902811" cy="3447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latin typeface="Arial" panose="020B0604020202020204" pitchFamily="34" charset="0"/>
                <a:ea typeface="微软雅黑" panose="020B0503020204020204" pitchFamily="34" charset="-122"/>
              </a:rPr>
              <a:t>测试环境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6628912" y="3639531"/>
            <a:ext cx="902811" cy="3447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latin typeface="Arial" panose="020B0604020202020204" pitchFamily="34" charset="0"/>
                <a:ea typeface="微软雅黑" panose="020B0503020204020204" pitchFamily="34" charset="-122"/>
              </a:rPr>
              <a:t>测试结果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1007810" y="4024442"/>
            <a:ext cx="7302500" cy="929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dirty="0"/>
              <a:t>KFENCE</a:t>
            </a:r>
            <a:r>
              <a:rPr lang="zh-CN" altLang="en-US" dirty="0"/>
              <a:t>通过预分配策略</a:t>
            </a:r>
            <a:r>
              <a:rPr lang="en-US" altLang="zh-CN" dirty="0"/>
              <a:t>(</a:t>
            </a:r>
            <a:r>
              <a:rPr lang="zh-CN" altLang="en-US" dirty="0"/>
              <a:t>“</a:t>
            </a:r>
            <a:r>
              <a:rPr lang="zh-CN" altLang="en-US" b="1" dirty="0"/>
              <a:t>空间换时间</a:t>
            </a:r>
            <a:r>
              <a:rPr lang="zh-CN" altLang="en-US" dirty="0"/>
              <a:t>”</a:t>
            </a:r>
            <a:r>
              <a:rPr lang="en-US" altLang="zh-CN" dirty="0"/>
              <a:t>)</a:t>
            </a:r>
            <a:r>
              <a:rPr lang="zh-CN" altLang="en-US" dirty="0"/>
              <a:t>在计算密集型场景中有着噪声级别的性能波动</a:t>
            </a:r>
            <a:r>
              <a:rPr lang="en-US" altLang="zh-CN" dirty="0"/>
              <a:t>(&lt;1%)</a:t>
            </a:r>
            <a:r>
              <a:rPr lang="zh-CN" altLang="en-US" dirty="0"/>
              <a:t>，这点与</a:t>
            </a:r>
            <a:r>
              <a:rPr lang="en-US" altLang="zh-CN" dirty="0"/>
              <a:t>Linux</a:t>
            </a:r>
            <a:r>
              <a:rPr lang="zh-CN" altLang="en-US" dirty="0"/>
              <a:t>的</a:t>
            </a:r>
            <a:r>
              <a:rPr lang="en-US" altLang="zh-CN" dirty="0"/>
              <a:t>KFENCE</a:t>
            </a:r>
            <a:r>
              <a:rPr lang="zh-CN" altLang="en-US" dirty="0"/>
              <a:t>效应相同。而</a:t>
            </a:r>
            <a:r>
              <a:rPr lang="en-US" altLang="zh-CN" dirty="0"/>
              <a:t>HMMLEAK</a:t>
            </a:r>
            <a:r>
              <a:rPr lang="zh-CN" altLang="en-US" dirty="0"/>
              <a:t>的多层检测架构引入开销也在可控范围内</a:t>
            </a:r>
            <a:r>
              <a:rPr lang="en-US" altLang="zh-CN" dirty="0"/>
              <a:t>(-2.33%)</a:t>
            </a:r>
            <a:r>
              <a:rPr lang="zh-CN" altLang="en-US" dirty="0"/>
              <a:t>。</a:t>
            </a:r>
            <a:endParaRPr lang="zh-CN" altLang="en-US" sz="14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23" r="1112" b="66054"/>
          <a:stretch>
            <a:fillRect/>
          </a:stretch>
        </p:blipFill>
        <p:spPr bwMode="auto">
          <a:xfrm>
            <a:off x="578485" y="2160270"/>
            <a:ext cx="7465060" cy="2622550"/>
          </a:xfrm>
          <a:prstGeom prst="rect">
            <a:avLst/>
          </a:prstGeom>
          <a:ln>
            <a:noFill/>
          </a:ln>
        </p:spPr>
      </p:pic>
      <p:sp>
        <p:nvSpPr>
          <p:cNvPr id="4" name="矩形: 圆角 3"/>
          <p:cNvSpPr/>
          <p:nvPr/>
        </p:nvSpPr>
        <p:spPr>
          <a:xfrm>
            <a:off x="-414038" y="165326"/>
            <a:ext cx="1260420" cy="431505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阿里巴巴普惠体" panose="00020600040101010101" pitchFamily="18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485" y="1951355"/>
            <a:ext cx="3295015" cy="238760"/>
          </a:xfrm>
          <a:prstGeom prst="rect">
            <a:avLst/>
          </a:prstGeom>
        </p:spPr>
      </p:pic>
      <p:sp>
        <p:nvSpPr>
          <p:cNvPr id="28" name="矩形 46"/>
          <p:cNvSpPr>
            <a:spLocks noChangeArrowheads="1"/>
          </p:cNvSpPr>
          <p:nvPr/>
        </p:nvSpPr>
        <p:spPr bwMode="auto">
          <a:xfrm>
            <a:off x="846455" y="90805"/>
            <a:ext cx="4959350" cy="57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30000"/>
              </a:lnSpc>
            </a:pP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性能评估</a:t>
            </a: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——linux kfence</a:t>
            </a: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对比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711835" y="1045845"/>
            <a:ext cx="679640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/>
              <a:t>KFENCE </a:t>
            </a:r>
            <a:r>
              <a:rPr lang="zh-CN" altLang="en-US"/>
              <a:t>开销在测量噪声范围内 </a:t>
            </a:r>
            <a:r>
              <a:rPr lang="en-US" altLang="zh-CN"/>
              <a:t>(&lt;1%)</a:t>
            </a:r>
          </a:p>
          <a:p>
            <a:r>
              <a:rPr lang="zh-CN" altLang="en-US"/>
              <a:t>与 </a:t>
            </a:r>
            <a:r>
              <a:rPr lang="en-US" altLang="zh-CN"/>
              <a:t>Linux </a:t>
            </a:r>
            <a:r>
              <a:rPr lang="zh-CN" altLang="en-US"/>
              <a:t>原生实现相当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8955" y="875030"/>
            <a:ext cx="3575050" cy="86233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485" y="4782820"/>
            <a:ext cx="7335520" cy="23749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46"/>
          <p:cNvSpPr>
            <a:spLocks noChangeArrowheads="1"/>
          </p:cNvSpPr>
          <p:nvPr/>
        </p:nvSpPr>
        <p:spPr bwMode="auto">
          <a:xfrm>
            <a:off x="1007810" y="214195"/>
            <a:ext cx="3782630" cy="525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30000"/>
              </a:lnSpc>
            </a:pP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性能评估</a:t>
            </a: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——CoreMark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9" name="矩形: 圆角 28"/>
          <p:cNvSpPr/>
          <p:nvPr/>
        </p:nvSpPr>
        <p:spPr>
          <a:xfrm>
            <a:off x="-400703" y="282166"/>
            <a:ext cx="1260420" cy="431505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阿里巴巴普惠体" panose="00020600040101010101" pitchFamily="18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955040" y="871941"/>
            <a:ext cx="5283200" cy="34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latin typeface="Arial" panose="020B0604020202020204" pitchFamily="34" charset="0"/>
                <a:ea typeface="微软雅黑" panose="020B0503020204020204" pitchFamily="34" charset="-122"/>
              </a:rPr>
              <a:t>针对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无</a:t>
            </a:r>
            <a:r>
              <a:rPr lang="en-US" altLang="zh-CN" sz="1400" dirty="0">
                <a:latin typeface="Arial" panose="020B0604020202020204" pitchFamily="34" charset="0"/>
                <a:ea typeface="微软雅黑" panose="020B0503020204020204" pitchFamily="34" charset="-122"/>
              </a:rPr>
              <a:t>MMU</a:t>
            </a:r>
            <a:r>
              <a:rPr lang="zh-CN" altLang="en-US" sz="1400" dirty="0">
                <a:latin typeface="Arial" panose="020B0604020202020204" pitchFamily="34" charset="0"/>
                <a:ea typeface="微软雅黑" panose="020B0503020204020204" pitchFamily="34" charset="-122"/>
              </a:rPr>
              <a:t>版本的</a:t>
            </a:r>
            <a:r>
              <a:rPr lang="en-US" altLang="zh-CN" sz="1400" dirty="0">
                <a:latin typeface="Arial" panose="020B0604020202020204" pitchFamily="34" charset="0"/>
                <a:ea typeface="微软雅黑" panose="020B0503020204020204" pitchFamily="34" charset="-122"/>
              </a:rPr>
              <a:t>KFENCE</a:t>
            </a:r>
            <a:r>
              <a:rPr lang="zh-CN" altLang="en-US" sz="1400" dirty="0">
                <a:latin typeface="Arial" panose="020B0604020202020204" pitchFamily="34" charset="0"/>
                <a:ea typeface="微软雅黑" panose="020B0503020204020204" pitchFamily="34" charset="-122"/>
              </a:rPr>
              <a:t>，我们的测试环境和测试结果如下：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2138142" y="3650381"/>
            <a:ext cx="902811" cy="3447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latin typeface="Arial" panose="020B0604020202020204" pitchFamily="34" charset="0"/>
                <a:ea typeface="微软雅黑" panose="020B0503020204020204" pitchFamily="34" charset="-122"/>
              </a:rPr>
              <a:t>测试环境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6628912" y="3650381"/>
            <a:ext cx="902811" cy="3447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latin typeface="Arial" panose="020B0604020202020204" pitchFamily="34" charset="0"/>
                <a:ea typeface="微软雅黑" panose="020B0503020204020204" pitchFamily="34" charset="-122"/>
              </a:rPr>
              <a:t>测试结果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1049020" y="4025916"/>
            <a:ext cx="7302500" cy="9033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dirty="0"/>
              <a:t>在无</a:t>
            </a:r>
            <a:r>
              <a:rPr lang="en-US" altLang="zh-CN" dirty="0"/>
              <a:t>MMU</a:t>
            </a:r>
            <a:r>
              <a:rPr lang="zh-CN" altLang="en-US" dirty="0"/>
              <a:t>的嵌入式环境中，</a:t>
            </a:r>
            <a:r>
              <a:rPr lang="en-US" altLang="zh-CN" dirty="0"/>
              <a:t>KFENCE</a:t>
            </a:r>
            <a:r>
              <a:rPr lang="zh-CN" altLang="en-US" dirty="0"/>
              <a:t>与</a:t>
            </a:r>
            <a:r>
              <a:rPr lang="en-US" altLang="zh-CN" dirty="0"/>
              <a:t>HMMLEAK</a:t>
            </a:r>
            <a:r>
              <a:rPr lang="zh-CN" altLang="en-US" dirty="0"/>
              <a:t>开销显著增大。</a:t>
            </a:r>
            <a:r>
              <a:rPr lang="en-US" altLang="zh-CN" dirty="0"/>
              <a:t>KFENCE</a:t>
            </a:r>
            <a:r>
              <a:rPr lang="zh-CN" altLang="en-US" dirty="0"/>
              <a:t>需通过纯软件边界检测实现安全防护；</a:t>
            </a:r>
            <a:r>
              <a:rPr lang="en-US" altLang="zh-CN" dirty="0"/>
              <a:t>HMMLEAK</a:t>
            </a:r>
            <a:r>
              <a:rPr lang="zh-CN" altLang="en-US" dirty="0"/>
              <a:t>的多层哈希架构在资源受限环境下更凸显计算负载压力。</a:t>
            </a:r>
            <a:endParaRPr lang="en-US" altLang="zh-CN" dirty="0"/>
          </a:p>
          <a:p>
            <a:pPr>
              <a:lnSpc>
                <a:spcPct val="130000"/>
              </a:lnSpc>
            </a:pPr>
            <a:r>
              <a:rPr lang="zh-CN" altLang="en-US" sz="1400" dirty="0">
                <a:latin typeface="Arial" panose="020B0604020202020204" pitchFamily="34" charset="0"/>
                <a:ea typeface="微软雅黑" panose="020B0503020204020204" pitchFamily="34" charset="-122"/>
              </a:rPr>
              <a:t>但根据我们调查，测试结果与大部分嵌入式内存安全工具开销相近。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642" y="1337457"/>
            <a:ext cx="3631837" cy="2257743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8651" y="1348740"/>
            <a:ext cx="3962604" cy="214641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46"/>
          <p:cNvSpPr>
            <a:spLocks noChangeArrowheads="1"/>
          </p:cNvSpPr>
          <p:nvPr/>
        </p:nvSpPr>
        <p:spPr bwMode="auto">
          <a:xfrm>
            <a:off x="1007745" y="213995"/>
            <a:ext cx="4989195" cy="57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30000"/>
              </a:lnSpc>
            </a:pP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演示视频</a:t>
            </a: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——kfence</a:t>
            </a: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功能测试</a:t>
            </a:r>
          </a:p>
        </p:txBody>
      </p:sp>
      <p:sp>
        <p:nvSpPr>
          <p:cNvPr id="29" name="矩形: 圆角 28"/>
          <p:cNvSpPr/>
          <p:nvPr/>
        </p:nvSpPr>
        <p:spPr>
          <a:xfrm>
            <a:off x="-400703" y="282166"/>
            <a:ext cx="1260420" cy="431505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阿里巴巴普惠体" panose="00020600040101010101" pitchFamily="18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183755" y="1547495"/>
            <a:ext cx="1797685" cy="20478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b="1" dirty="0">
                <a:latin typeface="Arial" panose="020B0604020202020204" pitchFamily="34" charset="0"/>
                <a:ea typeface="微软雅黑" panose="020B0503020204020204" pitchFamily="34" charset="-122"/>
              </a:rPr>
              <a:t>涵盖</a:t>
            </a:r>
            <a:endParaRPr lang="en-US" altLang="zh-CN" sz="1400" b="1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400" dirty="0">
                <a:latin typeface="Arial" panose="020B0604020202020204" pitchFamily="34" charset="0"/>
                <a:ea typeface="微软雅黑" panose="020B0503020204020204" pitchFamily="34" charset="-122"/>
              </a:rPr>
              <a:t>heap underflow</a:t>
            </a:r>
          </a:p>
          <a:p>
            <a:pPr>
              <a:lnSpc>
                <a:spcPct val="130000"/>
              </a:lnSpc>
            </a:pPr>
            <a:r>
              <a:rPr lang="en-US" altLang="zh-CN" sz="1400" dirty="0">
                <a:latin typeface="Arial" panose="020B0604020202020204" pitchFamily="34" charset="0"/>
                <a:ea typeface="微软雅黑" panose="020B0503020204020204" pitchFamily="34" charset="-122"/>
              </a:rPr>
              <a:t>heap overflow</a:t>
            </a:r>
            <a:endParaRPr lang="zh-CN" altLang="en-US" sz="1400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400" dirty="0">
                <a:latin typeface="Arial" panose="020B0604020202020204" pitchFamily="34" charset="0"/>
                <a:ea typeface="微软雅黑" panose="020B0503020204020204" pitchFamily="34" charset="-122"/>
              </a:rPr>
              <a:t>use after free</a:t>
            </a:r>
          </a:p>
          <a:p>
            <a:pPr>
              <a:lnSpc>
                <a:spcPct val="130000"/>
              </a:lnSpc>
            </a:pPr>
            <a:r>
              <a:rPr lang="en-US" altLang="zh-CN" sz="1400" dirty="0">
                <a:latin typeface="Arial" panose="020B0604020202020204" pitchFamily="34" charset="0"/>
                <a:ea typeface="微软雅黑" panose="020B0503020204020204" pitchFamily="34" charset="-122"/>
              </a:rPr>
              <a:t>double free</a:t>
            </a:r>
          </a:p>
          <a:p>
            <a:pPr>
              <a:lnSpc>
                <a:spcPct val="130000"/>
              </a:lnSpc>
            </a:pPr>
            <a:r>
              <a:rPr lang="en-US" altLang="zh-CN" sz="1400" dirty="0">
                <a:latin typeface="Arial" panose="020B0604020202020204" pitchFamily="34" charset="0"/>
                <a:ea typeface="微软雅黑" panose="020B0503020204020204" pitchFamily="34" charset="-122"/>
              </a:rPr>
              <a:t>illegal access</a:t>
            </a:r>
          </a:p>
          <a:p>
            <a:pPr>
              <a:lnSpc>
                <a:spcPct val="130000"/>
              </a:lnSpc>
            </a:pPr>
            <a:r>
              <a:rPr lang="en-US" altLang="zh-CN" sz="1400" dirty="0">
                <a:latin typeface="Arial" panose="020B0604020202020204" pitchFamily="34" charset="0"/>
                <a:ea typeface="微软雅黑" panose="020B0503020204020204" pitchFamily="34" charset="-122"/>
              </a:rPr>
              <a:t>invalid free address</a:t>
            </a:r>
            <a:endParaRPr lang="zh-CN" altLang="en-US" sz="14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9878355-E5F2-43A1-A28F-F229BDA4A129}"/>
              </a:ext>
            </a:extLst>
          </p:cNvPr>
          <p:cNvSpPr txBox="1"/>
          <p:nvPr/>
        </p:nvSpPr>
        <p:spPr>
          <a:xfrm>
            <a:off x="1223462" y="2202100"/>
            <a:ext cx="477347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通过网盘分享的文件：演示视频.mp4链接: https://pan.baidu.com/s/1Oj_CxzqR7jQBOv6eXQ5OoQ 提取码: 843x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46"/>
          <p:cNvSpPr>
            <a:spLocks noChangeArrowheads="1"/>
          </p:cNvSpPr>
          <p:nvPr/>
        </p:nvSpPr>
        <p:spPr bwMode="auto">
          <a:xfrm>
            <a:off x="1007745" y="213995"/>
            <a:ext cx="4665980" cy="57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30000"/>
              </a:lnSpc>
            </a:pP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演示视频</a:t>
            </a: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——kfencetest</a:t>
            </a: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测试集</a:t>
            </a:r>
          </a:p>
        </p:txBody>
      </p:sp>
      <p:sp>
        <p:nvSpPr>
          <p:cNvPr id="29" name="矩形: 圆角 28"/>
          <p:cNvSpPr/>
          <p:nvPr/>
        </p:nvSpPr>
        <p:spPr>
          <a:xfrm>
            <a:off x="-400703" y="282166"/>
            <a:ext cx="1260420" cy="431505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阿里巴巴普惠体" panose="00020600040101010101" pitchFamily="18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6EC1B78-47A3-4FC0-8284-DA3B224634CF}"/>
              </a:ext>
            </a:extLst>
          </p:cNvPr>
          <p:cNvSpPr txBox="1"/>
          <p:nvPr/>
        </p:nvSpPr>
        <p:spPr>
          <a:xfrm>
            <a:off x="1983783" y="2203386"/>
            <a:ext cx="477347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通过网盘分享的文件：演示视频.mp4链接: https://pan.baidu.com/s/1Oj_CxzqR7jQBOv6eXQ5OoQ 提取码: 843x</a:t>
            </a:r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46"/>
          <p:cNvSpPr>
            <a:spLocks noChangeArrowheads="1"/>
          </p:cNvSpPr>
          <p:nvPr/>
        </p:nvSpPr>
        <p:spPr bwMode="auto">
          <a:xfrm>
            <a:off x="1007745" y="213995"/>
            <a:ext cx="4804410" cy="57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30000"/>
              </a:lnSpc>
            </a:pPr>
            <a:r>
              <a:rPr 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演示视频</a:t>
            </a: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——hmmleak</a:t>
            </a: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功能展示</a:t>
            </a:r>
          </a:p>
        </p:txBody>
      </p:sp>
      <p:sp>
        <p:nvSpPr>
          <p:cNvPr id="29" name="矩形: 圆角 28"/>
          <p:cNvSpPr/>
          <p:nvPr/>
        </p:nvSpPr>
        <p:spPr>
          <a:xfrm>
            <a:off x="-400703" y="282166"/>
            <a:ext cx="1260420" cy="431505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阿里巴巴普惠体" panose="00020600040101010101" pitchFamily="18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91DEBD2-1A8B-4958-BB2E-E6E880C5B4FB}"/>
              </a:ext>
            </a:extLst>
          </p:cNvPr>
          <p:cNvSpPr txBox="1"/>
          <p:nvPr/>
        </p:nvSpPr>
        <p:spPr>
          <a:xfrm>
            <a:off x="1983783" y="2203386"/>
            <a:ext cx="477347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通过网盘分享的文件：演示视频.mp4链接: https://pan.baidu.com/s/1Oj_CxzqR7jQBOv6eXQ5OoQ 提取码: 843x</a:t>
            </a:r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46"/>
          <p:cNvSpPr>
            <a:spLocks noChangeArrowheads="1"/>
          </p:cNvSpPr>
          <p:nvPr/>
        </p:nvSpPr>
        <p:spPr bwMode="auto">
          <a:xfrm>
            <a:off x="1037590" y="340360"/>
            <a:ext cx="1894840" cy="57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30000"/>
              </a:lnSpc>
            </a:pP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开源贡献</a:t>
            </a:r>
          </a:p>
        </p:txBody>
      </p:sp>
      <p:sp>
        <p:nvSpPr>
          <p:cNvPr id="29" name="矩形: 圆角 28"/>
          <p:cNvSpPr/>
          <p:nvPr/>
        </p:nvSpPr>
        <p:spPr>
          <a:xfrm>
            <a:off x="-370858" y="408531"/>
            <a:ext cx="1260420" cy="431505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阿里巴巴普惠体" panose="00020600040101010101" pitchFamily="18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09320" y="1315720"/>
            <a:ext cx="3048000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endParaRPr lang="zh-CN" altLang="en-US" sz="14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410" y="2157730"/>
            <a:ext cx="4143375" cy="209423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32080" y="1082040"/>
            <a:ext cx="4229735" cy="675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/>
              <a:t>积极沟通，融入官方社区</a:t>
            </a:r>
          </a:p>
          <a:p>
            <a:r>
              <a:rPr lang="zh-CN" altLang="en-US" sz="1200"/>
              <a:t>我们已遵循</a:t>
            </a:r>
            <a:r>
              <a:rPr lang="en-US" altLang="zh-CN" sz="1200"/>
              <a:t> Apache NuttX </a:t>
            </a:r>
            <a:r>
              <a:rPr lang="zh-CN" altLang="en-US" sz="1200"/>
              <a:t>社区的贡献准则，向官方开发者邮件列表</a:t>
            </a:r>
            <a:r>
              <a:rPr lang="en-US" altLang="zh-CN" sz="1200"/>
              <a:t> (dev@nuttx.apache.org) </a:t>
            </a:r>
            <a:r>
              <a:rPr lang="zh-CN" altLang="en-US" sz="1200"/>
              <a:t>发送邮件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554220" y="1031240"/>
            <a:ext cx="3942715" cy="10452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/>
              <a:t>回馈社区，传递实践经验</a:t>
            </a:r>
          </a:p>
          <a:p>
            <a:r>
              <a:rPr lang="zh-CN" altLang="en-US" sz="1200"/>
              <a:t>将复杂的</a:t>
            </a:r>
            <a:r>
              <a:rPr lang="en-US" altLang="zh-CN" sz="1200"/>
              <a:t> BeagleBone Black </a:t>
            </a:r>
            <a:r>
              <a:rPr lang="zh-CN" altLang="en-US" sz="1200"/>
              <a:t>硬件部署流程，整理为一步步的教程并开源。帮助初学者跨越从仿真到实体硬件的鸿沟，快速上手。</a:t>
            </a:r>
          </a:p>
          <a:p>
            <a:endParaRPr lang="zh-CN" altLang="en-US" sz="1200"/>
          </a:p>
        </p:txBody>
      </p:sp>
      <p:pic>
        <p:nvPicPr>
          <p:cNvPr id="5" name="图片 4" descr="229a08ab362d996395192f1943ffab4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9145" y="2157730"/>
            <a:ext cx="4251960" cy="222758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320036" y="320040"/>
            <a:ext cx="8503920" cy="45034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阿里巴巴普惠体" panose="00020600040101010101" pitchFamily="18" charset="-122"/>
            </a:endParaRPr>
          </a:p>
        </p:txBody>
      </p:sp>
      <p:sp>
        <p:nvSpPr>
          <p:cNvPr id="3" name="矩形: 圆角 2"/>
          <p:cNvSpPr/>
          <p:nvPr/>
        </p:nvSpPr>
        <p:spPr>
          <a:xfrm>
            <a:off x="-4" y="1277237"/>
            <a:ext cx="9144000" cy="2398828"/>
          </a:xfrm>
          <a:prstGeom prst="roundRect">
            <a:avLst>
              <a:gd name="adj" fmla="val 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1520866" y="2487850"/>
            <a:ext cx="6113305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lvl="0" algn="ctr">
              <a:defRPr sz="10000">
                <a:solidFill>
                  <a:srgbClr val="D3AA8F"/>
                </a:solidFill>
                <a:latin typeface="三极榜书简体" panose="00000500000000000000" pitchFamily="2" charset="-122"/>
                <a:ea typeface="三极榜书简体" panose="00000500000000000000" pitchFamily="2" charset="-122"/>
                <a:cs typeface="+mn-ea"/>
              </a:defRPr>
            </a:lvl1pPr>
          </a:lstStyle>
          <a:p>
            <a:r>
              <a:rPr lang="zh-CN" altLang="en-US" sz="4800" b="1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sym typeface="+mn-lt"/>
              </a:rPr>
              <a:t>总结与说明</a:t>
            </a:r>
          </a:p>
        </p:txBody>
      </p:sp>
      <p:sp>
        <p:nvSpPr>
          <p:cNvPr id="18" name="矩形 17"/>
          <p:cNvSpPr/>
          <p:nvPr/>
        </p:nvSpPr>
        <p:spPr>
          <a:xfrm>
            <a:off x="3209369" y="1971248"/>
            <a:ext cx="2725261" cy="460375"/>
          </a:xfrm>
          <a:prstGeom prst="rect">
            <a:avLst/>
          </a:prstGeom>
          <a:noFill/>
          <a:effectLst>
            <a:outerShdw blurRad="190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square" anchor="ctr">
            <a:spAutoFit/>
          </a:bodyPr>
          <a:lstStyle/>
          <a:p>
            <a:pPr lvl="0" algn="ctr">
              <a:defRPr/>
            </a:pPr>
            <a:r>
              <a:rPr lang="zh-CN" altLang="en-US" sz="2400" noProof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+mn-ea"/>
                <a:sym typeface="+mn-lt"/>
              </a:rPr>
              <a:t>第五部分</a:t>
            </a:r>
            <a:endParaRPr kumimoji="0" lang="zh-CN" altLang="en-US" sz="24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+mn-ea"/>
              <a:sym typeface="+mn-lt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099913" y="806156"/>
            <a:ext cx="944174" cy="944174"/>
            <a:chOff x="622557" y="767301"/>
            <a:chExt cx="944174" cy="944174"/>
          </a:xfrm>
        </p:grpSpPr>
        <p:sp>
          <p:nvSpPr>
            <p:cNvPr id="20" name="椭圆 19"/>
            <p:cNvSpPr/>
            <p:nvPr/>
          </p:nvSpPr>
          <p:spPr>
            <a:xfrm>
              <a:off x="622557" y="767301"/>
              <a:ext cx="944174" cy="944174"/>
            </a:xfrm>
            <a:prstGeom prst="ellipse">
              <a:avLst/>
            </a:prstGeom>
            <a:solidFill>
              <a:schemeClr val="bg1"/>
            </a:solidFill>
            <a:ln w="508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</a:endParaRPr>
            </a:p>
          </p:txBody>
        </p:sp>
        <p:pic>
          <p:nvPicPr>
            <p:cNvPr id="21" name="图片 2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48526" y="899155"/>
              <a:ext cx="697268" cy="697268"/>
            </a:xfrm>
            <a:prstGeom prst="rect">
              <a:avLst/>
            </a:prstGeom>
            <a:ln>
              <a:noFill/>
            </a:ln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46"/>
          <p:cNvSpPr>
            <a:spLocks noChangeArrowheads="1"/>
          </p:cNvSpPr>
          <p:nvPr/>
        </p:nvSpPr>
        <p:spPr bwMode="auto">
          <a:xfrm>
            <a:off x="1037590" y="340360"/>
            <a:ext cx="2992120" cy="57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30000"/>
              </a:lnSpc>
            </a:pP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外部资源关系声明</a:t>
            </a:r>
          </a:p>
        </p:txBody>
      </p:sp>
      <p:sp>
        <p:nvSpPr>
          <p:cNvPr id="29" name="矩形: 圆角 28"/>
          <p:cNvSpPr/>
          <p:nvPr/>
        </p:nvSpPr>
        <p:spPr>
          <a:xfrm>
            <a:off x="-370858" y="408531"/>
            <a:ext cx="1260420" cy="431505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阿里巴巴普惠体" panose="00020600040101010101" pitchFamily="18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09320" y="1182370"/>
            <a:ext cx="3048000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endParaRPr lang="zh-CN" altLang="en-US" sz="14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18" name="组合 17"/>
          <p:cNvGrpSpPr/>
          <p:nvPr>
            <p:custDataLst>
              <p:tags r:id="rId1"/>
            </p:custDataLst>
          </p:nvPr>
        </p:nvGrpSpPr>
        <p:grpSpPr>
          <a:xfrm>
            <a:off x="676275" y="1258570"/>
            <a:ext cx="2428240" cy="353695"/>
            <a:chOff x="3002037" y="3922395"/>
            <a:chExt cx="2419100" cy="374473"/>
          </a:xfrm>
          <a:solidFill>
            <a:schemeClr val="accent2">
              <a:lumMod val="75000"/>
            </a:schemeClr>
          </a:solidFill>
        </p:grpSpPr>
        <p:sp>
          <p:nvSpPr>
            <p:cNvPr id="19" name="矩形 18"/>
            <p:cNvSpPr/>
            <p:nvPr>
              <p:custDataLst>
                <p:tags r:id="rId15"/>
              </p:custDataLst>
            </p:nvPr>
          </p:nvSpPr>
          <p:spPr bwMode="auto">
            <a:xfrm>
              <a:off x="3002037" y="3922395"/>
              <a:ext cx="2419100" cy="369095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600" b="1" dirty="0">
                <a:latin typeface="阿里巴巴普惠体" panose="00020600040101010101" pitchFamily="18" charset="-122"/>
                <a:ea typeface="阿里巴巴普惠体" panose="00020600040101010101" pitchFamily="18" charset="-122"/>
              </a:endParaRPr>
            </a:p>
          </p:txBody>
        </p:sp>
        <p:sp>
          <p:nvSpPr>
            <p:cNvPr id="20" name="TextBox 19"/>
            <p:cNvSpPr txBox="1"/>
            <p:nvPr>
              <p:custDataLst>
                <p:tags r:id="rId16"/>
              </p:custDataLst>
            </p:nvPr>
          </p:nvSpPr>
          <p:spPr>
            <a:xfrm>
              <a:off x="3023838" y="3939875"/>
              <a:ext cx="2397299" cy="3569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F8F8F8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</a:rPr>
                <a:t>linux KFENCE</a:t>
              </a:r>
            </a:p>
          </p:txBody>
        </p:sp>
      </p:grpSp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4339590" y="1275080"/>
            <a:ext cx="435737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sz="1600" b="1" dirty="0">
                <a:solidFill>
                  <a:srgbClr val="F8F8F8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sym typeface="+mn-ea"/>
              </a:rPr>
              <a:t>内存泄漏</a:t>
            </a:r>
            <a:r>
              <a:rPr lang="en-US" altLang="zh-CN" sz="1600" b="1" dirty="0">
                <a:solidFill>
                  <a:srgbClr val="F8F8F8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sym typeface="+mn-ea"/>
              </a:rPr>
              <a:t>——</a:t>
            </a:r>
            <a:r>
              <a:rPr lang="zh-CN" altLang="en-US" sz="1600" b="1" dirty="0">
                <a:solidFill>
                  <a:srgbClr val="F8F8F8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sym typeface="+mn-ea"/>
              </a:rPr>
              <a:t>慢性病</a:t>
            </a:r>
          </a:p>
        </p:txBody>
      </p:sp>
      <p:sp>
        <p:nvSpPr>
          <p:cNvPr id="9" name="矩形 8"/>
          <p:cNvSpPr/>
          <p:nvPr>
            <p:custDataLst>
              <p:tags r:id="rId3"/>
            </p:custDataLst>
          </p:nvPr>
        </p:nvSpPr>
        <p:spPr>
          <a:xfrm>
            <a:off x="676275" y="1859280"/>
            <a:ext cx="2427605" cy="274447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alpha val="67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zh-CN" altLang="en-US" sz="1050">
              <a:cs typeface="+mn-ea"/>
              <a:sym typeface="+mn-lt"/>
            </a:endParaRPr>
          </a:p>
        </p:txBody>
      </p:sp>
      <p:sp>
        <p:nvSpPr>
          <p:cNvPr id="78" name="îsḻïḋè"/>
          <p:cNvSpPr txBox="1"/>
          <p:nvPr>
            <p:custDataLst>
              <p:tags r:id="rId4"/>
            </p:custDataLst>
          </p:nvPr>
        </p:nvSpPr>
        <p:spPr>
          <a:xfrm>
            <a:off x="697865" y="1842135"/>
            <a:ext cx="2437765" cy="26282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 defTabSz="685165">
              <a:lnSpc>
                <a:spcPct val="130000"/>
              </a:lnSpc>
              <a:buSzPct val="25000"/>
              <a:defRPr/>
            </a:pPr>
            <a:r>
              <a:rPr lang="zh-CN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关系声明：</a:t>
            </a:r>
          </a:p>
          <a:p>
            <a:pPr algn="l" defTabSz="685165">
              <a:lnSpc>
                <a:spcPct val="130000"/>
              </a:lnSpc>
              <a:buSzPct val="25000"/>
              <a:defRPr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 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本项目的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KFENCE 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工具在思想上借鉴了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Linux KFENCE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。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·</a:t>
            </a:r>
          </a:p>
          <a:p>
            <a:pPr algn="l" defTabSz="685165">
              <a:lnSpc>
                <a:spcPct val="130000"/>
              </a:lnSpc>
              <a:buSzPct val="25000"/>
              <a:defRPr/>
            </a:pPr>
            <a:r>
              <a:rPr lang="zh-CN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原创性声明：</a:t>
            </a:r>
          </a:p>
          <a:p>
            <a:pPr algn="l" defTabSz="685165">
              <a:lnSpc>
                <a:spcPct val="130000"/>
              </a:lnSpc>
              <a:buSzPct val="25000"/>
              <a:defRPr/>
            </a:pPr>
            <a:r>
              <a:rPr lang="zh-CN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   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本项目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KFENCE 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是针对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NuttX RTOS 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的全新、独立实现。由于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NuttX 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的内核架构与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Linux 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差异较大，我们</a:t>
            </a:r>
            <a:r>
              <a:rPr lang="zh-CN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独立编写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了全部代码，包括内存池管理、适配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NuttX 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的采样机制以及错误诊断报告系统等。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3849370" y="1182370"/>
            <a:ext cx="3048000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endParaRPr lang="zh-CN" altLang="en-US" sz="14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>
            <p:custDataLst>
              <p:tags r:id="rId5"/>
            </p:custDataLst>
          </p:nvPr>
        </p:nvGrpSpPr>
        <p:grpSpPr>
          <a:xfrm>
            <a:off x="3503930" y="1258570"/>
            <a:ext cx="2428240" cy="353695"/>
            <a:chOff x="3002037" y="3922395"/>
            <a:chExt cx="2419100" cy="374473"/>
          </a:xfrm>
          <a:solidFill>
            <a:schemeClr val="accent2">
              <a:lumMod val="75000"/>
            </a:schemeClr>
          </a:solidFill>
        </p:grpSpPr>
        <p:sp>
          <p:nvSpPr>
            <p:cNvPr id="5" name="矩形 4"/>
            <p:cNvSpPr/>
            <p:nvPr>
              <p:custDataLst>
                <p:tags r:id="rId13"/>
              </p:custDataLst>
            </p:nvPr>
          </p:nvSpPr>
          <p:spPr bwMode="auto">
            <a:xfrm>
              <a:off x="3002037" y="3922395"/>
              <a:ext cx="2419100" cy="369095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600" b="1" dirty="0">
                <a:latin typeface="阿里巴巴普惠体" panose="00020600040101010101" pitchFamily="18" charset="-122"/>
                <a:ea typeface="阿里巴巴普惠体" panose="00020600040101010101" pitchFamily="18" charset="-122"/>
              </a:endParaRPr>
            </a:p>
          </p:txBody>
        </p:sp>
        <p:sp>
          <p:nvSpPr>
            <p:cNvPr id="7" name="TextBox 19"/>
            <p:cNvSpPr txBox="1"/>
            <p:nvPr>
              <p:custDataLst>
                <p:tags r:id="rId14"/>
              </p:custDataLst>
            </p:nvPr>
          </p:nvSpPr>
          <p:spPr>
            <a:xfrm>
              <a:off x="3023838" y="3939875"/>
              <a:ext cx="2397299" cy="3569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F8F8F8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</a:rPr>
                <a:t>Juliet</a:t>
              </a:r>
              <a:r>
                <a:rPr lang="zh-CN" altLang="en-US" sz="1600" b="1" dirty="0">
                  <a:solidFill>
                    <a:srgbClr val="F8F8F8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</a:rPr>
                <a:t>测试集</a:t>
              </a:r>
            </a:p>
          </p:txBody>
        </p:sp>
      </p:grpSp>
      <p:sp>
        <p:nvSpPr>
          <p:cNvPr id="11" name="矩形 10"/>
          <p:cNvSpPr/>
          <p:nvPr>
            <p:custDataLst>
              <p:tags r:id="rId6"/>
            </p:custDataLst>
          </p:nvPr>
        </p:nvSpPr>
        <p:spPr>
          <a:xfrm>
            <a:off x="3503930" y="1859280"/>
            <a:ext cx="2427605" cy="274447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alpha val="67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zh-CN" altLang="en-US" sz="1050">
              <a:cs typeface="+mn-ea"/>
              <a:sym typeface="+mn-lt"/>
            </a:endParaRPr>
          </a:p>
        </p:txBody>
      </p:sp>
      <p:sp>
        <p:nvSpPr>
          <p:cNvPr id="12" name="îsḻïḋè"/>
          <p:cNvSpPr txBox="1"/>
          <p:nvPr>
            <p:custDataLst>
              <p:tags r:id="rId7"/>
            </p:custDataLst>
          </p:nvPr>
        </p:nvSpPr>
        <p:spPr>
          <a:xfrm>
            <a:off x="3525520" y="1842135"/>
            <a:ext cx="2437765" cy="26282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 defTabSz="685165">
              <a:lnSpc>
                <a:spcPct val="130000"/>
              </a:lnSpc>
              <a:buSzPct val="25000"/>
              <a:defRPr/>
            </a:pPr>
            <a:r>
              <a:rPr lang="zh-CN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关系声明：</a:t>
            </a:r>
          </a:p>
          <a:p>
            <a:pPr algn="l" defTabSz="685165">
              <a:lnSpc>
                <a:spcPct val="130000"/>
              </a:lnSpc>
              <a:buSzPct val="25000"/>
              <a:defRPr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 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为在工业级标准下验证项目的有效性，我们引入了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Juliet C 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语言测试集</a:t>
            </a:r>
          </a:p>
          <a:p>
            <a:pPr algn="l" defTabSz="685165">
              <a:lnSpc>
                <a:spcPct val="130000"/>
              </a:lnSpc>
              <a:buSzPct val="25000"/>
              <a:defRPr/>
            </a:pPr>
            <a:r>
              <a:rPr lang="zh-CN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原创工作声明：</a:t>
            </a:r>
          </a:p>
          <a:p>
            <a:pPr algn="l" defTabSz="685165">
              <a:lnSpc>
                <a:spcPct val="130000"/>
              </a:lnSpc>
              <a:buSzPct val="25000"/>
              <a:defRPr/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    Juliet 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原本无法在资源受限的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RTOS 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中运行。我们通过筛选用例、代码重构、平台移植等原创工作使其成功适配。</a:t>
            </a:r>
          </a:p>
          <a:p>
            <a:pPr algn="l" defTabSz="685165">
              <a:lnSpc>
                <a:spcPct val="130000"/>
              </a:lnSpc>
              <a:buSzPct val="25000"/>
              <a:defRPr/>
            </a:pP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586220" y="1182370"/>
            <a:ext cx="3048000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endParaRPr lang="zh-CN" altLang="en-US" sz="14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15" name="组合 14"/>
          <p:cNvGrpSpPr/>
          <p:nvPr>
            <p:custDataLst>
              <p:tags r:id="rId8"/>
            </p:custDataLst>
          </p:nvPr>
        </p:nvGrpSpPr>
        <p:grpSpPr>
          <a:xfrm>
            <a:off x="6353175" y="1258570"/>
            <a:ext cx="2428240" cy="353695"/>
            <a:chOff x="3002037" y="3922395"/>
            <a:chExt cx="2419100" cy="374473"/>
          </a:xfrm>
          <a:solidFill>
            <a:schemeClr val="accent2">
              <a:lumMod val="75000"/>
            </a:schemeClr>
          </a:solidFill>
        </p:grpSpPr>
        <p:sp>
          <p:nvSpPr>
            <p:cNvPr id="16" name="矩形 15"/>
            <p:cNvSpPr/>
            <p:nvPr>
              <p:custDataLst>
                <p:tags r:id="rId11"/>
              </p:custDataLst>
            </p:nvPr>
          </p:nvSpPr>
          <p:spPr bwMode="auto">
            <a:xfrm>
              <a:off x="3002037" y="3922395"/>
              <a:ext cx="2419100" cy="369095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600" b="1" dirty="0">
                <a:latin typeface="阿里巴巴普惠体" panose="00020600040101010101" pitchFamily="18" charset="-122"/>
                <a:ea typeface="阿里巴巴普惠体" panose="00020600040101010101" pitchFamily="18" charset="-122"/>
              </a:endParaRPr>
            </a:p>
          </p:txBody>
        </p:sp>
        <p:sp>
          <p:nvSpPr>
            <p:cNvPr id="17" name="TextBox 19"/>
            <p:cNvSpPr txBox="1"/>
            <p:nvPr>
              <p:custDataLst>
                <p:tags r:id="rId12"/>
              </p:custDataLst>
            </p:nvPr>
          </p:nvSpPr>
          <p:spPr>
            <a:xfrm>
              <a:off x="3023838" y="3939875"/>
              <a:ext cx="2397299" cy="3569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F8F8F8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</a:rPr>
                <a:t>Phoronix </a:t>
              </a:r>
              <a:r>
                <a:rPr lang="zh-CN" altLang="en-US" sz="1600" b="1" dirty="0">
                  <a:solidFill>
                    <a:srgbClr val="F8F8F8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</a:rPr>
                <a:t>基准测试结果</a:t>
              </a:r>
            </a:p>
          </p:txBody>
        </p:sp>
      </p:grpSp>
      <p:sp>
        <p:nvSpPr>
          <p:cNvPr id="21" name="矩形 20"/>
          <p:cNvSpPr/>
          <p:nvPr>
            <p:custDataLst>
              <p:tags r:id="rId9"/>
            </p:custDataLst>
          </p:nvPr>
        </p:nvSpPr>
        <p:spPr>
          <a:xfrm>
            <a:off x="6353175" y="1859280"/>
            <a:ext cx="2427605" cy="274447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alpha val="67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zh-CN" altLang="en-US" sz="1050">
              <a:cs typeface="+mn-ea"/>
              <a:sym typeface="+mn-lt"/>
            </a:endParaRPr>
          </a:p>
        </p:txBody>
      </p:sp>
      <p:sp>
        <p:nvSpPr>
          <p:cNvPr id="22" name="îsḻïḋè"/>
          <p:cNvSpPr txBox="1"/>
          <p:nvPr>
            <p:custDataLst>
              <p:tags r:id="rId10"/>
            </p:custDataLst>
          </p:nvPr>
        </p:nvSpPr>
        <p:spPr>
          <a:xfrm>
            <a:off x="6374765" y="1842135"/>
            <a:ext cx="2437765" cy="26282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 defTabSz="685165">
              <a:lnSpc>
                <a:spcPct val="130000"/>
              </a:lnSpc>
              <a:buSzPct val="25000"/>
              <a:defRPr/>
            </a:pPr>
            <a:r>
              <a:rPr lang="zh-CN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关系声明：</a:t>
            </a:r>
          </a:p>
          <a:p>
            <a:pPr algn="l" defTabSz="685165">
              <a:lnSpc>
                <a:spcPct val="130000"/>
              </a:lnSpc>
              <a:buSzPct val="25000"/>
              <a:defRPr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 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引用了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Phoronix 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基准测试（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Linux 5.12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Ryzen 9 5900X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）：对比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“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关闭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KFENCE /</a:t>
            </a:r>
          </a:p>
          <a:p>
            <a:pPr algn="l" defTabSz="685165">
              <a:lnSpc>
                <a:spcPct val="130000"/>
              </a:lnSpc>
              <a:buSzPct val="25000"/>
              <a:defRPr/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sample_interval=100 / =500”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的测试结果。原始结果托管在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OpenBenchmarking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，可直接复现。</a:t>
            </a:r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46"/>
          <p:cNvSpPr>
            <a:spLocks noChangeArrowheads="1"/>
          </p:cNvSpPr>
          <p:nvPr/>
        </p:nvSpPr>
        <p:spPr bwMode="auto">
          <a:xfrm>
            <a:off x="1037590" y="340360"/>
            <a:ext cx="2470785" cy="57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30000"/>
              </a:lnSpc>
            </a:pP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开发进度汇总</a:t>
            </a:r>
          </a:p>
        </p:txBody>
      </p:sp>
      <p:sp>
        <p:nvSpPr>
          <p:cNvPr id="29" name="矩形: 圆角 28"/>
          <p:cNvSpPr/>
          <p:nvPr/>
        </p:nvSpPr>
        <p:spPr>
          <a:xfrm>
            <a:off x="-370858" y="408531"/>
            <a:ext cx="1260420" cy="431505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阿里巴巴普惠体" panose="00020600040101010101" pitchFamily="18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763270" y="1436370"/>
            <a:ext cx="2971165" cy="1696085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>
                <a:latin typeface="宋体" panose="02010600030101010101" pitchFamily="2" charset="-122"/>
                <a:ea typeface="宋体" panose="02010600030101010101" pitchFamily="2" charset="-122"/>
              </a:rPr>
              <a:t>初赛阶段</a:t>
            </a: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完成了项目的初版开发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endParaRPr lang="zh-CN" altLang="en-US" sz="16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>
                <a:latin typeface="宋体" panose="02010600030101010101" pitchFamily="2" charset="-122"/>
                <a:ea typeface="宋体" panose="02010600030101010101" pitchFamily="2" charset="-122"/>
              </a:rPr>
              <a:t>决赛阶段</a:t>
            </a: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在初赛的基础上，进一步对两大子系统进行扩展并将系统移植到硬件，在功能和性能上进行了全方位测试。</a:t>
            </a: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endParaRPr lang="zh-CN" altLang="en-US" sz="16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endParaRPr lang="zh-CN" altLang="en-US" sz="16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endParaRPr lang="zh-CN" altLang="en-US" sz="16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endParaRPr lang="zh-CN" altLang="en-US" sz="16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649095" y="3505200"/>
            <a:ext cx="1199515" cy="1087755"/>
          </a:xfrm>
          <a:prstGeom prst="rect">
            <a:avLst/>
          </a:prstGeom>
          <a:noFill/>
        </p:spPr>
        <p:txBody>
          <a:bodyPr wrap="squar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pPr marL="0" indent="0" algn="just" defTabSz="2667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分工明确</a:t>
            </a:r>
            <a:endParaRPr lang="zh-CN" altLang="en-US" sz="18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just" defTabSz="2667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进度可控</a:t>
            </a:r>
            <a:endParaRPr lang="zh-CN" altLang="en-US" sz="18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just" defTabSz="2667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成果完整</a:t>
            </a:r>
            <a:endParaRPr lang="zh-CN" altLang="en-US" sz="18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9696" y="134210"/>
            <a:ext cx="4510768" cy="480863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46"/>
          <p:cNvSpPr>
            <a:spLocks noChangeArrowheads="1"/>
          </p:cNvSpPr>
          <p:nvPr/>
        </p:nvSpPr>
        <p:spPr bwMode="auto">
          <a:xfrm>
            <a:off x="1037590" y="340360"/>
            <a:ext cx="2110105" cy="57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30000"/>
              </a:lnSpc>
            </a:pP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总结与贡献</a:t>
            </a:r>
          </a:p>
        </p:txBody>
      </p:sp>
      <p:sp>
        <p:nvSpPr>
          <p:cNvPr id="29" name="矩形: 圆角 28"/>
          <p:cNvSpPr/>
          <p:nvPr/>
        </p:nvSpPr>
        <p:spPr>
          <a:xfrm>
            <a:off x="-370858" y="408531"/>
            <a:ext cx="1260420" cy="431505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阿里巴巴普惠体" panose="00020600040101010101" pitchFamily="18" charset="-122"/>
            </a:endParaRPr>
          </a:p>
        </p:txBody>
      </p:sp>
      <p:sp>
        <p:nvSpPr>
          <p:cNvPr id="6" name="椭圆 5"/>
          <p:cNvSpPr/>
          <p:nvPr>
            <p:custDataLst>
              <p:tags r:id="rId1"/>
            </p:custDataLst>
          </p:nvPr>
        </p:nvSpPr>
        <p:spPr>
          <a:xfrm>
            <a:off x="1989775" y="1316531"/>
            <a:ext cx="753299" cy="75329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altLang="zh-HK" sz="2700" b="1" dirty="0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  <p:sp>
        <p:nvSpPr>
          <p:cNvPr id="7" name="椭圆 6"/>
          <p:cNvSpPr/>
          <p:nvPr>
            <p:custDataLst>
              <p:tags r:id="rId2"/>
            </p:custDataLst>
          </p:nvPr>
        </p:nvSpPr>
        <p:spPr>
          <a:xfrm>
            <a:off x="2743075" y="2643291"/>
            <a:ext cx="753299" cy="75329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HK" altLang="en-US" sz="2700" b="1" dirty="0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  <p:sp>
        <p:nvSpPr>
          <p:cNvPr id="8" name="椭圆 7"/>
          <p:cNvSpPr/>
          <p:nvPr>
            <p:custDataLst>
              <p:tags r:id="rId3"/>
            </p:custDataLst>
          </p:nvPr>
        </p:nvSpPr>
        <p:spPr>
          <a:xfrm>
            <a:off x="1989775" y="3858738"/>
            <a:ext cx="753299" cy="75329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HK" altLang="en-US" sz="2700" b="1" dirty="0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  <p:cxnSp>
        <p:nvCxnSpPr>
          <p:cNvPr id="9" name="直接连接符 8"/>
          <p:cNvCxnSpPr/>
          <p:nvPr/>
        </p:nvCxnSpPr>
        <p:spPr>
          <a:xfrm flipV="1">
            <a:off x="1209970" y="1967875"/>
            <a:ext cx="666390" cy="395669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1375448" y="3019940"/>
            <a:ext cx="119742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1182944" y="3668387"/>
            <a:ext cx="720442" cy="38036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图片 17"/>
          <p:cNvPicPr>
            <a:picLocks noChangeAspect="1"/>
          </p:cNvPicPr>
          <p:nvPr/>
        </p:nvPicPr>
        <p:blipFill rotWithShape="1">
          <a:blip r:embed="rId6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48604"/>
          <a:stretch>
            <a:fillRect/>
          </a:stretch>
        </p:blipFill>
        <p:spPr>
          <a:xfrm>
            <a:off x="11430" y="1744280"/>
            <a:ext cx="1217495" cy="2368933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743200" y="1149667"/>
            <a:ext cx="5080000" cy="30670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/>
              <a:t>构筑了轻量、集成的堆异常检测系统</a:t>
            </a:r>
            <a:r>
              <a:rPr lang="en-US" altLang="zh-CN"/>
              <a:t> (Aegis-NX)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3363595" y="2469833"/>
            <a:ext cx="5080000" cy="414020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latin typeface="+mn-ea"/>
              </a:rPr>
              <a:t>引入工业级标准的全面测试与验证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830195" y="1491297"/>
            <a:ext cx="5080000" cy="82994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1200">
                <a:solidFill>
                  <a:schemeClr val="accent2">
                    <a:lumMod val="75000"/>
                  </a:schemeClr>
                </a:solidFill>
              </a:rPr>
              <a:t>实现了一套轻量化堆异常检测方案</a:t>
            </a:r>
            <a:r>
              <a:rPr lang="en-US" altLang="zh-CN" sz="1200">
                <a:solidFill>
                  <a:schemeClr val="accent2">
                    <a:lumMod val="75000"/>
                  </a:schemeClr>
                </a:solidFill>
              </a:rPr>
              <a:t> Aegis-NX </a:t>
            </a:r>
            <a:r>
              <a:rPr lang="zh-CN" altLang="en-US" sz="1200">
                <a:solidFill>
                  <a:schemeClr val="accent2">
                    <a:lumMod val="75000"/>
                  </a:schemeClr>
                </a:solidFill>
              </a:rPr>
              <a:t>。它由</a:t>
            </a:r>
            <a:r>
              <a:rPr lang="en-US" altLang="zh-CN" sz="1200">
                <a:solidFill>
                  <a:schemeClr val="accent2">
                    <a:lumMod val="75000"/>
                  </a:schemeClr>
                </a:solidFill>
              </a:rPr>
              <a:t> KFENCE </a:t>
            </a:r>
            <a:r>
              <a:rPr lang="zh-CN" altLang="en-US" sz="1200">
                <a:solidFill>
                  <a:schemeClr val="accent2">
                    <a:lumMod val="75000"/>
                  </a:schemeClr>
                </a:solidFill>
              </a:rPr>
              <a:t>和</a:t>
            </a:r>
            <a:r>
              <a:rPr lang="en-US" altLang="zh-CN" sz="1200">
                <a:solidFill>
                  <a:schemeClr val="accent2">
                    <a:lumMod val="75000"/>
                  </a:schemeClr>
                </a:solidFill>
              </a:rPr>
              <a:t> HMMLEAK </a:t>
            </a:r>
            <a:r>
              <a:rPr lang="zh-CN" altLang="en-US" sz="1200">
                <a:solidFill>
                  <a:schemeClr val="accent2">
                    <a:lumMod val="75000"/>
                  </a:schemeClr>
                </a:solidFill>
              </a:rPr>
              <a:t>两部分构成，前者精准捕获溢出等即时性错误</a:t>
            </a:r>
            <a:r>
              <a:rPr lang="en-US" altLang="zh-CN" sz="120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zh-CN" altLang="en-US" sz="1200">
                <a:solidFill>
                  <a:schemeClr val="accent2">
                    <a:lumMod val="75000"/>
                  </a:schemeClr>
                </a:solidFill>
              </a:rPr>
              <a:t>，后者通过风险评估模型识别内存泄漏</a:t>
            </a:r>
            <a:r>
              <a:rPr lang="en-US" altLang="zh-CN" sz="120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zh-CN" altLang="en-US" sz="1200">
                <a:solidFill>
                  <a:schemeClr val="accent2">
                    <a:lumMod val="75000"/>
                  </a:schemeClr>
                </a:solidFill>
              </a:rPr>
              <a:t>。项目创新地实现了对有</a:t>
            </a:r>
            <a:r>
              <a:rPr lang="en-US" altLang="zh-CN" sz="1200">
                <a:solidFill>
                  <a:schemeClr val="accent2">
                    <a:lumMod val="75000"/>
                  </a:schemeClr>
                </a:solidFill>
              </a:rPr>
              <a:t>/</a:t>
            </a:r>
            <a:r>
              <a:rPr lang="zh-CN" altLang="en-US" sz="1200">
                <a:solidFill>
                  <a:schemeClr val="accent2">
                    <a:lumMod val="75000"/>
                  </a:schemeClr>
                </a:solidFill>
              </a:rPr>
              <a:t>无</a:t>
            </a:r>
            <a:r>
              <a:rPr lang="en-US" altLang="zh-CN" sz="1200">
                <a:solidFill>
                  <a:schemeClr val="accent2">
                    <a:lumMod val="75000"/>
                  </a:schemeClr>
                </a:solidFill>
              </a:rPr>
              <a:t> MMU </a:t>
            </a:r>
            <a:r>
              <a:rPr lang="zh-CN" altLang="en-US" sz="1200">
                <a:solidFill>
                  <a:schemeClr val="accent2">
                    <a:lumMod val="75000"/>
                  </a:schemeClr>
                </a:solidFill>
              </a:rPr>
              <a:t>硬件的双模支持，展现了广泛的平台适应性</a:t>
            </a:r>
            <a:r>
              <a:rPr lang="en-US" altLang="zh-CN" sz="120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zh-CN" altLang="en-US" sz="1200">
                <a:solidFill>
                  <a:schemeClr val="accent2">
                    <a:lumMod val="75000"/>
                  </a:schemeClr>
                </a:solidFill>
              </a:rPr>
              <a:t>。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3655695" y="2907347"/>
            <a:ext cx="5080000" cy="46037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1200">
                <a:solidFill>
                  <a:schemeClr val="accent2">
                    <a:lumMod val="75000"/>
                  </a:schemeClr>
                </a:solidFill>
              </a:rPr>
              <a:t>首次将工业标准</a:t>
            </a:r>
            <a:r>
              <a:rPr lang="en-US" altLang="zh-CN" sz="1200">
                <a:solidFill>
                  <a:schemeClr val="accent2">
                    <a:lumMod val="75000"/>
                  </a:schemeClr>
                </a:solidFill>
              </a:rPr>
              <a:t>Juliet</a:t>
            </a:r>
            <a:r>
              <a:rPr lang="zh-CN" altLang="en-US" sz="1200">
                <a:solidFill>
                  <a:schemeClr val="accent2">
                    <a:lumMod val="75000"/>
                  </a:schemeClr>
                </a:solidFill>
              </a:rPr>
              <a:t>测试集成功引入并适配到资源受限的</a:t>
            </a:r>
            <a:r>
              <a:rPr lang="en-US" altLang="zh-CN" sz="1200">
                <a:solidFill>
                  <a:schemeClr val="accent2">
                    <a:lumMod val="75000"/>
                  </a:schemeClr>
                </a:solidFill>
              </a:rPr>
              <a:t>NuttX</a:t>
            </a:r>
            <a:r>
              <a:rPr lang="zh-CN" altLang="en-US" sz="1200">
                <a:solidFill>
                  <a:schemeClr val="accent2">
                    <a:lumMod val="75000"/>
                  </a:schemeClr>
                </a:solidFill>
              </a:rPr>
              <a:t>生态，并对项目的功能性能在硬件开发板上进行了全面测试。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743200" y="3718878"/>
            <a:ext cx="5080000" cy="414020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latin typeface="+mn-ea"/>
              </a:rPr>
              <a:t>积极融入社区，推动开源贡献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3035300" y="4113847"/>
            <a:ext cx="5080000" cy="64516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1200">
                <a:solidFill>
                  <a:schemeClr val="accent2">
                    <a:lumMod val="75000"/>
                  </a:schemeClr>
                </a:solidFill>
              </a:rPr>
              <a:t>我们已启动向</a:t>
            </a:r>
            <a:r>
              <a:rPr lang="en-US" altLang="zh-CN" sz="1200">
                <a:solidFill>
                  <a:schemeClr val="accent2">
                    <a:lumMod val="75000"/>
                  </a:schemeClr>
                </a:solidFill>
              </a:rPr>
              <a:t> NuttX </a:t>
            </a:r>
            <a:r>
              <a:rPr lang="zh-CN" altLang="en-US" sz="1200">
                <a:solidFill>
                  <a:schemeClr val="accent2">
                    <a:lumMod val="75000"/>
                  </a:schemeClr>
                </a:solidFill>
              </a:rPr>
              <a:t>社区的贡献流程，并发送了沟通邮件。同时，</a:t>
            </a:r>
            <a:r>
              <a:rPr lang="en-US" altLang="zh-CN" sz="1200">
                <a:solidFill>
                  <a:schemeClr val="accent2">
                    <a:lumMod val="75000"/>
                  </a:schemeClr>
                </a:solidFill>
              </a:rPr>
              <a:t>BeagleBone Black </a:t>
            </a:r>
            <a:r>
              <a:rPr lang="zh-CN" altLang="en-US" sz="1200">
                <a:solidFill>
                  <a:schemeClr val="accent2">
                    <a:lumMod val="75000"/>
                  </a:schemeClr>
                </a:solidFill>
              </a:rPr>
              <a:t>的完整部署指南已整理并开源，为社区提供了详尽的实践参考。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320036" y="320040"/>
            <a:ext cx="8503920" cy="45034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阿里巴巴普惠体" panose="00020600040101010101" pitchFamily="18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673225" y="2241550"/>
            <a:ext cx="6252210" cy="837565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algn="dist"/>
            <a:r>
              <a:rPr lang="zh-CN" altLang="en-US" sz="5000" b="1" dirty="0">
                <a:solidFill>
                  <a:srgbClr val="071F65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请各位老师批评指导</a:t>
            </a:r>
          </a:p>
        </p:txBody>
      </p:sp>
      <p:cxnSp>
        <p:nvCxnSpPr>
          <p:cNvPr id="24" name="直接连接符 23"/>
          <p:cNvCxnSpPr/>
          <p:nvPr/>
        </p:nvCxnSpPr>
        <p:spPr>
          <a:xfrm flipH="1">
            <a:off x="1784733" y="3212064"/>
            <a:ext cx="563564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组合 7"/>
          <p:cNvGrpSpPr/>
          <p:nvPr/>
        </p:nvGrpSpPr>
        <p:grpSpPr>
          <a:xfrm>
            <a:off x="-1044270" y="678230"/>
            <a:ext cx="2728612" cy="1117006"/>
            <a:chOff x="-1081730" y="697235"/>
            <a:chExt cx="3164556" cy="1295467"/>
          </a:xfrm>
        </p:grpSpPr>
        <p:sp>
          <p:nvSpPr>
            <p:cNvPr id="3" name="矩形: 圆角 2"/>
            <p:cNvSpPr/>
            <p:nvPr/>
          </p:nvSpPr>
          <p:spPr>
            <a:xfrm>
              <a:off x="-1081730" y="697235"/>
              <a:ext cx="3164556" cy="1295467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</a:endParaRPr>
            </a:p>
          </p:txBody>
        </p:sp>
        <p:sp>
          <p:nvSpPr>
            <p:cNvPr id="4" name="椭圆 3"/>
            <p:cNvSpPr/>
            <p:nvPr/>
          </p:nvSpPr>
          <p:spPr>
            <a:xfrm>
              <a:off x="851402" y="800537"/>
              <a:ext cx="1095022" cy="1095022"/>
            </a:xfrm>
            <a:prstGeom prst="ellipse">
              <a:avLst/>
            </a:prstGeom>
            <a:solidFill>
              <a:schemeClr val="bg1"/>
            </a:solidFill>
            <a:ln w="508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</a:endParaRPr>
            </a:p>
          </p:txBody>
        </p:sp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97497" y="953457"/>
              <a:ext cx="808669" cy="808669"/>
            </a:xfrm>
            <a:prstGeom prst="rect">
              <a:avLst/>
            </a:prstGeom>
          </p:spPr>
        </p:pic>
      </p:grpSp>
      <p:sp>
        <p:nvSpPr>
          <p:cNvPr id="19" name="矩形: 圆角 18"/>
          <p:cNvSpPr/>
          <p:nvPr/>
        </p:nvSpPr>
        <p:spPr>
          <a:xfrm>
            <a:off x="7420378" y="678230"/>
            <a:ext cx="2728612" cy="1117006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阿里巴巴普惠体" panose="00020600040101010101" pitchFamily="18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PowerPoint 演示文稿"/>
  <p:tag name="ISLIDE.GUIDESSETTING" val="{&quot;Id&quot;:&quot;b49df822-7165-45c2-8964-c451b9152035&quot;,&quot;Name&quot;:&quot;参考线1&quot;,&quot;Kind&quot;:&quot;Custom&quot;,&quot;OldGuidesSetting&quot;:{&quot;HeaderHeight&quot;:15.0,&quot;FooterHeight&quot;:9.0,&quot;SideMargin&quot;:5.5,&quot;TopMargin&quot;:0.0,&quot;BottomMargin&quot;:0.0,&quot;IntervalMargin&quot;:1.5}}"/>
  <p:tag name="COMMONDATA" val="eyJoZGlkIjoiMjc4MDFlOWYxOTZmZjgzODZhZGMxNmYxM2E0MTM5NzQ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572686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8.04584181664967,&quot;left&quot;:63.955669291338566,&quot;top&quot;:98.5595275590551,&quot;width&quot;:608.6059449439924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8.04584181664967,&quot;left&quot;:63.955669291338566,&quot;top&quot;:98.5595275590551,&quot;width&quot;:608.6059449439924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8.04584181664967,&quot;left&quot;:63.955669291338566,&quot;top&quot;:98.5595275590551,&quot;width&quot;:608.6059449439924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8.04584181664967,&quot;left&quot;:63.955669291338566,&quot;top&quot;:98.5595275590551,&quot;width&quot;:608.6059449439924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8.04584181664967,&quot;left&quot;:63.955669291338566,&quot;top&quot;:98.5595275590551,&quot;width&quot;:608.6059449439924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8.04584181664967,&quot;left&quot;:63.955669291338566,&quot;top&quot;:98.5595275590551,&quot;width&quot;:608.6059449439924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8.04584181664967,&quot;left&quot;:63.955669291338566,&quot;top&quot;:98.5595275590551,&quot;width&quot;:608.6059449439924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8.04584181664967,&quot;left&quot;:63.955669291338566,&quot;top&quot;:98.5595275590551,&quot;width&quot;:608.6059449439924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8.04584181664967,&quot;left&quot;:63.955669291338566,&quot;top&quot;:98.5595275590551,&quot;width&quot;:608.6059449439924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8.04584181664967,&quot;left&quot;:63.955669291338566,&quot;top&quot;:98.5595275590551,&quot;width&quot;:608.6059449439924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8.04584181664967,&quot;left&quot;:63.955669291338566,&quot;top&quot;:98.5595275590551,&quot;width&quot;:608.6059449439924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8.04584181664967,&quot;left&quot;:63.955669291338566,&quot;top&quot;:98.5595275590551,&quot;width&quot;:608.6059449439924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8.04584181664967,&quot;left&quot;:63.955669291338566,&quot;top&quot;:98.5595275590551,&quot;width&quot;:608.6059449439924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8.04584181664967,&quot;left&quot;:63.955669291338566,&quot;top&quot;:98.5595275590551,&quot;width&quot;:608.6059449439924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8.04584181664967,&quot;left&quot;:63.955669291338566,&quot;top&quot;:98.5595275590551,&quot;width&quot;:608.6059449439924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8.04584181664967,&quot;left&quot;:63.955669291338566,&quot;top&quot;:98.5595275590551,&quot;width&quot;:608.6059449439924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6.58664724283835,&quot;left&quot;:61.810440146376116,&quot;top&quot;:87.01850393700786,&quot;width&quot;:564.205150404805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6.58664724283835,&quot;left&quot;:61.810440146376116,&quot;top&quot;:87.01850393700786,&quot;width&quot;:564.205150404805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6.58664724283835,&quot;left&quot;:61.810440146376116,&quot;top&quot;:87.01850393700786,&quot;width&quot;:564.205150404805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4.0858267716535,&quot;left&quot;:72.8571653543307,&quot;top&quot;:106.28574803149607,&quot;width&quot;:578.9777165354332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4.0858267716535,&quot;left&quot;:72.8571653543307,&quot;top&quot;:106.28574803149607,&quot;width&quot;:578.9777165354332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4.0858267716535,&quot;left&quot;:72.8571653543307,&quot;top&quot;:106.28574803149607,&quot;width&quot;:578.9777165354332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4.0858267716535,&quot;left&quot;:72.8571653543307,&quot;top&quot;:106.28574803149607,&quot;width&quot;:578.9777165354332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4.0858267716535,&quot;left&quot;:72.8571653543307,&quot;top&quot;:106.28574803149607,&quot;width&quot;:578.9777165354332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4.0858267716535,&quot;left&quot;:72.8571653543307,&quot;top&quot;:106.28574803149607,&quot;width&quot;:578.9777165354332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4.0858267716535,&quot;left&quot;:72.8571653543307,&quot;top&quot;:106.28574803149607,&quot;width&quot;:578.9777165354332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4.0858267716535,&quot;left&quot;:72.8571653543307,&quot;top&quot;:106.28574803149607,&quot;width&quot;:578.9777165354332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4.0858267716535,&quot;left&quot;:72.8571653543307,&quot;top&quot;:106.28574803149607,&quot;width&quot;:578.9777165354332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6.58664724283835,&quot;left&quot;:61.810440146376116,&quot;top&quot;:87.01850393700786,&quot;width&quot;:564.205150404805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6.58664724283835,&quot;left&quot;:61.810440146376116,&quot;top&quot;:87.01850393700786,&quot;width&quot;:564.205150404805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6.58664724283835,&quot;left&quot;:61.810440146376116,&quot;top&quot;:87.01850393700786,&quot;width&quot;:564.205150404805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6.58664724283835,&quot;left&quot;:61.810440146376116,&quot;top&quot;:87.01850393700786,&quot;width&quot;:564.205150404805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1.2773228346456,&quot;left&quot;:32.3,&quot;top&quot;:99.09425196850393,&quot;width&quot;:652.5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1.2773228346456,&quot;left&quot;:32.3,&quot;top&quot;:99.09425196850393,&quot;width&quot;:652.5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1.2773228346456,&quot;left&quot;:32.3,&quot;top&quot;:99.09425196850393,&quot;width&quot;:652.5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1.2773228346456,&quot;left&quot;:32.3,&quot;top&quot;:99.09425196850393,&quot;width&quot;:652.5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1.2773228346456,&quot;left&quot;:32.3,&quot;top&quot;:99.09425196850393,&quot;width&quot;:652.5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1.2773228346456,&quot;left&quot;:32.3,&quot;top&quot;:99.09425196850393,&quot;width&quot;:652.5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1.2773228346456,&quot;left&quot;:32.3,&quot;top&quot;:99.09425196850393,&quot;width&quot;:652.5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1.2773228346456,&quot;left&quot;:32.3,&quot;top&quot;:99.09425196850393,&quot;width&quot;:652.5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1.2773228346456,&quot;left&quot;:32.3,&quot;top&quot;:99.09425196850393,&quot;width&quot;:652.5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6.58664724283835,&quot;left&quot;:33.7,&quot;top&quot;:87.01850393700786,&quot;width&quot;:592.315590551181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6.58664724283835,&quot;left&quot;:33.7,&quot;top&quot;:87.01850393700786,&quot;width&quot;:592.315590551181}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6.58664724283835,&quot;left&quot;:33.7,&quot;top&quot;:87.01850393700786,&quot;width&quot;:592.315590551181}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6.58664724283835,&quot;left&quot;:33.7,&quot;top&quot;:87.01850393700786,&quot;width&quot;:592.315590551181}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6.58664724283835,&quot;left&quot;:33.7,&quot;top&quot;:87.01850393700786,&quot;width&quot;:592.315590551181}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6.58664724283835,&quot;left&quot;:33.7,&quot;top&quot;:87.01850393700786,&quot;width&quot;:592.315590551181}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6.58664724283835,&quot;left&quot;:33.7,&quot;top&quot;:87.01850393700786,&quot;width&quot;:592.315590551181}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6.58664724283835,&quot;left&quot;:33.7,&quot;top&quot;:87.01850393700786,&quot;width&quot;:592.315590551181}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.97291338582676,&quot;left&quot;:101.7588188976378,&quot;top&quot;:80.02850393700787,&quot;width&quot;:545.1466141732283}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5.79069424411978,&quot;left&quot;:61.810440146376116,&quot;top&quot;:87.81445693572647,&quot;width&quot;:564.205150404805}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5.79069424411978,&quot;left&quot;:61.810440146376116,&quot;top&quot;:87.81445693572647,&quot;width&quot;:564.205150404805}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5.79069424411978,&quot;left&quot;:61.810440146376116,&quot;top&quot;:87.81445693572647,&quot;width&quot;:564.205150404805}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5.79069424411978,&quot;left&quot;:61.810440146376116,&quot;top&quot;:87.81445693572647,&quot;width&quot;:564.205150404805}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.97291338582676,&quot;left&quot;:101.7588188976378,&quot;top&quot;:80.02850393700787,&quot;width&quot;:545.1466141732283}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5.79069424411978,&quot;left&quot;:61.810440146376116,&quot;top&quot;:87.81445693572647,&quot;width&quot;:564.205150404805}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5.79069424411978,&quot;left&quot;:61.810440146376116,&quot;top&quot;:87.81445693572647,&quot;width&quot;:564.205150404805}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5.79069424411978,&quot;left&quot;:61.810440146376116,&quot;top&quot;:87.81445693572647,&quot;width&quot;:564.205150404805}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5.79069424411978,&quot;left&quot;:61.810440146376116,&quot;top&quot;:87.81445693572647,&quot;width&quot;:564.205150404805}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5.79069424411978,&quot;left&quot;:61.810440146376116,&quot;top&quot;:87.81445693572647,&quot;width&quot;:564.205150404805}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5.79069424411978,&quot;left&quot;:61.810440146376116,&quot;top&quot;:87.81445693572647,&quot;width&quot;:564.205150404805}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5.79069424411978,&quot;left&quot;:61.810440146376116,&quot;top&quot;:87.81445693572647,&quot;width&quot;:564.205150404805}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5.79069424411978,&quot;left&quot;:61.810440146376116,&quot;top&quot;:87.81445693572647,&quot;width&quot;:564.205150404805}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0.88149606299214,&quot;left&quot;:33.7,&quot;top&quot;:87.01850393700786,&quot;width&quot;:592.315590551181}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.97291338582676,&quot;left&quot;:101.7588188976378,&quot;top&quot;:80.02850393700787,&quot;width&quot;:545.1466141732283}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6.58664724283835,&quot;left&quot;:33.7,&quot;top&quot;:87.01850393700786,&quot;width&quot;:592.315590551181}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6.58664724283835,&quot;left&quot;:33.7,&quot;top&quot;:87.01850393700786,&quot;width&quot;:592.315590551181}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5.79069424411978,&quot;left&quot;:61.810440146376116,&quot;top&quot;:87.81445693572647,&quot;width&quot;:564.205150404805}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5.79069424411978,&quot;left&quot;:61.810440146376116,&quot;top&quot;:87.81445693572647,&quot;width&quot;:564.205150404805}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5.79069424411978,&quot;left&quot;:61.810440146376116,&quot;top&quot;:87.81445693572647,&quot;width&quot;:564.205150404805}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5.79069424411978,&quot;left&quot;:61.810440146376116,&quot;top&quot;:87.81445693572647,&quot;width&quot;:564.205150404805}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6.58664724283835,&quot;left&quot;:33.7,&quot;top&quot;:87.01850393700786,&quot;width&quot;:592.315590551181}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6.58664724283835,&quot;left&quot;:33.7,&quot;top&quot;:87.01850393700786,&quot;width&quot;:592.315590551181}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6.58664724283835,&quot;left&quot;:33.7,&quot;top&quot;:87.01850393700786,&quot;width&quot;:592.315590551181}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6.58664724283835,&quot;left&quot;:33.7,&quot;top&quot;:87.01850393700786,&quot;width&quot;:592.315590551181}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5.79069424411978,&quot;left&quot;:61.810440146376116,&quot;top&quot;:87.81445693572647,&quot;width&quot;:564.205150404805}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5.79069424411978,&quot;left&quot;:61.810440146376116,&quot;top&quot;:87.81445693572647,&quot;width&quot;:564.205150404805}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5.79069424411978,&quot;left&quot;:61.810440146376116,&quot;top&quot;:87.81445693572647,&quot;width&quot;:564.205150404805}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5.79069424411978,&quot;left&quot;:61.810440146376116,&quot;top&quot;:87.81445693572647,&quot;width&quot;:564.205150404805}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5.79069424411978,&quot;left&quot;:61.810440146376116,&quot;top&quot;:87.81445693572647,&quot;width&quot;:564.205150404805}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5.79069424411978,&quot;left&quot;:61.810440146376116,&quot;top&quot;:87.81445693572647,&quot;width&quot;:564.205150404805}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5.79069424411978,&quot;left&quot;:61.810440146376116,&quot;top&quot;:87.81445693572647,&quot;width&quot;:564.205150404805}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5.79069424411978,&quot;left&quot;:61.810440146376116,&quot;top&quot;:87.81445693572647,&quot;width&quot;:564.205150404805}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1.8374803149606,&quot;left&quot;:10.865433070866139,&quot;top&quot;:133.00283464566928,&quot;width&quot;:356.69861217614607}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1.8374803149606,&quot;left&quot;:10.865433070866139,&quot;top&quot;:133.00283464566928,&quot;width&quot;:356.69861217614607}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1.8374803149606,&quot;left&quot;:10.865433070866139,&quot;top&quot;:133.00283464566928,&quot;width&quot;:356.69861217614607}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1.8374803149606,&quot;left&quot;:10.865433070866139,&quot;top&quot;:133.00283464566928,&quot;width&quot;:356.69861217614607}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1.8374803149606,&quot;left&quot;:10.865433070866139,&quot;top&quot;:133.00283464566928,&quot;width&quot;:356.69861217614607}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1.8374803149606,&quot;left&quot;:10.865433070866139,&quot;top&quot;:133.00283464566928,&quot;width&quot;:356.69861217614607}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1.8374803149606,&quot;left&quot;:10.865433070866139,&quot;top&quot;:133.00283464566928,&quot;width&quot;:356.69861217614607}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1.8374803149606,&quot;left&quot;:10.865433070866139,&quot;top&quot;:133.00283464566928,&quot;width&quot;:356.69861217614607}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5.79069424411978,&quot;left&quot;:61.810440146376116,&quot;top&quot;:87.81445693572647,&quot;width&quot;:564.205150404805}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5.79069424411978,&quot;left&quot;:61.810440146376116,&quot;top&quot;:87.81445693572647,&quot;width&quot;:564.205150404805}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5.79069424411978,&quot;left&quot;:61.810440146376116,&quot;top&quot;:87.81445693572647,&quot;width&quot;:564.205150404805}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5.79069424411978,&quot;left&quot;:61.810440146376116,&quot;top&quot;:87.81445693572647,&quot;width&quot;:564.205150404805}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1.8374803149606,&quot;left&quot;:10.865433070866139,&quot;top&quot;:133.00283464566928,&quot;width&quot;:356.69861217614607}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1.8374803149606,&quot;left&quot;:10.865433070866139,&quot;top&quot;:133.00283464566928,&quot;width&quot;:356.69861217614607}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1.8374803149606,&quot;left&quot;:10.865433070866139,&quot;top&quot;:133.00283464566928,&quot;width&quot;:356.69861217614607}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1.8374803149606,&quot;left&quot;:10.865433070866139,&quot;top&quot;:133.00283464566928,&quot;width&quot;:356.69861217614607}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1.8374803149606,&quot;left&quot;:10.865433070866139,&quot;top&quot;:133.00283464566928,&quot;width&quot;:356.69861217614607}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1.8374803149606,&quot;left&quot;:10.865433070866139,&quot;top&quot;:133.00283464566928,&quot;width&quot;:356.69861217614607}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1.8374803149606,&quot;left&quot;:10.865433070866139,&quot;top&quot;:133.00283464566928,&quot;width&quot;:356.69861217614607}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1.8374803149606,&quot;left&quot;:10.865433070866139,&quot;top&quot;:133.00283464566928,&quot;width&quot;:356.69861217614607}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1.8374803149606,&quot;left&quot;:10.865433070866139,&quot;top&quot;:133.00283464566928,&quot;width&quot;:356.69861217614607}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1.8374803149606,&quot;left&quot;:10.865433070866139,&quot;top&quot;:133.00283464566928,&quot;width&quot;:356.69861217614607}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1.8374803149606,&quot;left&quot;:10.865433070866139,&quot;top&quot;:133.00283464566928,&quot;width&quot;:356.69861217614607}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1.8374803149606,&quot;left&quot;:10.865433070866139,&quot;top&quot;:133.00283464566928,&quot;width&quot;:356.69861217614607}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5.79069424411978,&quot;left&quot;:61.810440146376116,&quot;top&quot;:87.81445693572647,&quot;width&quot;:564.205150404805}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5.79069424411978,&quot;left&quot;:61.810440146376116,&quot;top&quot;:87.81445693572647,&quot;width&quot;:564.205150404805}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5.79069424411978,&quot;left&quot;:61.810440146376116,&quot;top&quot;:87.81445693572647,&quot;width&quot;:564.205150404805}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5.79069424411978,&quot;left&quot;:61.810440146376116,&quot;top&quot;:87.81445693572647,&quot;width&quot;:564.205150404805}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4.57141732283463,&quot;left&quot;:71.50716535433071,&quot;top&quot;:106.28574803149607,&quot;width&quot;:577.5777165354332}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4.57141732283463,&quot;left&quot;:71.50716535433071,&quot;top&quot;:106.28574803149607,&quot;width&quot;:577.5777165354332}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4.57141732283463,&quot;left&quot;:71.50716535433071,&quot;top&quot;:106.28574803149607,&quot;width&quot;:577.5777165354332}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4.57141732283463,&quot;left&quot;:71.50716535433071,&quot;top&quot;:106.28574803149607,&quot;width&quot;:577.5777165354332}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4.57141732283463,&quot;left&quot;:71.50716535433071,&quot;top&quot;:106.28574803149607,&quot;width&quot;:577.5777165354332}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1.2773228346456,&quot;left&quot;:32.3,&quot;top&quot;:99.09425196850393,&quot;width&quot;:652.5}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1.2773228346456,&quot;left&quot;:32.3,&quot;top&quot;:99.09425196850393,&quot;width&quot;:652.5}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1.2773228346456,&quot;left&quot;:32.3,&quot;top&quot;:99.09425196850393,&quot;width&quot;:652.5}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1.2773228346456,&quot;left&quot;:32.3,&quot;top&quot;:99.09425196850393,&quot;width&quot;:652.5}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1.2773228346456,&quot;left&quot;:32.3,&quot;top&quot;:99.09425196850393,&quot;width&quot;:652.5}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1.2773228346456,&quot;left&quot;:32.3,&quot;top&quot;:99.09425196850393,&quot;width&quot;:652.5}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1.2773228346456,&quot;left&quot;:32.3,&quot;top&quot;:99.09425196850393,&quot;width&quot;:652.5}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1.2773228346456,&quot;left&quot;:32.3,&quot;top&quot;:99.09425196850393,&quot;width&quot;:652.5}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1.2773228346456,&quot;left&quot;:32.3,&quot;top&quot;:99.09425196850393,&quot;width&quot;:652.5}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1.2773228346456,&quot;left&quot;:32.3,&quot;top&quot;:99.09425196850393,&quot;width&quot;:652.5}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1.2773228346456,&quot;left&quot;:32.3,&quot;top&quot;:99.09425196850393,&quot;width&quot;:652.5}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1.2773228346456,&quot;left&quot;:32.3,&quot;top&quot;:99.09425196850393,&quot;width&quot;:652.5}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1.2773228346456,&quot;left&quot;:32.3,&quot;top&quot;:99.09425196850393,&quot;width&quot;:652.5}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1.2773228346456,&quot;left&quot;:32.3,&quot;top&quot;:99.09425196850393,&quot;width&quot;:652.5}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1.2773228346456,&quot;left&quot;:32.3,&quot;top&quot;:99.09425196850393,&quot;width&quot;:652.5}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1.2773228346456,&quot;left&quot;:32.3,&quot;top&quot;:99.09425196850393,&quot;width&quot;:652.5}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0.761968503937,&quot;left&quot;:155.77519685039368,&quot;top&quot;:85.17629921259842,&quot;width&quot;:491.5987401574803}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0.761968503937,&quot;left&quot;:155.77519685039368,&quot;top&quot;:85.17629921259842,&quot;width&quot;:491.5987401574803}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0.761968503937,&quot;left&quot;:155.77519685039368,&quot;top&quot;:85.17629921259842,&quot;width&quot;:491.5987401574803}"/>
</p:tagLst>
</file>

<file path=ppt/theme/theme1.xml><?xml version="1.0" encoding="utf-8"?>
<a:theme xmlns:a="http://schemas.openxmlformats.org/drawingml/2006/main" name="A000120140530A99PPBG">
  <a:themeElements>
    <a:clrScheme name="自定义 95">
      <a:dk1>
        <a:sysClr val="windowText" lastClr="000000"/>
      </a:dk1>
      <a:lt1>
        <a:sysClr val="window" lastClr="FFFFFF"/>
      </a:lt1>
      <a:dk2>
        <a:srgbClr val="3F3F3F"/>
      </a:dk2>
      <a:lt2>
        <a:srgbClr val="E3DED1"/>
      </a:lt2>
      <a:accent1>
        <a:srgbClr val="071F65"/>
      </a:accent1>
      <a:accent2>
        <a:srgbClr val="7F7F7F"/>
      </a:accent2>
      <a:accent3>
        <a:srgbClr val="414456"/>
      </a:accent3>
      <a:accent4>
        <a:srgbClr val="444455"/>
      </a:accent4>
      <a:accent5>
        <a:srgbClr val="444455"/>
      </a:accent5>
      <a:accent6>
        <a:srgbClr val="7F7F7F"/>
      </a:accent6>
      <a:hlink>
        <a:srgbClr val="002060"/>
      </a:hlink>
      <a:folHlink>
        <a:srgbClr val="B26B02"/>
      </a:folHlink>
    </a:clrScheme>
    <a:fontScheme name="自定义 1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lnSpc>
            <a:spcPct val="130000"/>
          </a:lnSpc>
          <a:defRPr sz="1400" dirty="0" smtClean="0">
            <a:latin typeface="Arial" panose="020B0604020202020204" pitchFamily="34" charset="0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A000120140627A33KPBG</Template>
  <TotalTime>0</TotalTime>
  <Words>2101</Words>
  <Application>Microsoft Office PowerPoint</Application>
  <PresentationFormat>全屏显示(16:9)</PresentationFormat>
  <Paragraphs>276</Paragraphs>
  <Slides>30</Slides>
  <Notes>26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40" baseType="lpstr">
      <vt:lpstr>阿里巴巴普惠体</vt:lpstr>
      <vt:lpstr>宋体</vt:lpstr>
      <vt:lpstr>微软雅黑</vt:lpstr>
      <vt:lpstr>幼圆</vt:lpstr>
      <vt:lpstr>Arial</vt:lpstr>
      <vt:lpstr>Arial Black</vt:lpstr>
      <vt:lpstr>Calibri</vt:lpstr>
      <vt:lpstr>Times New Roman</vt:lpstr>
      <vt:lpstr>Wingdings 2</vt:lpstr>
      <vt:lpstr>A000120140530A99PPBG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kikiio Yuan</cp:lastModifiedBy>
  <cp:revision>35</cp:revision>
  <dcterms:created xsi:type="dcterms:W3CDTF">2014-06-03T07:56:00Z</dcterms:created>
  <dcterms:modified xsi:type="dcterms:W3CDTF">2026-05-14T06:28:27Z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4B5F84602AF642EAB24E5BA8CF106442_12</vt:lpwstr>
  </property>
  <property fmtid="{D5CDD505-2E9C-101B-9397-08002B2CF9AE}" pid="3" name="KSOProductBuildVer">
    <vt:lpwstr>2052-12.1.0.21915</vt:lpwstr>
  </property>
</Properties>
</file>